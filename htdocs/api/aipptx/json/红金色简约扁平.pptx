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10" Target="ppt/slideLayouts/slideLayout7.xml" Type="http://schemas.openxmlformats.org/officeDocument/2006/relationships/slideLayou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ppt/slideLayouts/slideLayout2.xml" Type="http://schemas.openxmlformats.org/officeDocument/2006/relationships/slideLayout"/><Relationship Id="rId6" Target="ppt/slideLayouts/slideLayout3.xml" Type="http://schemas.openxmlformats.org/officeDocument/2006/relationships/slideLayout"/><Relationship Id="rId7" Target="ppt/slideLayouts/slideLayout4.xml" Type="http://schemas.openxmlformats.org/officeDocument/2006/relationships/slideLayout"/><Relationship Id="rId8" Target="ppt/slideLayouts/slideLayout5.xml" Type="http://schemas.openxmlformats.org/officeDocument/2006/relationships/slideLayout"/><Relationship Id="rId9" Target="ppt/slideLayouts/slideLayout6.xml" Type="http://schemas.openxmlformats.org/officeDocument/2006/relationships/slideLayou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1.png" id="2"/>
          <p:cNvPicPr>
            <a:picLocks noChangeAspect="true"/>
          </p:cNvPicPr>
          <p:nvPr/>
        </p:nvPicPr>
        <p:blipFill>
          <a:blip r:embed="rId2"/>
          <a:srcRect l="229" b="6493" r="27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5000">
                <a:srgbClr val="EC1726"/>
              </a:gs>
              <a:gs pos="46000">
                <a:srgbClr val="EC1726">
                  <a:alpha val="0"/>
                </a:srgbClr>
              </a:gs>
            </a:gsLst>
            <a:lin ang="2700000"/>
          </a:gra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>
            <p:ph type="ctrTitle"/>
          </p:nvPr>
        </p:nvSpPr>
        <p:spPr>
          <a:xfrm>
            <a:off x="1608652" y="1757428"/>
            <a:ext cx="7846701" cy="1938992"/>
          </a:xfrm>
          <a:noFill/>
        </p:spPr>
        <p:txBody>
          <a:bodyPr vert="horz" anchor="b" wrap="square" tIns="45720" lIns="91440" bIns="45720" rIns="91440">
            <a:sp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b="true" i="false" sz="6000" baseline="0" u="none">
                <a:gradFill>
                  <a:gsLst>
                    <a:gs pos="29000">
                      <a:srgbClr val="FFFFFF"/>
                    </a:gs>
                    <a:gs pos="80000">
                      <a:srgbClr val="FCBE5D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latin typeface="Arial"/>
                <a:ea typeface="Arial"/>
              </a:rPr>
              <a:t>Click to edit </a:t>
            </a:r>
            <a:br>
              <a:rPr lang="en-US" b="true" i="false" sz="6000" baseline="0" u="none">
                <a:gradFill>
                  <a:gsLst>
                    <a:gs pos="29000">
                      <a:srgbClr val="FFFFFF"/>
                    </a:gs>
                    <a:gs pos="80000">
                      <a:srgbClr val="FCBE5D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latin typeface="Arial"/>
                <a:ea typeface="Arial"/>
              </a:rPr>
            </a:br>
            <a:r>
              <a:rPr lang="en-US" b="true" i="false" sz="6000" baseline="0" u="none">
                <a:gradFill>
                  <a:gsLst>
                    <a:gs pos="29000">
                      <a:srgbClr val="FFFFFF"/>
                    </a:gs>
                    <a:gs pos="80000">
                      <a:srgbClr val="FCBE5D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latin typeface="Arial"/>
                <a:ea typeface="Arial"/>
              </a:rPr>
              <a:t>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2F2F2F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type="obj" idx="1"/>
          </p:nvPr>
        </p:nvSpPr>
        <p:spPr>
          <a:xfrm>
            <a:off x="660400" y="1130300"/>
            <a:ext cx="10858500" cy="5003800"/>
          </a:xfr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Click to edit Master text styles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2F2F2F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body" sz="quarter" idx="14"/>
          </p:nvPr>
        </p:nvSpPr>
        <p:spPr>
          <a:xfrm>
            <a:off x="660400" y="1500188"/>
            <a:ext cx="2836562" cy="594626"/>
          </a:xfrm>
        </p:spPr>
        <p:txBody>
          <a:bodyPr vert="horz" anchor="t" tIns="45720" lIns="91440" bIns="45720" rIns="91440">
            <a:normAutofit/>
          </a:bodyPr>
          <a:p>
            <a:pPr algn="r" indent="0" marL="0">
              <a:lnSpc>
                <a:spcPct val="90000"/>
              </a:lnSpc>
              <a:spcBef>
                <a:spcPts val="1000"/>
              </a:spcBef>
            </a:pPr>
            <a:r>
              <a:rPr lang="en-US" b="true" i="false" sz="2400" baseline="0" u="none">
                <a:solidFill>
                  <a:srgbClr val="2F2F2F"/>
                </a:solidFill>
                <a:latin typeface="Arial"/>
                <a:ea typeface="Arial"/>
              </a:rPr>
              <a:t>CONTENTS</a:t>
            </a:r>
          </a:p>
        </p:txBody>
      </p:sp>
      <p:sp>
        <p:nvSpPr>
          <p:cNvPr name="AutoShape 3" id="3"/>
          <p:cNvSpPr/>
          <p:nvPr>
            <p:ph type="body" sz="quarter" idx="13"/>
          </p:nvPr>
        </p:nvSpPr>
        <p:spPr>
          <a:xfrm>
            <a:off x="3647836" y="1500187"/>
            <a:ext cx="7871045" cy="4633913"/>
          </a:xfrm>
        </p:spPr>
        <p:txBody>
          <a:bodyPr vert="horz" anchor="t" tIns="45720" lIns="91440" bIns="45720" rIns="91440">
            <a:normAutofit/>
          </a:bodyPr>
          <a:p>
            <a:pPr algn="l" indent="-342900" marL="34290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Click to edit Master text styles</a:t>
            </a:r>
          </a:p>
          <a:p>
            <a:pPr algn="l" indent="-342900" lvl="1" marL="8001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2F2F2F"/>
                </a:solidFill>
                <a:latin typeface="Arial"/>
                <a:ea typeface="Arial"/>
              </a:rPr>
              <a:t>Second level</a:t>
            </a:r>
          </a:p>
          <a:p>
            <a:pPr algn="l" indent="-342900" lvl="2" marL="12573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Fifth level</a:t>
            </a:r>
          </a:p>
        </p:txBody>
      </p:sp>
      <p:cxnSp>
        <p:nvCxnSpPr>
          <p:cNvPr name="Connector 4" id="4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name="Freeform 5" id="5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r="r" b="b" t="t" l="l"/>
            <a:pathLst>
              <a:path w="5127" h="5401" stroke="true" fill="norm" extrusionOk="true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FFFFFF">
              <a:lumMod val="85000"/>
            </a:srgbClr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1.png" id="2"/>
          <p:cNvPicPr>
            <a:picLocks noChangeAspect="true"/>
          </p:cNvPicPr>
          <p:nvPr/>
        </p:nvPicPr>
        <p:blipFill>
          <a:blip r:embed="rId2"/>
          <a:srcRect l="229" b="6493" r="277"/>
          <a:stretch>
            <a:fillRect/>
          </a:stretch>
        </p:blipFill>
        <p:spPr>
          <a:xfrm flipH="true">
            <a:off x="0" y="0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type="title"/>
          </p:nvPr>
        </p:nvSpPr>
        <p:spPr>
          <a:xfrm>
            <a:off x="2794000" y="3429000"/>
            <a:ext cx="5731164" cy="424732"/>
          </a:xfrm>
        </p:spPr>
        <p:txBody>
          <a:bodyPr vert="horz" anchor="b" tIns="45720" lIns="91440" bIns="45720" rIns="91440">
            <a:spAutoFit/>
          </a:bodyPr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b="true" i="false" sz="24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4" id="4"/>
          <p:cNvSpPr/>
          <p:nvPr>
            <p:ph type="body" idx="1"/>
          </p:nvPr>
        </p:nvSpPr>
        <p:spPr>
          <a:xfrm>
            <a:off x="2794000" y="3853732"/>
            <a:ext cx="5731164" cy="258532"/>
          </a:xfrm>
        </p:spPr>
        <p:txBody>
          <a:bodyPr vert="horz" anchor="t" tIns="45720" lIns="91440" bIns="45720" rIns="91440">
            <a:spAutoFit/>
          </a:bodyPr>
          <a:p>
            <a:pPr algn="r" indent="0" marL="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200" baseline="0" u="none">
                <a:solidFill>
                  <a:srgbClr val="FFFFFF"/>
                </a:solidFill>
                <a:latin typeface="Arial"/>
                <a:ea typeface="Arial"/>
              </a:rPr>
              <a:t>Click to edit Master text styles</a:t>
            </a:r>
          </a:p>
        </p:txBody>
      </p:sp>
      <p:sp>
        <p:nvSpPr>
          <p:cNvPr name="AutoShape 5" id="5"/>
          <p:cNvSpPr/>
          <p:nvPr/>
        </p:nvSpPr>
        <p:spPr>
          <a:xfrm flipH="true">
            <a:off x="0" y="0"/>
            <a:ext cx="12192000" cy="6858000"/>
          </a:xfrm>
          <a:prstGeom prst="rect">
            <a:avLst/>
          </a:prstGeom>
          <a:gradFill>
            <a:gsLst>
              <a:gs pos="15000">
                <a:srgbClr val="EC1726"/>
              </a:gs>
              <a:gs pos="46000">
                <a:srgbClr val="EC1726">
                  <a:alpha val="0"/>
                </a:srgbClr>
              </a:gs>
            </a:gsLst>
            <a:lin ang="2700000"/>
          </a:gra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2F2F2F"/>
                </a:solidFill>
                <a:latin typeface="Arial"/>
                <a:ea typeface="Arial"/>
              </a:rP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1.png" id="2"/>
          <p:cNvPicPr>
            <a:picLocks noChangeAspect="true"/>
          </p:cNvPicPr>
          <p:nvPr/>
        </p:nvPicPr>
        <p:blipFill>
          <a:blip r:embed="rId2"/>
          <a:srcRect l="229" b="6493" r="27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5000">
                <a:srgbClr val="EC1726"/>
              </a:gs>
              <a:gs pos="46000">
                <a:srgbClr val="EC1726">
                  <a:alpha val="0"/>
                </a:srgbClr>
              </a:gs>
            </a:gsLst>
            <a:lin ang="2700000"/>
          </a:gra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>
            <p:ph type="body" sz="quarter" idx="13"/>
          </p:nvPr>
        </p:nvSpPr>
        <p:spPr>
          <a:xfrm>
            <a:off x="3162300" y="2230734"/>
            <a:ext cx="8356600" cy="1643062"/>
          </a:xfrm>
        </p:spPr>
        <p:txBody>
          <a:bodyPr vert="horz" anchor="b" tIns="45720" lIns="91440" bIns="45720" rIns="91440">
            <a:noAutofit/>
          </a:bodyPr>
          <a:p>
            <a:pPr algn="l" indent="-228600" marL="228600">
              <a:lnSpc>
                <a:spcPct val="90000"/>
              </a:lnSpc>
              <a:spcBef>
                <a:spcPct val="0"/>
              </a:spcBef>
            </a:pPr>
            <a:r>
              <a:rPr lang="en-US" b="true" i="false" sz="5400" baseline="0" u="none">
                <a:gradFill>
                  <a:gsLst>
                    <a:gs pos="29000">
                      <a:srgbClr val="FFFFFF"/>
                    </a:gs>
                    <a:gs pos="80000">
                      <a:srgbClr val="FCBE5D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latin typeface="Arial"/>
                <a:ea typeface="Arial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Relationship Id="rId3" Target="../media/image1.png" Type="http://schemas.openxmlformats.org/officeDocument/2006/relationships/image"/><Relationship Id="rId4" Target="../slideLayouts/slideLayout2.xml" Type="http://schemas.openxmlformats.org/officeDocument/2006/relationships/slideLayout"/><Relationship Id="rId5" Target="../slideLayouts/slideLayout3.xml" Type="http://schemas.openxmlformats.org/officeDocument/2006/relationships/slideLayout"/><Relationship Id="rId6" Target="../slideLayouts/slideLayout4.xml" Type="http://schemas.openxmlformats.org/officeDocument/2006/relationships/slideLayout"/><Relationship Id="rId7" Target="../slideLayouts/slideLayout5.xml" Type="http://schemas.openxmlformats.org/officeDocument/2006/relationships/slideLayout"/><Relationship Id="rId8" Target="../slideLayouts/slideLayout6.xml" Type="http://schemas.openxmlformats.org/officeDocument/2006/relationships/slideLayout"/><Relationship Id="rId9" Target="../slideLayouts/slideLayout7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name="image1.png" id="3"/>
            <p:cNvPicPr>
              <a:picLocks noChangeAspect="true"/>
            </p:cNvPicPr>
            <p:nvPr/>
          </p:nvPicPr>
          <p:blipFill>
            <a:blip r:embed="rId3"/>
            <a:srcRect l="229" b="6493" r="27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name="AutoShape 4" id="4"/>
            <p:cNvSpPr/>
            <p:nvPr/>
          </p:nvSpPr>
          <p:spPr>
            <a:xfrm>
              <a:off x="441325" y="395288"/>
              <a:ext cx="11309350" cy="6067425"/>
            </a:xfrm>
            <a:prstGeom prst="rect">
              <a:avLst/>
            </a:prstGeom>
            <a:solidFill>
              <a:srgbClr val="FFFFFF"/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AutoShape 5" id="5"/>
          <p:cNvSpPr/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2F2F2F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6" id="6"/>
          <p:cNvSpPr/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Click to edit Master text styles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2F2F2F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200" baseline="0" u="none">
                <a:solidFill>
                  <a:srgbClr val="2F2F2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7" id="7"/>
          <p:cNvSpPr/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AutoShape 8" id="8"/>
          <p:cNvSpPr/>
          <p:nvPr>
            <p:ph type="dt" sz="half" idx="2"/>
          </p:nvPr>
        </p:nvSpPr>
        <p:spPr>
          <a:xfrm>
            <a:off x="5504656" y="6438900"/>
            <a:ext cx="1802924" cy="21590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r>
              <a:rPr lang="zh-CN" b="false" i="false" sz="1800" baseline="0" u="none" altLang="en-US">
                <a:solidFill>
                  <a:srgbClr val="2F2F2F"/>
                </a:solidFill>
                <a:latin typeface="Arial"/>
                <a:ea typeface="Arial"/>
              </a:rPr>
              <a:t>2024/8/14</a:t>
            </a:r>
          </a:p>
        </p:txBody>
      </p:sp>
      <p:sp>
        <p:nvSpPr>
          <p:cNvPr name="AutoShape 9" id="9"/>
          <p:cNvSpPr/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fld type="slidenum" id="{3386411A-70EE-422D-B97C-F56BEE3FF077}">
              <a:rPr lang="en-US" b="false" i="false" sz="1800" baseline="0" u="none">
                <a:solidFill>
                  <a:srgbClr val="2F2F2F"/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hf sldNum="true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subTitle" idx="4294967295"/>
          </p:nvPr>
        </p:nvSpPr>
        <p:spPr>
          <a:xfrm>
            <a:off x="1669188" y="4071713"/>
            <a:ext cx="1584486" cy="757130"/>
          </a:xfr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zh-CN" b="false" i="false" sz="18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汇报人</a:t>
            </a:r>
          </a:p>
        </p:txBody>
      </p:sp>
      <p:sp>
        <p:nvSpPr>
          <p:cNvPr name="AutoShape 3" id="3"/>
          <p:cNvSpPr/>
          <p:nvPr>
            <p:ph type="ctrTitle"/>
          </p:nvPr>
        </p:nvSpPr>
        <p:spPr>
          <a:xfrm>
            <a:off x="1608652" y="2865423"/>
            <a:ext cx="7846701" cy="83099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b="false" i="false" sz="6458" baseline="0" u="none" altLang="en-US">
                <a:gradFill>
                  <a:gsLst>
                    <a:gs pos="29000">
                      <a:srgbClr val="FFFFFF"/>
                    </a:gs>
                    <a:gs pos="80000">
                      <a:srgbClr val="FCBE5D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latin typeface="微软雅黑"/>
                <a:ea typeface="微软雅黑"/>
              </a:rPr>
              <a:t>实时生成PPT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1.png" id="2"/>
          <p:cNvPicPr>
            <a:picLocks noChangeAspect="true"/>
          </p:cNvPicPr>
          <p:nvPr/>
        </p:nvPicPr>
        <p:blipFill>
          <a:blip r:embed="rId2"/>
          <a:srcRect l="229" b="6493" r="27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>
            <a:off x="441325" y="395288"/>
            <a:ext cx="11309350" cy="6067425"/>
          </a:xfrm>
          <a:prstGeom prst="rect">
            <a:avLst/>
          </a:prstGeom>
          <a:solidFill>
            <a:srgbClr val="FFFFFF"/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660400" y="411184"/>
            <a:ext cx="3744716" cy="987551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/>
            <a:r>
              <a:rPr lang="en-US" b="true" i="false" sz="5000" baseline="0" u="none">
                <a:solidFill>
                  <a:schemeClr val="accent1"/>
                </a:solidFill>
                <a:latin typeface="Arial"/>
                <a:ea typeface="Arial"/>
              </a:rPr>
              <a:t>CONTENTS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69947" y="1601908"/>
            <a:ext cx="540000" cy="1080000"/>
          </a:xfrm>
          <a:prstGeom prst="roundRect">
            <a:avLst>
              <a:gd name="adj" fmla="val 50000"/>
            </a:avLst>
          </a:prstGeom>
          <a:solidFill>
            <a:srgbClr val="778495">
              <a:alpha val="20000"/>
            </a:srgbClr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1393592" y="1664931"/>
            <a:ext cx="2901977" cy="525886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/>
            <a:r>
              <a:rPr lang="zh-CN" b="true" i="false" sz="20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实时生成PPT概述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9947" y="1601908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5585501" y="1601908"/>
            <a:ext cx="540000" cy="1080000"/>
          </a:xfrm>
          <a:prstGeom prst="roundRect">
            <a:avLst>
              <a:gd name="adj" fmla="val 50000"/>
            </a:avLst>
          </a:prstGeom>
          <a:solidFill>
            <a:srgbClr val="778495">
              <a:alpha val="20000"/>
            </a:srgbClr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6209146" y="1664931"/>
            <a:ext cx="2901977" cy="525886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/>
            <a:r>
              <a:rPr lang="zh-CN" b="true" i="false" sz="20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实时生成PPT的应用案例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5585501" y="1601908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3177724" y="3410751"/>
            <a:ext cx="540000" cy="1080000"/>
          </a:xfrm>
          <a:prstGeom prst="roundRect">
            <a:avLst>
              <a:gd name="adj" fmla="val 50000"/>
            </a:avLst>
          </a:prstGeom>
          <a:solidFill>
            <a:srgbClr val="778495">
              <a:alpha val="20000"/>
            </a:srgbClr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3801369" y="3473774"/>
            <a:ext cx="2901977" cy="525886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/>
            <a:r>
              <a:rPr lang="zh-CN" b="true" i="false" sz="20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实时生成PPT的核心技术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3177724" y="3410751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7993278" y="3410751"/>
            <a:ext cx="540000" cy="1080000"/>
          </a:xfrm>
          <a:prstGeom prst="roundRect">
            <a:avLst>
              <a:gd name="adj" fmla="val 50000"/>
            </a:avLst>
          </a:prstGeom>
          <a:solidFill>
            <a:srgbClr val="778495">
              <a:alpha val="20000"/>
            </a:srgbClr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>
            <a:off x="8616923" y="3473774"/>
            <a:ext cx="2901977" cy="525886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/>
            <a:r>
              <a:rPr lang="zh-CN" b="true" i="false" sz="20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实时生成PPT的挑战与解决方案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7993278" y="3410751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738099" y="5022955"/>
            <a:ext cx="540000" cy="1080000"/>
          </a:xfrm>
          <a:prstGeom prst="roundRect">
            <a:avLst>
              <a:gd name="adj" fmla="val 50000"/>
            </a:avLst>
          </a:prstGeom>
          <a:solidFill>
            <a:srgbClr val="778495">
              <a:alpha val="20000"/>
            </a:srgbClr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>
            <a:off x="1361744" y="5085978"/>
            <a:ext cx="2901977" cy="525886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/>
            <a:r>
              <a:rPr lang="zh-CN" b="true" i="false" sz="20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实时生成PPT的未来发展</a:t>
            </a:r>
          </a:p>
        </p:txBody>
      </p:sp>
      <p:sp>
        <p:nvSpPr>
          <p:cNvPr name="TextBox 19" id="19"/>
          <p:cNvSpPr txBox="true"/>
          <p:nvPr/>
        </p:nvSpPr>
        <p:spPr>
          <a:xfrm>
            <a:off x="738099" y="5022955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5553653" y="5022955"/>
            <a:ext cx="540000" cy="1080000"/>
          </a:xfrm>
          <a:prstGeom prst="roundRect">
            <a:avLst>
              <a:gd name="adj" fmla="val 50000"/>
            </a:avLst>
          </a:prstGeom>
          <a:solidFill>
            <a:srgbClr val="778495">
              <a:alpha val="20000"/>
            </a:srgbClr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>
            <a:off x="6177298" y="5085978"/>
            <a:ext cx="2901977" cy="525886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/>
            <a:r>
              <a:rPr lang="zh-CN" b="true" i="false" sz="20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实时生成PPT的实施策略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5553653" y="5022955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794000" y="3429000"/>
            <a:ext cx="5731164" cy="424732"/>
          </a:xfrm>
        </p:spPr>
        <p:txBody>
          <a:bodyPr vert="horz" anchor="t" tIns="45720" lIns="91440" bIns="45720" rIns="91440">
            <a:normAutofit/>
          </a:bodyPr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zh-CN" b="true" i="false" sz="3184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实时生成PPT概述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314576" y="2348705"/>
            <a:ext cx="1210588" cy="1089529"/>
          </a:xfrm>
          <a:prstGeom prst="rect">
            <a:avLst/>
          </a:prstGeom>
        </p:spPr>
        <p:txBody>
          <a:bodyPr anchor="b" rtlCol="false" vert="horz" wrap="non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en-GB" b="true" i="false" sz="7200" baseline="0" u="none">
                <a:gradFill>
                  <a:gsLst>
                    <a:gs pos="29000">
                      <a:srgbClr val="FFFFFF"/>
                    </a:gs>
                    <a:gs pos="80000">
                      <a:srgbClr val="FCBE5D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latin typeface="Arial"/>
                <a:ea typeface="Arial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实时生成PPT的定义</a:t>
            </a:r>
          </a:p>
        </p:txBody>
      </p:sp>
      <p:sp>
        <p:nvSpPr>
          <p:cNvPr name="Freeform 3" id="3"/>
          <p:cNvSpPr/>
          <p:nvPr/>
        </p:nvSpPr>
        <p:spPr>
          <a:xfrm>
            <a:off x="757318" y="2266743"/>
            <a:ext cx="3263194" cy="2864079"/>
          </a:xfrm>
          <a:custGeom>
            <a:avLst/>
            <a:gdLst/>
            <a:ahLst/>
            <a:cxnLst/>
            <a:rect r="r" b="b" t="t" l="l"/>
            <a:pathLst>
              <a:path w="1094" h="960" stroke="true" fill="norm" extrusionOk="true">
                <a:moveTo>
                  <a:pt x="786" y="0"/>
                </a:moveTo>
                <a:cubicBezTo>
                  <a:pt x="308" y="0"/>
                  <a:pt x="308" y="0"/>
                  <a:pt x="308" y="0"/>
                </a:cubicBezTo>
                <a:cubicBezTo>
                  <a:pt x="285" y="0"/>
                  <a:pt x="263" y="13"/>
                  <a:pt x="251" y="33"/>
                </a:cubicBezTo>
                <a:cubicBezTo>
                  <a:pt x="12" y="447"/>
                  <a:pt x="12" y="447"/>
                  <a:pt x="12" y="447"/>
                </a:cubicBezTo>
                <a:cubicBezTo>
                  <a:pt x="0" y="467"/>
                  <a:pt x="0" y="493"/>
                  <a:pt x="12" y="513"/>
                </a:cubicBezTo>
                <a:cubicBezTo>
                  <a:pt x="251" y="927"/>
                  <a:pt x="251" y="927"/>
                  <a:pt x="251" y="927"/>
                </a:cubicBezTo>
                <a:cubicBezTo>
                  <a:pt x="263" y="947"/>
                  <a:pt x="285" y="960"/>
                  <a:pt x="308" y="960"/>
                </a:cubicBezTo>
                <a:cubicBezTo>
                  <a:pt x="786" y="960"/>
                  <a:pt x="786" y="960"/>
                  <a:pt x="786" y="960"/>
                </a:cubicBezTo>
                <a:cubicBezTo>
                  <a:pt x="809" y="960"/>
                  <a:pt x="831" y="947"/>
                  <a:pt x="843" y="927"/>
                </a:cubicBezTo>
                <a:cubicBezTo>
                  <a:pt x="1082" y="513"/>
                  <a:pt x="1082" y="513"/>
                  <a:pt x="1082" y="513"/>
                </a:cubicBezTo>
                <a:cubicBezTo>
                  <a:pt x="1094" y="493"/>
                  <a:pt x="1094" y="467"/>
                  <a:pt x="1082" y="447"/>
                </a:cubicBezTo>
                <a:cubicBezTo>
                  <a:pt x="843" y="33"/>
                  <a:pt x="843" y="33"/>
                  <a:pt x="843" y="33"/>
                </a:cubicBezTo>
                <a:cubicBezTo>
                  <a:pt x="831" y="13"/>
                  <a:pt x="809" y="0"/>
                  <a:pt x="786" y="0"/>
                </a:cubicBezTo>
                <a:close/>
              </a:path>
            </a:pathLst>
          </a:custGeom>
          <a:gradFill>
            <a:gsLst>
              <a:gs pos="0">
                <a:srgbClr val="EC1726">
                  <a:lumMod val="60000"/>
                  <a:lumOff val="40000"/>
                </a:srgbClr>
              </a:gs>
              <a:gs pos="60000">
                <a:srgbClr val="EC1726"/>
              </a:gs>
            </a:gsLst>
            <a:lin ang="2700000"/>
          </a:gradFill>
          <a:ln cap="rnd" cmpd="sng">
            <a:prstDash val="solid"/>
          </a:ln>
          <a:effectLst>
            <a:outerShdw algn="ctr" blurRad="50800" dir="5400000" dist="50800" rotWithShape="false">
              <a:schemeClr val="accent1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4" id="4"/>
          <p:cNvGrpSpPr/>
          <p:nvPr/>
        </p:nvGrpSpPr>
        <p:grpSpPr>
          <a:xfrm>
            <a:off x="3675926" y="1159539"/>
            <a:ext cx="7341471" cy="1234165"/>
            <a:chOff x="3675926" y="1159539"/>
            <a:chExt cx="7341471" cy="1234165"/>
          </a:xfrm>
        </p:grpSpPr>
        <p:grpSp>
          <p:nvGrpSpPr>
            <p:cNvPr name="Group 5" id="5"/>
            <p:cNvGrpSpPr/>
            <p:nvPr/>
          </p:nvGrpSpPr>
          <p:grpSpPr>
            <a:xfrm>
              <a:off x="3675926" y="1159539"/>
              <a:ext cx="7341471" cy="1234165"/>
              <a:chOff x="3675926" y="1159539"/>
              <a:chExt cx="7341471" cy="1234165"/>
            </a:xfrm>
          </p:grpSpPr>
          <p:sp>
            <p:nvSpPr>
              <p:cNvPr name="AutoShape 6" id="6"/>
              <p:cNvSpPr/>
              <p:nvPr/>
            </p:nvSpPr>
            <p:spPr>
              <a:xfrm>
                <a:off x="4172861" y="1316605"/>
                <a:ext cx="6844536" cy="950138"/>
              </a:xfrm>
              <a:prstGeom prst="roundRect">
                <a:avLst>
                  <a:gd name="adj" fmla="val 14261"/>
                </a:avLst>
              </a:prstGeom>
              <a:solidFill>
                <a:srgbClr val="2F2F2F">
                  <a:alpha val="10000"/>
                </a:srgbClr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grpSp>
            <p:nvGrpSpPr>
              <p:cNvPr name="Group 7" id="7"/>
              <p:cNvGrpSpPr/>
              <p:nvPr/>
            </p:nvGrpSpPr>
            <p:grpSpPr>
              <a:xfrm>
                <a:off x="3675926" y="1159539"/>
                <a:ext cx="1371847" cy="1234165"/>
                <a:chOff x="3675926" y="1159539"/>
                <a:chExt cx="1371847" cy="1234165"/>
              </a:xfrm>
            </p:grpSpPr>
            <p:sp>
              <p:nvSpPr>
                <p:cNvPr name="Freeform 8" id="8"/>
                <p:cNvSpPr/>
                <p:nvPr/>
              </p:nvSpPr>
              <p:spPr>
                <a:xfrm>
                  <a:off x="3675926" y="1189645"/>
                  <a:ext cx="1371847" cy="120405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94" h="960" stroke="true" fill="norm" extrusionOk="true">
                      <a:moveTo>
                        <a:pt x="786" y="0"/>
                      </a:moveTo>
                      <a:cubicBezTo>
                        <a:pt x="308" y="0"/>
                        <a:pt x="308" y="0"/>
                        <a:pt x="308" y="0"/>
                      </a:cubicBezTo>
                      <a:cubicBezTo>
                        <a:pt x="285" y="0"/>
                        <a:pt x="263" y="13"/>
                        <a:pt x="251" y="33"/>
                      </a:cubicBezTo>
                      <a:cubicBezTo>
                        <a:pt x="12" y="447"/>
                        <a:pt x="12" y="447"/>
                        <a:pt x="12" y="447"/>
                      </a:cubicBezTo>
                      <a:cubicBezTo>
                        <a:pt x="0" y="467"/>
                        <a:pt x="0" y="493"/>
                        <a:pt x="12" y="513"/>
                      </a:cubicBezTo>
                      <a:cubicBezTo>
                        <a:pt x="251" y="927"/>
                        <a:pt x="251" y="927"/>
                        <a:pt x="251" y="927"/>
                      </a:cubicBezTo>
                      <a:cubicBezTo>
                        <a:pt x="263" y="947"/>
                        <a:pt x="285" y="960"/>
                        <a:pt x="308" y="960"/>
                      </a:cubicBezTo>
                      <a:cubicBezTo>
                        <a:pt x="786" y="960"/>
                        <a:pt x="786" y="960"/>
                        <a:pt x="786" y="960"/>
                      </a:cubicBezTo>
                      <a:cubicBezTo>
                        <a:pt x="809" y="960"/>
                        <a:pt x="831" y="947"/>
                        <a:pt x="843" y="927"/>
                      </a:cubicBezTo>
                      <a:cubicBezTo>
                        <a:pt x="1082" y="513"/>
                        <a:pt x="1082" y="513"/>
                        <a:pt x="1082" y="513"/>
                      </a:cubicBezTo>
                      <a:cubicBezTo>
                        <a:pt x="1094" y="493"/>
                        <a:pt x="1094" y="467"/>
                        <a:pt x="1082" y="447"/>
                      </a:cubicBezTo>
                      <a:cubicBezTo>
                        <a:pt x="843" y="33"/>
                        <a:pt x="843" y="33"/>
                        <a:pt x="843" y="33"/>
                      </a:cubicBezTo>
                      <a:cubicBezTo>
                        <a:pt x="831" y="13"/>
                        <a:pt x="809" y="0"/>
                        <a:pt x="78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05C0F">
                        <a:lumMod val="60000"/>
                        <a:lumOff val="40000"/>
                      </a:srgbClr>
                    </a:gs>
                    <a:gs pos="60000">
                      <a:srgbClr val="F05C0F"/>
                    </a:gs>
                  </a:gsLst>
                  <a:lin ang="2700000"/>
                </a:gradFill>
                <a:ln cap="rnd" cmpd="sng">
                  <a:prstDash val="solid"/>
                </a:ln>
                <a:effectLst>
                  <a:outerShdw algn="ctr" blurRad="50800" dir="5400000" dist="50800" rotWithShape="false">
                    <a:schemeClr val="accent2">
                      <a:alpha val="20000"/>
                    </a:schemeClr>
                  </a:outerShdw>
                </a:effectLst>
              </p:spPr>
              <p:txBody>
                <a:bodyPr vert="horz" rot="0" anchor="ctr" wrap="square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AutoShape 9" id="9"/>
                <p:cNvSpPr/>
                <p:nvPr/>
              </p:nvSpPr>
              <p:spPr>
                <a:xfrm>
                  <a:off x="3868163" y="1159539"/>
                  <a:ext cx="987372" cy="1204058"/>
                </a:xfrm>
                <a:prstGeom prst="rect">
                  <a:avLst/>
                </a:prstGeom>
                <a:noFill/>
                <a:ln cap="flat" cmpd="sng">
                  <a:prstDash val="solid"/>
                </a:ln>
              </p:spPr>
              <p:txBody>
                <a:bodyPr vert="horz" anchor="ctr" wrap="square" tIns="108000" lIns="108000" bIns="108000" rIns="108000">
                  <a:noAutofit/>
                </a:bodyPr>
                <a:p>
                  <a:pPr algn="ctr" marL="0"/>
                  <a:r>
                    <a:rPr lang="zh-CN" b="true" i="false" sz="1600" baseline="0" u="none" altLang="en-US">
                      <a:solidFill>
                        <a:schemeClr val="lt1"/>
                      </a:solidFill>
                      <a:latin typeface="微软雅黑"/>
                      <a:ea typeface="微软雅黑"/>
                    </a:rPr>
                    <a:t>实时生成PPT的概念</a:t>
                  </a:r>
                </a:p>
              </p:txBody>
            </p:sp>
          </p:grpSp>
        </p:grpSp>
        <p:sp>
          <p:nvSpPr>
            <p:cNvPr name="TextBox 10" id="10"/>
            <p:cNvSpPr txBox="true"/>
            <p:nvPr/>
          </p:nvSpPr>
          <p:spPr>
            <a:xfrm>
              <a:off x="5240010" y="1392072"/>
              <a:ext cx="5406786" cy="767054"/>
            </a:xfrm>
            <a:prstGeom prst="rect">
              <a:avLst/>
            </a:prstGeom>
            <a:noFill/>
          </p:spPr>
          <p:txBody>
            <a:bodyPr anchor="ctr" rtlCol="false" vert="horz" wrap="square" tIns="45720" lIns="91440" bIns="45720" rIns="91440">
              <a:noAutofit/>
            </a:bodyPr>
            <a:lstStyle/>
            <a:p>
              <a:pPr algn="l" marL="0">
                <a:defRPr/>
              </a:pPr>
              <a:r>
                <a:rPr lang="zh-CN" b="false" i="false" sz="1400" baseline="0" u="none" altLang="en-US">
                  <a:solidFill>
                    <a:srgbClr val="2F2F2F"/>
                  </a:solidFill>
                  <a:latin typeface="+mn-ea"/>
                  <a:ea typeface="+mn-ea"/>
                </a:rPr>
                <a:t>实时生成PPT是指通过自动化技术，在数据输入后即时生成符合需求的演示文稿，无需人工干预，极大提高了工作效率。</a:t>
              </a:r>
              <a:endParaRPr lang="en-US" sz="1100"/>
            </a:p>
          </p:txBody>
        </p:sp>
      </p:grpSp>
      <p:grpSp>
        <p:nvGrpSpPr>
          <p:cNvPr name="Group 11" id="11"/>
          <p:cNvGrpSpPr/>
          <p:nvPr/>
        </p:nvGrpSpPr>
        <p:grpSpPr>
          <a:xfrm>
            <a:off x="4545652" y="3080154"/>
            <a:ext cx="6471745" cy="1204059"/>
            <a:chOff x="4545652" y="3080154"/>
            <a:chExt cx="6471745" cy="1204059"/>
          </a:xfrm>
        </p:grpSpPr>
        <p:grpSp>
          <p:nvGrpSpPr>
            <p:cNvPr name="Group 12" id="12"/>
            <p:cNvGrpSpPr/>
            <p:nvPr/>
          </p:nvGrpSpPr>
          <p:grpSpPr>
            <a:xfrm>
              <a:off x="4545652" y="3080154"/>
              <a:ext cx="6471745" cy="1204059"/>
              <a:chOff x="4545652" y="3080154"/>
              <a:chExt cx="6471745" cy="1204059"/>
            </a:xfrm>
          </p:grpSpPr>
          <p:sp>
            <p:nvSpPr>
              <p:cNvPr name="AutoShape 13" id="13"/>
              <p:cNvSpPr/>
              <p:nvPr/>
            </p:nvSpPr>
            <p:spPr>
              <a:xfrm>
                <a:off x="5116099" y="3207114"/>
                <a:ext cx="5901298" cy="950138"/>
              </a:xfrm>
              <a:prstGeom prst="roundRect">
                <a:avLst>
                  <a:gd name="adj" fmla="val 14261"/>
                </a:avLst>
              </a:prstGeom>
              <a:solidFill>
                <a:srgbClr val="2F2F2F">
                  <a:alpha val="10000"/>
                </a:srgbClr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grpSp>
            <p:nvGrpSpPr>
              <p:cNvPr name="Group 14" id="14"/>
              <p:cNvGrpSpPr/>
              <p:nvPr/>
            </p:nvGrpSpPr>
            <p:grpSpPr>
              <a:xfrm>
                <a:off x="4545652" y="3080154"/>
                <a:ext cx="1371847" cy="1204059"/>
                <a:chOff x="4545652" y="3685023"/>
                <a:chExt cx="1371847" cy="1204059"/>
              </a:xfrm>
            </p:grpSpPr>
            <p:sp>
              <p:nvSpPr>
                <p:cNvPr name="Freeform 15" id="15"/>
                <p:cNvSpPr/>
                <p:nvPr/>
              </p:nvSpPr>
              <p:spPr>
                <a:xfrm>
                  <a:off x="4545652" y="3685023"/>
                  <a:ext cx="1371847" cy="120405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94" h="960" stroke="true" fill="norm" extrusionOk="true">
                      <a:moveTo>
                        <a:pt x="786" y="0"/>
                      </a:moveTo>
                      <a:cubicBezTo>
                        <a:pt x="308" y="0"/>
                        <a:pt x="308" y="0"/>
                        <a:pt x="308" y="0"/>
                      </a:cubicBezTo>
                      <a:cubicBezTo>
                        <a:pt x="285" y="0"/>
                        <a:pt x="263" y="13"/>
                        <a:pt x="251" y="33"/>
                      </a:cubicBezTo>
                      <a:cubicBezTo>
                        <a:pt x="12" y="447"/>
                        <a:pt x="12" y="447"/>
                        <a:pt x="12" y="447"/>
                      </a:cubicBezTo>
                      <a:cubicBezTo>
                        <a:pt x="0" y="467"/>
                        <a:pt x="0" y="493"/>
                        <a:pt x="12" y="513"/>
                      </a:cubicBezTo>
                      <a:cubicBezTo>
                        <a:pt x="251" y="927"/>
                        <a:pt x="251" y="927"/>
                        <a:pt x="251" y="927"/>
                      </a:cubicBezTo>
                      <a:cubicBezTo>
                        <a:pt x="263" y="947"/>
                        <a:pt x="285" y="960"/>
                        <a:pt x="308" y="960"/>
                      </a:cubicBezTo>
                      <a:cubicBezTo>
                        <a:pt x="786" y="960"/>
                        <a:pt x="786" y="960"/>
                        <a:pt x="786" y="960"/>
                      </a:cubicBezTo>
                      <a:cubicBezTo>
                        <a:pt x="809" y="960"/>
                        <a:pt x="831" y="947"/>
                        <a:pt x="843" y="927"/>
                      </a:cubicBezTo>
                      <a:cubicBezTo>
                        <a:pt x="1082" y="513"/>
                        <a:pt x="1082" y="513"/>
                        <a:pt x="1082" y="513"/>
                      </a:cubicBezTo>
                      <a:cubicBezTo>
                        <a:pt x="1094" y="493"/>
                        <a:pt x="1094" y="467"/>
                        <a:pt x="1082" y="447"/>
                      </a:cubicBezTo>
                      <a:cubicBezTo>
                        <a:pt x="843" y="33"/>
                        <a:pt x="843" y="33"/>
                        <a:pt x="843" y="33"/>
                      </a:cubicBezTo>
                      <a:cubicBezTo>
                        <a:pt x="831" y="13"/>
                        <a:pt x="809" y="0"/>
                        <a:pt x="78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54666">
                        <a:lumMod val="60000"/>
                        <a:lumOff val="40000"/>
                      </a:srgbClr>
                    </a:gs>
                    <a:gs pos="60000">
                      <a:srgbClr val="E54666"/>
                    </a:gs>
                  </a:gsLst>
                  <a:lin ang="2700000"/>
                </a:gradFill>
                <a:ln cap="rnd" cmpd="sng">
                  <a:prstDash val="solid"/>
                </a:ln>
                <a:effectLst>
                  <a:outerShdw algn="ctr" blurRad="50800" dir="5400000" dist="50800" rotWithShape="false">
                    <a:schemeClr val="accent3">
                      <a:alpha val="20000"/>
                    </a:schemeClr>
                  </a:outerShdw>
                </a:effectLst>
              </p:spPr>
              <p:txBody>
                <a:bodyPr vert="horz" rot="0" anchor="ctr" wrap="square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AutoShape 16" id="16"/>
                <p:cNvSpPr/>
                <p:nvPr/>
              </p:nvSpPr>
              <p:spPr>
                <a:xfrm>
                  <a:off x="4737889" y="3685024"/>
                  <a:ext cx="987372" cy="1204058"/>
                </a:xfrm>
                <a:prstGeom prst="rect">
                  <a:avLst/>
                </a:prstGeom>
                <a:noFill/>
                <a:ln cap="flat" cmpd="sng">
                  <a:prstDash val="solid"/>
                </a:ln>
              </p:spPr>
              <p:txBody>
                <a:bodyPr vert="horz" anchor="ctr" wrap="square" tIns="108000" lIns="108000" bIns="108000" rIns="108000">
                  <a:noAutofit/>
                </a:bodyPr>
                <a:p>
                  <a:pPr algn="ctr" marL="0"/>
                  <a:r>
                    <a:rPr lang="zh-CN" b="true" i="false" sz="1600" baseline="0" u="none" altLang="en-US">
                      <a:solidFill>
                        <a:schemeClr val="lt1"/>
                      </a:solidFill>
                      <a:latin typeface="微软雅黑"/>
                      <a:ea typeface="微软雅黑"/>
                    </a:rPr>
                    <a:t>实时生成PPT的优势</a:t>
                  </a:r>
                </a:p>
              </p:txBody>
            </p:sp>
          </p:grpSp>
        </p:grpSp>
        <p:sp>
          <p:nvSpPr>
            <p:cNvPr name="TextBox 17" id="17"/>
            <p:cNvSpPr txBox="true"/>
            <p:nvPr/>
          </p:nvSpPr>
          <p:spPr>
            <a:xfrm>
              <a:off x="6002495" y="3282581"/>
              <a:ext cx="4767645" cy="767054"/>
            </a:xfrm>
            <a:prstGeom prst="rect">
              <a:avLst/>
            </a:prstGeom>
            <a:noFill/>
          </p:spPr>
          <p:txBody>
            <a:bodyPr anchor="ctr" rtlCol="false" vert="horz" wrap="square" tIns="45720" lIns="91440" bIns="45720" rIns="91440">
              <a:noAutofit/>
            </a:bodyPr>
            <a:lstStyle/>
            <a:p>
              <a:pPr algn="l" marL="0">
                <a:defRPr/>
              </a:pPr>
              <a:r>
                <a:rPr lang="zh-CN" b="false" i="false" sz="1400" baseline="0" u="none" altLang="en-US">
                  <a:solidFill>
                    <a:srgbClr val="2F2F2F"/>
                  </a:solidFill>
                  <a:latin typeface="+mn-ea"/>
                  <a:ea typeface="+mn-ea"/>
                </a:rPr>
                <a:t>实时生成PPT具有高效性、灵活性和一致性，能够减少人工操作，降低错误率，同时支持个性化定制。</a:t>
              </a:r>
              <a:endParaRPr lang="en-US" sz="1100"/>
            </a:p>
          </p:txBody>
        </p:sp>
      </p:grpSp>
      <p:grpSp>
        <p:nvGrpSpPr>
          <p:cNvPr name="Group 18" id="18"/>
          <p:cNvGrpSpPr/>
          <p:nvPr/>
        </p:nvGrpSpPr>
        <p:grpSpPr>
          <a:xfrm>
            <a:off x="3675926" y="4860681"/>
            <a:ext cx="7341471" cy="1206744"/>
            <a:chOff x="3675926" y="4860681"/>
            <a:chExt cx="7341471" cy="1206744"/>
          </a:xfrm>
        </p:grpSpPr>
        <p:grpSp>
          <p:nvGrpSpPr>
            <p:cNvPr name="Group 19" id="19"/>
            <p:cNvGrpSpPr/>
            <p:nvPr/>
          </p:nvGrpSpPr>
          <p:grpSpPr>
            <a:xfrm>
              <a:off x="3675926" y="4860681"/>
              <a:ext cx="7341471" cy="1206744"/>
              <a:chOff x="3675926" y="4860681"/>
              <a:chExt cx="7341471" cy="1206744"/>
            </a:xfrm>
          </p:grpSpPr>
          <p:sp>
            <p:nvSpPr>
              <p:cNvPr name="AutoShape 20" id="20"/>
              <p:cNvSpPr/>
              <p:nvPr/>
            </p:nvSpPr>
            <p:spPr>
              <a:xfrm>
                <a:off x="4172861" y="4990326"/>
                <a:ext cx="6844536" cy="950138"/>
              </a:xfrm>
              <a:prstGeom prst="roundRect">
                <a:avLst>
                  <a:gd name="adj" fmla="val 14261"/>
                </a:avLst>
              </a:prstGeom>
              <a:solidFill>
                <a:srgbClr val="2F2F2F">
                  <a:alpha val="10000"/>
                </a:srgbClr>
              </a:solidFill>
              <a:ln cap="flat" cmpd="sng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ctr" marL="0"/>
              </a:p>
            </p:txBody>
          </p:sp>
          <p:grpSp>
            <p:nvGrpSpPr>
              <p:cNvPr name="Group 21" id="21"/>
              <p:cNvGrpSpPr/>
              <p:nvPr/>
            </p:nvGrpSpPr>
            <p:grpSpPr>
              <a:xfrm>
                <a:off x="3675926" y="4860681"/>
                <a:ext cx="1371847" cy="1206744"/>
                <a:chOff x="3675926" y="4860681"/>
                <a:chExt cx="1371847" cy="1206744"/>
              </a:xfrm>
            </p:grpSpPr>
            <p:sp>
              <p:nvSpPr>
                <p:cNvPr name="Freeform 22" id="22"/>
                <p:cNvSpPr/>
                <p:nvPr/>
              </p:nvSpPr>
              <p:spPr>
                <a:xfrm>
                  <a:off x="3675926" y="4863366"/>
                  <a:ext cx="1371847" cy="120405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1094" h="960" stroke="true" fill="norm" extrusionOk="true">
                      <a:moveTo>
                        <a:pt x="786" y="0"/>
                      </a:moveTo>
                      <a:cubicBezTo>
                        <a:pt x="308" y="0"/>
                        <a:pt x="308" y="0"/>
                        <a:pt x="308" y="0"/>
                      </a:cubicBezTo>
                      <a:cubicBezTo>
                        <a:pt x="285" y="0"/>
                        <a:pt x="263" y="13"/>
                        <a:pt x="251" y="33"/>
                      </a:cubicBezTo>
                      <a:cubicBezTo>
                        <a:pt x="12" y="447"/>
                        <a:pt x="12" y="447"/>
                        <a:pt x="12" y="447"/>
                      </a:cubicBezTo>
                      <a:cubicBezTo>
                        <a:pt x="0" y="467"/>
                        <a:pt x="0" y="493"/>
                        <a:pt x="12" y="513"/>
                      </a:cubicBezTo>
                      <a:cubicBezTo>
                        <a:pt x="251" y="927"/>
                        <a:pt x="251" y="927"/>
                        <a:pt x="251" y="927"/>
                      </a:cubicBezTo>
                      <a:cubicBezTo>
                        <a:pt x="263" y="947"/>
                        <a:pt x="285" y="960"/>
                        <a:pt x="308" y="960"/>
                      </a:cubicBezTo>
                      <a:cubicBezTo>
                        <a:pt x="786" y="960"/>
                        <a:pt x="786" y="960"/>
                        <a:pt x="786" y="960"/>
                      </a:cubicBezTo>
                      <a:cubicBezTo>
                        <a:pt x="809" y="960"/>
                        <a:pt x="831" y="947"/>
                        <a:pt x="843" y="927"/>
                      </a:cubicBezTo>
                      <a:cubicBezTo>
                        <a:pt x="1082" y="513"/>
                        <a:pt x="1082" y="513"/>
                        <a:pt x="1082" y="513"/>
                      </a:cubicBezTo>
                      <a:cubicBezTo>
                        <a:pt x="1094" y="493"/>
                        <a:pt x="1094" y="467"/>
                        <a:pt x="1082" y="447"/>
                      </a:cubicBezTo>
                      <a:cubicBezTo>
                        <a:pt x="843" y="33"/>
                        <a:pt x="843" y="33"/>
                        <a:pt x="843" y="33"/>
                      </a:cubicBezTo>
                      <a:cubicBezTo>
                        <a:pt x="831" y="13"/>
                        <a:pt x="809" y="0"/>
                        <a:pt x="78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C1726">
                        <a:lumMod val="60000"/>
                        <a:lumOff val="40000"/>
                      </a:srgbClr>
                    </a:gs>
                    <a:gs pos="60000">
                      <a:srgbClr val="EC1726"/>
                    </a:gs>
                  </a:gsLst>
                  <a:lin ang="2700000"/>
                </a:gradFill>
                <a:ln cap="rnd" cmpd="sng">
                  <a:prstDash val="solid"/>
                </a:ln>
                <a:effectLst>
                  <a:outerShdw algn="ctr" blurRad="50800" dir="5400000" dist="50800" rotWithShape="false">
                    <a:schemeClr val="accent1">
                      <a:alpha val="20000"/>
                    </a:schemeClr>
                  </a:outerShdw>
                </a:effectLst>
              </p:spPr>
              <p:txBody>
                <a:bodyPr vert="horz" rot="0" anchor="ctr" wrap="square" tIns="45720" lIns="91440" bIns="45720" rIns="91440">
                  <a:normAutofit/>
                </a:bodyPr>
                <a:p>
                  <a:pPr algn="ctr" marL="0"/>
                </a:p>
              </p:txBody>
            </p:sp>
            <p:sp>
              <p:nvSpPr>
                <p:cNvPr name="AutoShape 23" id="23"/>
                <p:cNvSpPr/>
                <p:nvPr/>
              </p:nvSpPr>
              <p:spPr>
                <a:xfrm>
                  <a:off x="3868163" y="4860681"/>
                  <a:ext cx="987372" cy="1204058"/>
                </a:xfrm>
                <a:prstGeom prst="rect">
                  <a:avLst/>
                </a:prstGeom>
                <a:noFill/>
                <a:ln cap="flat" cmpd="sng">
                  <a:prstDash val="solid"/>
                </a:ln>
              </p:spPr>
              <p:txBody>
                <a:bodyPr vert="horz" anchor="ctr" wrap="square" tIns="108000" lIns="108000" bIns="108000" rIns="108000">
                  <a:noAutofit/>
                </a:bodyPr>
                <a:p>
                  <a:pPr algn="ctr" marL="0"/>
                  <a:r>
                    <a:rPr lang="zh-CN" b="true" i="false" sz="1600" baseline="0" u="none" altLang="en-US">
                      <a:solidFill>
                        <a:schemeClr val="lt1"/>
                      </a:solidFill>
                      <a:latin typeface="微软雅黑"/>
                      <a:ea typeface="微软雅黑"/>
                    </a:rPr>
                    <a:t>实时生成PPT的应用场景</a:t>
                  </a:r>
                </a:p>
              </p:txBody>
            </p:sp>
          </p:grpSp>
        </p:grpSp>
        <p:sp>
          <p:nvSpPr>
            <p:cNvPr name="TextBox 24" id="24"/>
            <p:cNvSpPr txBox="true"/>
            <p:nvPr/>
          </p:nvSpPr>
          <p:spPr>
            <a:xfrm>
              <a:off x="5240010" y="5065793"/>
              <a:ext cx="5406786" cy="767054"/>
            </a:xfrm>
            <a:prstGeom prst="rect">
              <a:avLst/>
            </a:prstGeom>
            <a:noFill/>
          </p:spPr>
          <p:txBody>
            <a:bodyPr anchor="ctr" rtlCol="false" vert="horz" wrap="square" tIns="45720" lIns="91440" bIns="45720" rIns="91440">
              <a:noAutofit/>
            </a:bodyPr>
            <a:lstStyle/>
            <a:p>
              <a:pPr algn="l" marL="0">
                <a:defRPr/>
              </a:pPr>
              <a:r>
                <a:rPr lang="zh-CN" b="false" i="false" sz="1400" baseline="0" u="none" altLang="en-US">
                  <a:solidFill>
                    <a:srgbClr val="2F2F2F"/>
                  </a:solidFill>
                  <a:latin typeface="+mn-ea"/>
                  <a:ea typeface="+mn-ea"/>
                </a:rPr>
                <a:t>实时生成PPT广泛应用于企业报告、教育培训、市场分析等领域，能够快速响应需求，提供高质量的演示文稿。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实时生成PPT的技术基础</a:t>
            </a:r>
          </a:p>
        </p:txBody>
      </p:sp>
      <p:cxnSp>
        <p:nvCxnSpPr>
          <p:cNvPr name="Connector 3" id="3"/>
          <p:cNvCxnSpPr/>
          <p:nvPr/>
        </p:nvCxnSpPr>
        <p:spPr>
          <a:xfrm flipV="true">
            <a:off x="3576895" y="2043243"/>
            <a:ext cx="0" cy="2740297"/>
          </a:xfrm>
          <a:prstGeom prst="line">
            <a:avLst/>
          </a:prstGeom>
          <a:ln w="76200" cap="rnd" cmpd="sng">
            <a:solidFill>
              <a:srgbClr val="778495">
                <a:alpha val="15000"/>
              </a:srgbClr>
            </a:solidFill>
            <a:prstDash val="solid"/>
          </a:ln>
        </p:spPr>
      </p:cxnSp>
      <p:cxnSp>
        <p:nvCxnSpPr>
          <p:cNvPr name="Connector 4" id="4"/>
          <p:cNvCxnSpPr/>
          <p:nvPr/>
        </p:nvCxnSpPr>
        <p:spPr>
          <a:xfrm flipV="true">
            <a:off x="6031337" y="2043243"/>
            <a:ext cx="0" cy="2740297"/>
          </a:xfrm>
          <a:prstGeom prst="line">
            <a:avLst/>
          </a:prstGeom>
          <a:ln w="76200" cap="rnd" cmpd="sng">
            <a:solidFill>
              <a:srgbClr val="778495">
                <a:alpha val="15000"/>
              </a:srgbClr>
            </a:solidFill>
            <a:prstDash val="solid"/>
          </a:ln>
        </p:spPr>
      </p:cxnSp>
      <p:cxnSp>
        <p:nvCxnSpPr>
          <p:cNvPr name="Connector 5" id="5"/>
          <p:cNvCxnSpPr/>
          <p:nvPr/>
        </p:nvCxnSpPr>
        <p:spPr>
          <a:xfrm flipV="true">
            <a:off x="8485779" y="2043243"/>
            <a:ext cx="0" cy="2753945"/>
          </a:xfrm>
          <a:prstGeom prst="line">
            <a:avLst/>
          </a:prstGeom>
          <a:ln w="76200" cap="rnd" cmpd="sng">
            <a:solidFill>
              <a:srgbClr val="778495">
                <a:alpha val="15000"/>
              </a:srgbClr>
            </a:solidFill>
            <a:prstDash val="solid"/>
          </a:ln>
        </p:spPr>
      </p:cxnSp>
      <p:sp>
        <p:nvSpPr>
          <p:cNvPr name="TextBox 6" id="6"/>
          <p:cNvSpPr txBox="true"/>
          <p:nvPr/>
        </p:nvSpPr>
        <p:spPr>
          <a:xfrm>
            <a:off x="1463335" y="2754961"/>
            <a:ext cx="1950127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rgbClr val="2F2F2F"/>
                </a:solidFill>
                <a:latin typeface="Arial"/>
                <a:ea typeface="Arial"/>
              </a:rPr>
              <a:t>云计算技术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1463334" y="3062738"/>
            <a:ext cx="1950129" cy="166821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云计算技术为实时生成PPT提供了强大的计算能力和存储资源，支持大规模数据处理和高效生成。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1548635" y="2043243"/>
            <a:ext cx="410200" cy="410198"/>
          </a:xfrm>
          <a:prstGeom prst="ellipse">
            <a:avLst/>
          </a:prstGeom>
          <a:gradFill>
            <a:gsLst>
              <a:gs pos="0">
                <a:srgbClr val="EC1726">
                  <a:lumMod val="60000"/>
                  <a:lumOff val="40000"/>
                </a:srgbClr>
              </a:gs>
              <a:gs pos="60000">
                <a:srgbClr val="EC1726"/>
              </a:gs>
            </a:gsLst>
            <a:lin ang="2700000"/>
          </a:gradFill>
          <a:ln cap="rnd" cmpd="sng">
            <a:prstDash val="solid"/>
          </a:ln>
          <a:effectLst>
            <a:outerShdw algn="ctr" blurRad="76200" dir="5400000" dist="50800" rotWithShape="false">
              <a:schemeClr val="accent1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9" id="9"/>
          <p:cNvSpPr/>
          <p:nvPr/>
        </p:nvSpPr>
        <p:spPr>
          <a:xfrm>
            <a:off x="1664735" y="2181592"/>
            <a:ext cx="178001" cy="133500"/>
          </a:xfrm>
          <a:custGeom>
            <a:avLst/>
            <a:gdLst/>
            <a:ahLst/>
            <a:cxnLst/>
            <a:rect r="r" b="b" t="t" l="l"/>
            <a:pathLst>
              <a:path w="533400" h="400050" stroke="true" fill="norm" extrusionOk="true">
                <a:moveTo>
                  <a:pt x="505433" y="621"/>
                </a:moveTo>
                <a:cubicBezTo>
                  <a:pt x="521245" y="621"/>
                  <a:pt x="534008" y="13385"/>
                  <a:pt x="534008" y="29196"/>
                </a:cubicBezTo>
                <a:lnTo>
                  <a:pt x="534008" y="372096"/>
                </a:lnTo>
                <a:cubicBezTo>
                  <a:pt x="534008" y="387907"/>
                  <a:pt x="521245" y="400671"/>
                  <a:pt x="505433" y="400671"/>
                </a:cubicBezTo>
                <a:lnTo>
                  <a:pt x="29183" y="400671"/>
                </a:lnTo>
                <a:cubicBezTo>
                  <a:pt x="13371" y="400671"/>
                  <a:pt x="608" y="387907"/>
                  <a:pt x="608" y="372096"/>
                </a:cubicBezTo>
                <a:lnTo>
                  <a:pt x="608" y="29196"/>
                </a:lnTo>
                <a:cubicBezTo>
                  <a:pt x="608" y="13385"/>
                  <a:pt x="13371" y="621"/>
                  <a:pt x="29183" y="621"/>
                </a:cubicBezTo>
                <a:lnTo>
                  <a:pt x="505433" y="621"/>
                </a:lnTo>
                <a:close/>
                <a:moveTo>
                  <a:pt x="391419" y="198646"/>
                </a:moveTo>
                <a:cubicBezTo>
                  <a:pt x="378846" y="189121"/>
                  <a:pt x="360939" y="191597"/>
                  <a:pt x="351414" y="204170"/>
                </a:cubicBezTo>
                <a:lnTo>
                  <a:pt x="351414" y="204170"/>
                </a:lnTo>
                <a:lnTo>
                  <a:pt x="267118" y="315613"/>
                </a:lnTo>
                <a:cubicBezTo>
                  <a:pt x="266355" y="316660"/>
                  <a:pt x="265498" y="317518"/>
                  <a:pt x="264641" y="318470"/>
                </a:cubicBezTo>
                <a:cubicBezTo>
                  <a:pt x="253592" y="329710"/>
                  <a:pt x="235495" y="329805"/>
                  <a:pt x="224255" y="318756"/>
                </a:cubicBezTo>
                <a:lnTo>
                  <a:pt x="224255" y="318756"/>
                </a:lnTo>
                <a:lnTo>
                  <a:pt x="162152" y="257415"/>
                </a:lnTo>
                <a:cubicBezTo>
                  <a:pt x="161485" y="256844"/>
                  <a:pt x="160914" y="256177"/>
                  <a:pt x="160247" y="255701"/>
                </a:cubicBezTo>
                <a:cubicBezTo>
                  <a:pt x="148055" y="245699"/>
                  <a:pt x="130053" y="247414"/>
                  <a:pt x="120052" y="259606"/>
                </a:cubicBezTo>
                <a:lnTo>
                  <a:pt x="120052" y="259606"/>
                </a:lnTo>
                <a:lnTo>
                  <a:pt x="32517" y="366095"/>
                </a:lnTo>
                <a:cubicBezTo>
                  <a:pt x="31088" y="367810"/>
                  <a:pt x="30326" y="369905"/>
                  <a:pt x="30326" y="372096"/>
                </a:cubicBezTo>
                <a:cubicBezTo>
                  <a:pt x="30326" y="377335"/>
                  <a:pt x="34612" y="381621"/>
                  <a:pt x="39851" y="381621"/>
                </a:cubicBezTo>
                <a:lnTo>
                  <a:pt x="39851" y="381621"/>
                </a:lnTo>
                <a:lnTo>
                  <a:pt x="497242" y="381621"/>
                </a:lnTo>
                <a:cubicBezTo>
                  <a:pt x="499146" y="381621"/>
                  <a:pt x="500956" y="381050"/>
                  <a:pt x="502480" y="380002"/>
                </a:cubicBezTo>
                <a:cubicBezTo>
                  <a:pt x="506862" y="377049"/>
                  <a:pt x="508005" y="371144"/>
                  <a:pt x="505147" y="366762"/>
                </a:cubicBezTo>
                <a:lnTo>
                  <a:pt x="505147" y="366762"/>
                </a:lnTo>
                <a:lnTo>
                  <a:pt x="397991" y="205504"/>
                </a:lnTo>
                <a:cubicBezTo>
                  <a:pt x="396181" y="202932"/>
                  <a:pt x="393990" y="200551"/>
                  <a:pt x="391419" y="198646"/>
                </a:cubicBezTo>
                <a:close/>
                <a:moveTo>
                  <a:pt x="95858" y="57771"/>
                </a:moveTo>
                <a:cubicBezTo>
                  <a:pt x="74808" y="57771"/>
                  <a:pt x="57758" y="74821"/>
                  <a:pt x="57758" y="95871"/>
                </a:cubicBezTo>
                <a:cubicBezTo>
                  <a:pt x="57758" y="116921"/>
                  <a:pt x="74808" y="133971"/>
                  <a:pt x="95858" y="133971"/>
                </a:cubicBezTo>
                <a:cubicBezTo>
                  <a:pt x="116908" y="133971"/>
                  <a:pt x="133958" y="116921"/>
                  <a:pt x="133958" y="95871"/>
                </a:cubicBezTo>
                <a:cubicBezTo>
                  <a:pt x="133958" y="74821"/>
                  <a:pt x="116908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0" id="10"/>
          <p:cNvSpPr txBox="true"/>
          <p:nvPr/>
        </p:nvSpPr>
        <p:spPr>
          <a:xfrm>
            <a:off x="3901736" y="2754961"/>
            <a:ext cx="1950127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gradFill>
                  <a:gsLst>
                    <a:gs pos="0">
                      <a:srgbClr val="F05C0F">
                        <a:lumMod val="60000"/>
                        <a:lumOff val="40000"/>
                      </a:srgbClr>
                    </a:gs>
                    <a:gs pos="60000">
                      <a:srgbClr val="F05C0F"/>
                    </a:gs>
                  </a:gsLst>
                  <a:lin ang="2700000"/>
                </a:gradFill>
                <a:latin typeface="Arial"/>
                <a:ea typeface="Arial"/>
              </a:rPr>
              <a:t>大数据处理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3901735" y="3062738"/>
            <a:ext cx="1950129" cy="166821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大数据处理技术能够快速分析和处理海量数据，为实时生成PPT提供准确的数据支持。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3981804" y="2043243"/>
            <a:ext cx="410200" cy="410198"/>
          </a:xfrm>
          <a:prstGeom prst="ellipse">
            <a:avLst/>
          </a:prstGeom>
          <a:gradFill>
            <a:gsLst>
              <a:gs pos="0">
                <a:srgbClr val="F05C0F">
                  <a:lumMod val="60000"/>
                  <a:lumOff val="40000"/>
                </a:srgbClr>
              </a:gs>
              <a:gs pos="60000">
                <a:srgbClr val="F05C0F"/>
              </a:gs>
            </a:gsLst>
            <a:lin ang="2700000"/>
          </a:gradFill>
          <a:ln cap="rnd" cmpd="sng">
            <a:prstDash val="solid"/>
          </a:ln>
          <a:effectLst>
            <a:outerShdw algn="ctr" blurRad="76200" dir="5400000" dist="50800" rotWithShape="false">
              <a:schemeClr val="accent2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3" id="13"/>
          <p:cNvSpPr/>
          <p:nvPr/>
        </p:nvSpPr>
        <p:spPr>
          <a:xfrm>
            <a:off x="4105711" y="2165691"/>
            <a:ext cx="162386" cy="178001"/>
          </a:xfrm>
          <a:custGeom>
            <a:avLst/>
            <a:gdLst/>
            <a:ahLst/>
            <a:cxnLst/>
            <a:rect r="r" b="b" t="t" l="l"/>
            <a:pathLst>
              <a:path w="495300" h="542925" stroke="true" fill="norm" extrusionOk="true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4" id="14"/>
          <p:cNvSpPr txBox="true"/>
          <p:nvPr/>
        </p:nvSpPr>
        <p:spPr>
          <a:xfrm>
            <a:off x="6340137" y="2754961"/>
            <a:ext cx="1950127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rgbClr val="2F2F2F"/>
                </a:solidFill>
                <a:latin typeface="Arial"/>
                <a:ea typeface="Arial"/>
              </a:rPr>
              <a:t>人工智能算法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6340136" y="3062738"/>
            <a:ext cx="1950129" cy="166821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人工智能算法通过自然语言处理和图像识别等技术，能够自动生成高质量的内容和设计。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>
            <a:off x="6414973" y="2043243"/>
            <a:ext cx="410200" cy="410198"/>
          </a:xfrm>
          <a:prstGeom prst="ellipse">
            <a:avLst/>
          </a:prstGeom>
          <a:gradFill>
            <a:gsLst>
              <a:gs pos="0">
                <a:srgbClr val="E54666">
                  <a:lumMod val="60000"/>
                  <a:lumOff val="40000"/>
                </a:srgbClr>
              </a:gs>
              <a:gs pos="60000">
                <a:srgbClr val="E54666"/>
              </a:gs>
            </a:gsLst>
            <a:lin ang="2700000"/>
          </a:gradFill>
          <a:ln cap="rnd" cmpd="sng">
            <a:prstDash val="solid"/>
          </a:ln>
          <a:effectLst>
            <a:outerShdw algn="ctr" blurRad="76200" dir="5400000" dist="50800" rotWithShape="false">
              <a:schemeClr val="accent3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7" id="17"/>
          <p:cNvSpPr/>
          <p:nvPr/>
        </p:nvSpPr>
        <p:spPr>
          <a:xfrm>
            <a:off x="6531073" y="2177422"/>
            <a:ext cx="178001" cy="148188"/>
          </a:xfrm>
          <a:custGeom>
            <a:avLst/>
            <a:gdLst/>
            <a:ahLst/>
            <a:cxnLst/>
            <a:rect r="r" b="b" t="t" l="l"/>
            <a:pathLst>
              <a:path w="526297" h="438150" stroke="true" fill="norm" extrusionOk="true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8" id="18"/>
          <p:cNvSpPr txBox="true"/>
          <p:nvPr/>
        </p:nvSpPr>
        <p:spPr>
          <a:xfrm>
            <a:off x="8778538" y="2754961"/>
            <a:ext cx="1950127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rgbClr val="2F2F2F"/>
                </a:solidFill>
                <a:latin typeface="Arial"/>
                <a:ea typeface="Arial"/>
              </a:rPr>
              <a:t>实时数据处理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8778537" y="3062738"/>
            <a:ext cx="1950129" cy="166821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实时数据处理技术确保数据在输入后能够立即被处理和分析，从而实现PPT的即时生成。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>
            <a:off x="8848142" y="2043243"/>
            <a:ext cx="410200" cy="410198"/>
          </a:xfrm>
          <a:prstGeom prst="ellipse">
            <a:avLst/>
          </a:prstGeom>
          <a:gradFill>
            <a:gsLst>
              <a:gs pos="0">
                <a:srgbClr val="FCBE5D">
                  <a:lumMod val="60000"/>
                  <a:lumOff val="40000"/>
                </a:srgbClr>
              </a:gs>
              <a:gs pos="60000">
                <a:srgbClr val="FCBE5D"/>
              </a:gs>
            </a:gsLst>
            <a:lin ang="2700000"/>
          </a:gradFill>
          <a:ln cap="rnd" cmpd="sng">
            <a:prstDash val="solid"/>
          </a:ln>
          <a:effectLst>
            <a:outerShdw algn="ctr" blurRad="76200" dir="5400000" dist="50800" rotWithShape="false">
              <a:schemeClr val="accent4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1" id="21"/>
          <p:cNvSpPr/>
          <p:nvPr/>
        </p:nvSpPr>
        <p:spPr>
          <a:xfrm>
            <a:off x="8964242" y="2183821"/>
            <a:ext cx="178001" cy="141741"/>
          </a:xfrm>
          <a:custGeom>
            <a:avLst/>
            <a:gdLst/>
            <a:ahLst/>
            <a:cxnLst/>
            <a:rect r="r" b="b" t="t" l="l"/>
            <a:pathLst>
              <a:path w="514350" h="409575" stroke="true" fill="norm" extrusionOk="true">
                <a:moveTo>
                  <a:pt x="486767" y="621"/>
                </a:moveTo>
                <a:cubicBezTo>
                  <a:pt x="502579" y="621"/>
                  <a:pt x="515342" y="13385"/>
                  <a:pt x="515342" y="29196"/>
                </a:cubicBezTo>
                <a:lnTo>
                  <a:pt x="515342" y="324471"/>
                </a:lnTo>
                <a:cubicBezTo>
                  <a:pt x="515342" y="340282"/>
                  <a:pt x="502579" y="353046"/>
                  <a:pt x="486767" y="353046"/>
                </a:cubicBezTo>
                <a:lnTo>
                  <a:pt x="192159" y="353046"/>
                </a:lnTo>
                <a:lnTo>
                  <a:pt x="115387" y="410196"/>
                </a:lnTo>
                <a:lnTo>
                  <a:pt x="115387" y="353046"/>
                </a:lnTo>
                <a:lnTo>
                  <a:pt x="29567" y="353046"/>
                </a:lnTo>
                <a:cubicBezTo>
                  <a:pt x="13755" y="353046"/>
                  <a:pt x="992" y="340282"/>
                  <a:pt x="992" y="324471"/>
                </a:cubicBezTo>
                <a:lnTo>
                  <a:pt x="992" y="29196"/>
                </a:lnTo>
                <a:cubicBezTo>
                  <a:pt x="992" y="13385"/>
                  <a:pt x="13755" y="621"/>
                  <a:pt x="29567" y="621"/>
                </a:cubicBezTo>
                <a:lnTo>
                  <a:pt x="486767" y="621"/>
                </a:lnTo>
                <a:close/>
                <a:moveTo>
                  <a:pt x="124817" y="143496"/>
                </a:moveTo>
                <a:cubicBezTo>
                  <a:pt x="106434" y="143496"/>
                  <a:pt x="91480" y="158450"/>
                  <a:pt x="91480" y="176834"/>
                </a:cubicBezTo>
                <a:cubicBezTo>
                  <a:pt x="91480" y="195217"/>
                  <a:pt x="106434" y="210171"/>
                  <a:pt x="124817" y="210171"/>
                </a:cubicBezTo>
                <a:cubicBezTo>
                  <a:pt x="143200" y="210171"/>
                  <a:pt x="158155" y="195217"/>
                  <a:pt x="158155" y="176834"/>
                </a:cubicBezTo>
                <a:cubicBezTo>
                  <a:pt x="158155" y="158450"/>
                  <a:pt x="143200" y="143496"/>
                  <a:pt x="124817" y="143496"/>
                </a:cubicBezTo>
                <a:close/>
                <a:moveTo>
                  <a:pt x="258167" y="143496"/>
                </a:moveTo>
                <a:cubicBezTo>
                  <a:pt x="239784" y="143496"/>
                  <a:pt x="224830" y="158450"/>
                  <a:pt x="224830" y="176834"/>
                </a:cubicBezTo>
                <a:cubicBezTo>
                  <a:pt x="224830" y="195217"/>
                  <a:pt x="239784" y="210171"/>
                  <a:pt x="258167" y="210171"/>
                </a:cubicBezTo>
                <a:cubicBezTo>
                  <a:pt x="276550" y="210171"/>
                  <a:pt x="291505" y="195217"/>
                  <a:pt x="291505" y="176834"/>
                </a:cubicBezTo>
                <a:cubicBezTo>
                  <a:pt x="291505" y="158450"/>
                  <a:pt x="276550" y="143496"/>
                  <a:pt x="258167" y="143496"/>
                </a:cubicBezTo>
                <a:close/>
                <a:moveTo>
                  <a:pt x="391517" y="143496"/>
                </a:moveTo>
                <a:cubicBezTo>
                  <a:pt x="373134" y="143496"/>
                  <a:pt x="358180" y="158450"/>
                  <a:pt x="358180" y="176834"/>
                </a:cubicBezTo>
                <a:cubicBezTo>
                  <a:pt x="358180" y="195217"/>
                  <a:pt x="373134" y="210171"/>
                  <a:pt x="391517" y="210171"/>
                </a:cubicBezTo>
                <a:cubicBezTo>
                  <a:pt x="409900" y="210171"/>
                  <a:pt x="424855" y="195217"/>
                  <a:pt x="424855" y="176834"/>
                </a:cubicBezTo>
                <a:cubicBezTo>
                  <a:pt x="424855" y="158450"/>
                  <a:pt x="409900" y="143496"/>
                  <a:pt x="391517" y="143496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794000" y="3429000"/>
            <a:ext cx="5731164" cy="424732"/>
          </a:xfrm>
        </p:spPr>
        <p:txBody>
          <a:bodyPr vert="horz" anchor="t" tIns="45720" lIns="91440" bIns="45720" rIns="91440">
            <a:normAutofit/>
          </a:bodyPr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zh-CN" b="true" i="false" sz="3184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实时生成PPT的核心技术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314576" y="2348705"/>
            <a:ext cx="1210588" cy="1089529"/>
          </a:xfrm>
          <a:prstGeom prst="rect">
            <a:avLst/>
          </a:prstGeom>
        </p:spPr>
        <p:txBody>
          <a:bodyPr anchor="b" rtlCol="false" vert="horz" wrap="non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en-GB" b="true" i="false" sz="7200" baseline="0" u="none">
                <a:gradFill>
                  <a:gsLst>
                    <a:gs pos="29000">
                      <a:srgbClr val="FFFFFF"/>
                    </a:gs>
                    <a:gs pos="80000">
                      <a:srgbClr val="FCBE5D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latin typeface="Arial"/>
                <a:ea typeface="Arial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数据采集与处理</a:t>
            </a:r>
          </a:p>
        </p:txBody>
      </p:sp>
      <p:sp>
        <p:nvSpPr>
          <p:cNvPr name="AutoShape 3" id="3"/>
          <p:cNvSpPr/>
          <p:nvPr/>
        </p:nvSpPr>
        <p:spPr>
          <a:xfrm>
            <a:off x="1077296" y="1415564"/>
            <a:ext cx="3143476" cy="1784081"/>
          </a:xfrm>
          <a:prstGeom prst="rect">
            <a:avLst/>
          </a:prstGeom>
          <a:pattFill prst="pct5">
            <a:fgClr>
              <a:schemeClr val="tx2">
                <a:lumMod val="20000"/>
                <a:lumOff val="80000"/>
              </a:schemeClr>
            </a:fgClr>
            <a:bgClr>
              <a:schemeClr val="tx2">
                <a:lumMod val="60000"/>
                <a:lumOff val="40000"/>
              </a:schemeClr>
            </a:bgClr>
          </a:patt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 flipV="true">
            <a:off x="1077296" y="3199643"/>
            <a:ext cx="3143476" cy="2821012"/>
          </a:xfrm>
          <a:prstGeom prst="rect">
            <a:avLst/>
          </a:pr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2397627" y="2929362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 rtlCol="false" vert="horz" wrap="none" tIns="45720" lIns="91440" bIns="45720" rIns="9144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1218683" y="3633707"/>
            <a:ext cx="2813456" cy="69871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数据采集方法包括API接口、网络爬虫和传感器等，能够从多种来源获取所需数据。</a:t>
            </a:r>
          </a:p>
        </p:txBody>
      </p:sp>
      <p:sp>
        <p:nvSpPr>
          <p:cNvPr name="AutoShape 7" id="7"/>
          <p:cNvSpPr/>
          <p:nvPr/>
        </p:nvSpPr>
        <p:spPr>
          <a:xfrm>
            <a:off x="4828940" y="1415564"/>
            <a:ext cx="3143476" cy="1784081"/>
          </a:xfrm>
          <a:prstGeom prst="rect">
            <a:avLst/>
          </a:prstGeom>
          <a:pattFill prst="pct5">
            <a:fgClr>
              <a:schemeClr val="tx2">
                <a:lumMod val="20000"/>
                <a:lumOff val="80000"/>
              </a:schemeClr>
            </a:fgClr>
            <a:bgClr>
              <a:schemeClr val="tx2">
                <a:lumMod val="60000"/>
                <a:lumOff val="40000"/>
              </a:schemeClr>
            </a:bgClr>
          </a:patt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 flipV="true">
            <a:off x="4828940" y="3199643"/>
            <a:ext cx="3143476" cy="2821012"/>
          </a:xfrm>
          <a:prstGeom prst="rect">
            <a:avLst/>
          </a:pr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9" id="9"/>
          <p:cNvSpPr txBox="true"/>
          <p:nvPr/>
        </p:nvSpPr>
        <p:spPr>
          <a:xfrm>
            <a:off x="6140955" y="2929362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anchor="ctr" rtlCol="false" vert="horz" wrap="none" tIns="45720" lIns="91440" bIns="45720" rIns="9144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4977063" y="3633707"/>
            <a:ext cx="2813456" cy="69871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数据清洗与预处理技术能够去除噪声数据，填补缺失值，确保数据的准确性和完整性。</a:t>
            </a:r>
          </a:p>
        </p:txBody>
      </p:sp>
      <p:sp>
        <p:nvSpPr>
          <p:cNvPr name="AutoShape 11" id="11"/>
          <p:cNvSpPr/>
          <p:nvPr/>
        </p:nvSpPr>
        <p:spPr>
          <a:xfrm>
            <a:off x="8377012" y="1415564"/>
            <a:ext cx="3143476" cy="1784081"/>
          </a:xfrm>
          <a:prstGeom prst="rect">
            <a:avLst/>
          </a:prstGeom>
          <a:pattFill prst="pct5">
            <a:fgClr>
              <a:schemeClr val="tx2">
                <a:lumMod val="20000"/>
                <a:lumOff val="80000"/>
              </a:schemeClr>
            </a:fgClr>
            <a:bgClr>
              <a:schemeClr val="tx2">
                <a:lumMod val="60000"/>
                <a:lumOff val="40000"/>
              </a:schemeClr>
            </a:bgClr>
          </a:patt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 flipV="true">
            <a:off x="8377012" y="3199643"/>
            <a:ext cx="3143476" cy="2821012"/>
          </a:xfrm>
          <a:prstGeom prst="rect">
            <a:avLst/>
          </a:pr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3" id="13"/>
          <p:cNvSpPr txBox="true"/>
          <p:nvPr/>
        </p:nvSpPr>
        <p:spPr>
          <a:xfrm>
            <a:off x="9689027" y="2915357"/>
            <a:ext cx="540000" cy="540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anchor="ctr" rtlCol="false" vert="horz" wrap="none" tIns="45720" lIns="91440" bIns="45720" rIns="9144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8580584" y="3633707"/>
            <a:ext cx="2813456" cy="69871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数据存储与管理技术采用分布式数据库和云存储，确保数据的高效存取和安全管理。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518735" y="2064115"/>
            <a:ext cx="2260599" cy="33855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数据采集方法</a:t>
            </a:r>
          </a:p>
        </p:txBody>
      </p:sp>
      <p:sp>
        <p:nvSpPr>
          <p:cNvPr name="AutoShape 16" id="16"/>
          <p:cNvSpPr/>
          <p:nvPr/>
        </p:nvSpPr>
        <p:spPr>
          <a:xfrm>
            <a:off x="5277115" y="2064115"/>
            <a:ext cx="2260599" cy="33855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数据清洗与预处理</a:t>
            </a:r>
          </a:p>
        </p:txBody>
      </p:sp>
      <p:sp>
        <p:nvSpPr>
          <p:cNvPr name="AutoShape 17" id="17"/>
          <p:cNvSpPr/>
          <p:nvPr/>
        </p:nvSpPr>
        <p:spPr>
          <a:xfrm>
            <a:off x="8880636" y="2064115"/>
            <a:ext cx="2260599" cy="33855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数据存储与管理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实时分析与生成</a:t>
            </a:r>
          </a:p>
        </p:txBody>
      </p:sp>
      <p:sp>
        <p:nvSpPr>
          <p:cNvPr name="Freeform 3" id="3"/>
          <p:cNvSpPr/>
          <p:nvPr/>
        </p:nvSpPr>
        <p:spPr>
          <a:xfrm>
            <a:off x="939827" y="1969941"/>
            <a:ext cx="3171870" cy="1585935"/>
          </a:xfrm>
          <a:custGeom>
            <a:avLst/>
            <a:gdLst/>
            <a:ahLst/>
            <a:cxnLst/>
            <a:rect r="r" b="b" t="t" l="l"/>
            <a:pathLst>
              <a:path w="3171870" h="1585935" stroke="true" fill="norm" extrusionOk="true">
                <a:moveTo>
                  <a:pt x="1585935" y="0"/>
                </a:moveTo>
                <a:cubicBezTo>
                  <a:pt x="2461823" y="0"/>
                  <a:pt x="3171870" y="710047"/>
                  <a:pt x="3171870" y="1585935"/>
                </a:cubicBezTo>
                <a:lnTo>
                  <a:pt x="0" y="1585935"/>
                </a:lnTo>
                <a:cubicBezTo>
                  <a:pt x="0" y="710047"/>
                  <a:pt x="710047" y="0"/>
                  <a:pt x="1585935" y="0"/>
                </a:cubicBezTo>
                <a:close/>
              </a:path>
            </a:pathLst>
          </a:custGeom>
          <a:gradFill>
            <a:gsLst>
              <a:gs pos="0">
                <a:srgbClr val="EC1726">
                  <a:lumMod val="60000"/>
                  <a:lumOff val="40000"/>
                </a:srgbClr>
              </a:gs>
              <a:gs pos="60000">
                <a:srgbClr val="EC1726"/>
              </a:gs>
            </a:gsLst>
            <a:lin ang="2700000"/>
          </a:gradFill>
          <a:ln cap="rnd" cmpd="sng">
            <a:prstDash val="solid"/>
          </a:ln>
          <a:effectLst>
            <a:outerShdw algn="ctr" blurRad="50800" dir="5400000" dist="50800" rotWithShape="false">
              <a:schemeClr val="accent1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4" id="4"/>
          <p:cNvGrpSpPr/>
          <p:nvPr/>
        </p:nvGrpSpPr>
        <p:grpSpPr>
          <a:xfrm>
            <a:off x="2293534" y="1370085"/>
            <a:ext cx="464457" cy="498040"/>
            <a:chOff x="2322286" y="2032000"/>
            <a:chExt cx="464457" cy="498040"/>
          </a:xfrm>
        </p:grpSpPr>
        <p:sp>
          <p:nvSpPr>
            <p:cNvPr name="AutoShape 5" id="5"/>
            <p:cNvSpPr/>
            <p:nvPr/>
          </p:nvSpPr>
          <p:spPr>
            <a:xfrm>
              <a:off x="2322286" y="2032000"/>
              <a:ext cx="464457" cy="464457"/>
            </a:xfrm>
            <a:prstGeom prst="ellipse">
              <a:avLst/>
            </a:prstGeom>
            <a:gradFill>
              <a:gsLst>
                <a:gs pos="0">
                  <a:srgbClr val="EC1726">
                    <a:lumMod val="60000"/>
                    <a:lumOff val="40000"/>
                  </a:srgbClr>
                </a:gs>
                <a:gs pos="60000">
                  <a:srgbClr val="EC1726"/>
                </a:gs>
              </a:gsLst>
              <a:lin ang="2700000"/>
            </a:gradFill>
            <a:ln cap="rnd" cmpd="sng">
              <a:prstDash val="solid"/>
            </a:ln>
            <a:effectLst>
              <a:outerShdw algn="ctr" blurRad="50800" dir="5400000" dist="50800" rotWithShape="false">
                <a:schemeClr val="accent1">
                  <a:alpha val="20000"/>
                </a:schemeClr>
              </a:outerShdw>
            </a:effectLst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  <a:r>
                <a:rPr lang="en-US" b="true" i="false" sz="1019" baseline="0" u="none">
                  <a:solidFill>
                    <a:schemeClr val="lt1"/>
                  </a:solidFill>
                  <a:latin typeface="Arial"/>
                  <a:ea typeface="Arial"/>
                </a:rPr>
                <a:t>01</a:t>
              </a:r>
            </a:p>
          </p:txBody>
        </p:sp>
        <p:sp>
          <p:nvSpPr>
            <p:cNvPr name="AutoShape 6" id="6"/>
            <p:cNvSpPr/>
            <p:nvPr/>
          </p:nvSpPr>
          <p:spPr>
            <a:xfrm rot="18000000">
              <a:off x="2527997" y="2480663"/>
              <a:ext cx="53034" cy="45719"/>
            </a:xfrm>
            <a:prstGeom prst="triangle">
              <a:avLst/>
            </a:prstGeom>
            <a:solidFill>
              <a:schemeClr val="accent1"/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TextBox 7" id="7"/>
          <p:cNvSpPr txBox="true"/>
          <p:nvPr/>
        </p:nvSpPr>
        <p:spPr>
          <a:xfrm>
            <a:off x="1426191" y="2593960"/>
            <a:ext cx="172113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实时数据分析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>
            <a:off x="3295677" y="1969941"/>
            <a:ext cx="3171870" cy="1585935"/>
          </a:xfrm>
          <a:custGeom>
            <a:avLst/>
            <a:gdLst/>
            <a:ahLst/>
            <a:cxnLst/>
            <a:rect r="r" b="b" t="t" l="l"/>
            <a:pathLst>
              <a:path w="3171870" h="1585935" stroke="true" fill="norm" extrusionOk="true">
                <a:moveTo>
                  <a:pt x="1585935" y="0"/>
                </a:moveTo>
                <a:cubicBezTo>
                  <a:pt x="2461823" y="0"/>
                  <a:pt x="3171870" y="710047"/>
                  <a:pt x="3171870" y="1585935"/>
                </a:cubicBezTo>
                <a:lnTo>
                  <a:pt x="0" y="1585935"/>
                </a:lnTo>
                <a:cubicBezTo>
                  <a:pt x="0" y="710047"/>
                  <a:pt x="710047" y="0"/>
                  <a:pt x="1585935" y="0"/>
                </a:cubicBezTo>
                <a:close/>
              </a:path>
            </a:pathLst>
          </a:custGeom>
          <a:gradFill>
            <a:gsLst>
              <a:gs pos="0">
                <a:srgbClr val="F05C0F">
                  <a:lumMod val="60000"/>
                  <a:lumOff val="40000"/>
                </a:srgbClr>
              </a:gs>
              <a:gs pos="60000">
                <a:srgbClr val="F05C0F"/>
              </a:gs>
            </a:gsLst>
            <a:lin ang="2700000"/>
          </a:gradFill>
          <a:ln cap="rnd" cmpd="sng">
            <a:prstDash val="solid"/>
          </a:ln>
          <a:effectLst>
            <a:outerShdw algn="ctr" blurRad="50800" dir="5400000" dist="50800" rotWithShape="false">
              <a:schemeClr val="accent2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9" id="9"/>
          <p:cNvGrpSpPr/>
          <p:nvPr/>
        </p:nvGrpSpPr>
        <p:grpSpPr>
          <a:xfrm>
            <a:off x="4649384" y="1370085"/>
            <a:ext cx="464457" cy="498040"/>
            <a:chOff x="2322286" y="2032000"/>
            <a:chExt cx="464457" cy="498040"/>
          </a:xfrm>
          <a:solidFill>
            <a:schemeClr val="accent2"/>
          </a:solidFill>
        </p:grpSpPr>
        <p:sp>
          <p:nvSpPr>
            <p:cNvPr name="AutoShape 10" id="10"/>
            <p:cNvSpPr/>
            <p:nvPr/>
          </p:nvSpPr>
          <p:spPr>
            <a:xfrm>
              <a:off x="2322286" y="2032000"/>
              <a:ext cx="464457" cy="464457"/>
            </a:xfrm>
            <a:prstGeom prst="ellipse">
              <a:avLst/>
            </a:prstGeom>
            <a:gradFill>
              <a:gsLst>
                <a:gs pos="0">
                  <a:srgbClr val="F05C0F">
                    <a:lumMod val="60000"/>
                    <a:lumOff val="40000"/>
                  </a:srgbClr>
                </a:gs>
                <a:gs pos="60000">
                  <a:srgbClr val="F05C0F"/>
                </a:gs>
              </a:gsLst>
              <a:lin ang="2700000"/>
            </a:gradFill>
            <a:ln cap="rnd" cmpd="sng">
              <a:prstDash val="solid"/>
            </a:ln>
            <a:effectLst>
              <a:outerShdw algn="ctr" blurRad="50800" dir="5400000" dist="50800" rotWithShape="false">
                <a:schemeClr val="accent2">
                  <a:alpha val="20000"/>
                </a:schemeClr>
              </a:outerShdw>
            </a:effectLst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  <a:r>
                <a:rPr lang="en-US" b="true" i="false" sz="1019" baseline="0" u="none">
                  <a:solidFill>
                    <a:schemeClr val="lt1"/>
                  </a:solidFill>
                  <a:latin typeface="Arial"/>
                  <a:ea typeface="Arial"/>
                </a:rPr>
                <a:t>02</a:t>
              </a:r>
            </a:p>
          </p:txBody>
        </p:sp>
        <p:sp>
          <p:nvSpPr>
            <p:cNvPr name="AutoShape 11" id="11"/>
            <p:cNvSpPr/>
            <p:nvPr/>
          </p:nvSpPr>
          <p:spPr>
            <a:xfrm rot="18000000">
              <a:off x="2527997" y="2480663"/>
              <a:ext cx="53034" cy="45719"/>
            </a:xfrm>
            <a:prstGeom prst="triangle">
              <a:avLst/>
            </a:prstGeom>
            <a:grpFill/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TextBox 12" id="12"/>
          <p:cNvSpPr txBox="true"/>
          <p:nvPr/>
        </p:nvSpPr>
        <p:spPr>
          <a:xfrm>
            <a:off x="3782041" y="2593960"/>
            <a:ext cx="1869486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ln/>
                <a:solidFill>
                  <a:srgbClr val="FFFFFF"/>
                </a:solidFill>
                <a:latin typeface="微软雅黑"/>
                <a:ea typeface="微软雅黑"/>
              </a:rPr>
              <a:t>内容生成算法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>
            <a:off x="5651527" y="1969941"/>
            <a:ext cx="3171870" cy="1585935"/>
          </a:xfrm>
          <a:custGeom>
            <a:avLst/>
            <a:gdLst/>
            <a:ahLst/>
            <a:cxnLst/>
            <a:rect r="r" b="b" t="t" l="l"/>
            <a:pathLst>
              <a:path w="3171870" h="1585935" stroke="true" fill="norm" extrusionOk="true">
                <a:moveTo>
                  <a:pt x="1585935" y="0"/>
                </a:moveTo>
                <a:cubicBezTo>
                  <a:pt x="2461823" y="0"/>
                  <a:pt x="3171870" y="710047"/>
                  <a:pt x="3171870" y="1585935"/>
                </a:cubicBezTo>
                <a:lnTo>
                  <a:pt x="0" y="1585935"/>
                </a:lnTo>
                <a:cubicBezTo>
                  <a:pt x="0" y="710047"/>
                  <a:pt x="710047" y="0"/>
                  <a:pt x="1585935" y="0"/>
                </a:cubicBezTo>
                <a:close/>
              </a:path>
            </a:pathLst>
          </a:custGeom>
          <a:gradFill>
            <a:gsLst>
              <a:gs pos="0">
                <a:srgbClr val="E54666">
                  <a:lumMod val="60000"/>
                  <a:lumOff val="40000"/>
                </a:srgbClr>
              </a:gs>
              <a:gs pos="60000">
                <a:srgbClr val="E54666"/>
              </a:gs>
            </a:gsLst>
            <a:lin ang="2700000"/>
          </a:gradFill>
          <a:ln cap="rnd" cmpd="sng">
            <a:prstDash val="solid"/>
          </a:ln>
          <a:effectLst>
            <a:outerShdw algn="ctr" blurRad="50800" dir="5400000" dist="50800" rotWithShape="false">
              <a:schemeClr val="accent3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14" id="14"/>
          <p:cNvGrpSpPr/>
          <p:nvPr/>
        </p:nvGrpSpPr>
        <p:grpSpPr>
          <a:xfrm>
            <a:off x="7005234" y="1370085"/>
            <a:ext cx="464457" cy="498040"/>
            <a:chOff x="2322286" y="2032000"/>
            <a:chExt cx="464457" cy="498040"/>
          </a:xfrm>
        </p:grpSpPr>
        <p:sp>
          <p:nvSpPr>
            <p:cNvPr name="AutoShape 15" id="15"/>
            <p:cNvSpPr/>
            <p:nvPr/>
          </p:nvSpPr>
          <p:spPr>
            <a:xfrm>
              <a:off x="2322286" y="2032000"/>
              <a:ext cx="464457" cy="464457"/>
            </a:xfrm>
            <a:prstGeom prst="ellipse">
              <a:avLst/>
            </a:prstGeom>
            <a:gradFill>
              <a:gsLst>
                <a:gs pos="0">
                  <a:srgbClr val="E54666">
                    <a:lumMod val="60000"/>
                    <a:lumOff val="40000"/>
                  </a:srgbClr>
                </a:gs>
                <a:gs pos="60000">
                  <a:srgbClr val="E54666"/>
                </a:gs>
              </a:gsLst>
              <a:lin ang="2700000"/>
            </a:gradFill>
            <a:ln cap="rnd" cmpd="sng">
              <a:prstDash val="solid"/>
            </a:ln>
            <a:effectLst>
              <a:outerShdw algn="ctr" blurRad="50800" dir="5400000" dist="50800" rotWithShape="false">
                <a:schemeClr val="accent3">
                  <a:alpha val="20000"/>
                </a:schemeClr>
              </a:outerShdw>
            </a:effectLst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  <a:r>
                <a:rPr lang="en-US" b="true" i="false" sz="1019" baseline="0" u="none">
                  <a:solidFill>
                    <a:schemeClr val="lt1"/>
                  </a:solidFill>
                  <a:latin typeface="Arial"/>
                  <a:ea typeface="Arial"/>
                </a:rPr>
                <a:t>03</a:t>
              </a:r>
            </a:p>
          </p:txBody>
        </p:sp>
        <p:sp>
          <p:nvSpPr>
            <p:cNvPr name="AutoShape 16" id="16"/>
            <p:cNvSpPr/>
            <p:nvPr/>
          </p:nvSpPr>
          <p:spPr>
            <a:xfrm rot="18000000">
              <a:off x="2527997" y="2480663"/>
              <a:ext cx="53034" cy="45719"/>
            </a:xfrm>
            <a:prstGeom prst="triangle">
              <a:avLst/>
            </a:prstGeom>
            <a:gradFill>
              <a:gsLst>
                <a:gs pos="0">
                  <a:srgbClr val="E54666">
                    <a:lumMod val="60000"/>
                    <a:lumOff val="40000"/>
                  </a:srgbClr>
                </a:gs>
                <a:gs pos="60000">
                  <a:srgbClr val="E54666"/>
                </a:gs>
              </a:gsLst>
              <a:lin ang="2700000"/>
            </a:gradFill>
            <a:ln cap="rnd" cmpd="sng">
              <a:prstDash val="solid"/>
            </a:ln>
            <a:effectLst>
              <a:outerShdw algn="ctr" blurRad="50800" dir="5400000" dist="50800" rotWithShape="false">
                <a:schemeClr val="accent3">
                  <a:alpha val="20000"/>
                </a:schemeClr>
              </a:outerShdw>
            </a:effectLst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TextBox 17" id="17"/>
          <p:cNvSpPr txBox="true"/>
          <p:nvPr/>
        </p:nvSpPr>
        <p:spPr>
          <a:xfrm>
            <a:off x="6376001" y="2593960"/>
            <a:ext cx="148302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ln/>
                <a:solidFill>
                  <a:srgbClr val="FFFFFF"/>
                </a:solidFill>
                <a:latin typeface="微软雅黑"/>
                <a:ea typeface="微软雅黑"/>
              </a:rPr>
              <a:t>动态模板匹配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>
            <a:off x="8007377" y="1969941"/>
            <a:ext cx="3171870" cy="1585935"/>
          </a:xfrm>
          <a:custGeom>
            <a:avLst/>
            <a:gdLst/>
            <a:ahLst/>
            <a:cxnLst/>
            <a:rect r="r" b="b" t="t" l="l"/>
            <a:pathLst>
              <a:path w="3171870" h="1585935" stroke="true" fill="norm" extrusionOk="true">
                <a:moveTo>
                  <a:pt x="1585935" y="0"/>
                </a:moveTo>
                <a:cubicBezTo>
                  <a:pt x="2461823" y="0"/>
                  <a:pt x="3171870" y="710047"/>
                  <a:pt x="3171870" y="1585935"/>
                </a:cubicBezTo>
                <a:lnTo>
                  <a:pt x="0" y="1585935"/>
                </a:lnTo>
                <a:cubicBezTo>
                  <a:pt x="0" y="710047"/>
                  <a:pt x="710047" y="0"/>
                  <a:pt x="1585935" y="0"/>
                </a:cubicBezTo>
                <a:close/>
              </a:path>
            </a:pathLst>
          </a:custGeom>
          <a:gradFill>
            <a:gsLst>
              <a:gs pos="0">
                <a:srgbClr val="FCBE5D">
                  <a:lumMod val="60000"/>
                  <a:lumOff val="40000"/>
                </a:srgbClr>
              </a:gs>
              <a:gs pos="60000">
                <a:srgbClr val="FCBE5D"/>
              </a:gs>
            </a:gsLst>
            <a:lin ang="2700000"/>
          </a:gradFill>
          <a:ln cap="rnd" cmpd="sng">
            <a:prstDash val="solid"/>
          </a:ln>
          <a:effectLst>
            <a:outerShdw algn="ctr" blurRad="50800" dir="5400000" dist="50800" rotWithShape="false">
              <a:schemeClr val="accent4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19" id="19"/>
          <p:cNvGrpSpPr/>
          <p:nvPr/>
        </p:nvGrpSpPr>
        <p:grpSpPr>
          <a:xfrm>
            <a:off x="9361084" y="1370085"/>
            <a:ext cx="464457" cy="498040"/>
            <a:chOff x="2322286" y="2032000"/>
            <a:chExt cx="464457" cy="498040"/>
          </a:xfrm>
          <a:solidFill>
            <a:schemeClr val="accent2"/>
          </a:solidFill>
        </p:grpSpPr>
        <p:sp>
          <p:nvSpPr>
            <p:cNvPr name="AutoShape 20" id="20"/>
            <p:cNvSpPr/>
            <p:nvPr/>
          </p:nvSpPr>
          <p:spPr>
            <a:xfrm>
              <a:off x="2322286" y="2032000"/>
              <a:ext cx="464457" cy="464457"/>
            </a:xfrm>
            <a:prstGeom prst="ellipse">
              <a:avLst/>
            </a:prstGeom>
            <a:gradFill>
              <a:gsLst>
                <a:gs pos="0">
                  <a:srgbClr val="FCBE5D">
                    <a:lumMod val="60000"/>
                    <a:lumOff val="40000"/>
                  </a:srgbClr>
                </a:gs>
                <a:gs pos="60000">
                  <a:srgbClr val="FCBE5D"/>
                </a:gs>
              </a:gsLst>
              <a:lin ang="2700000"/>
            </a:gradFill>
            <a:ln cap="rnd" cmpd="sng">
              <a:prstDash val="solid"/>
            </a:ln>
            <a:effectLst>
              <a:outerShdw algn="ctr" blurRad="50800" dir="5400000" dist="50800" rotWithShape="false">
                <a:schemeClr val="accent4">
                  <a:alpha val="20000"/>
                </a:schemeClr>
              </a:outerShdw>
            </a:effectLst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  <a:r>
                <a:rPr lang="en-US" b="true" i="false" sz="1019" baseline="0" u="none">
                  <a:solidFill>
                    <a:schemeClr val="lt1"/>
                  </a:solidFill>
                  <a:latin typeface="Arial"/>
                  <a:ea typeface="Arial"/>
                </a:rPr>
                <a:t>04</a:t>
              </a:r>
            </a:p>
          </p:txBody>
        </p:sp>
        <p:sp>
          <p:nvSpPr>
            <p:cNvPr name="AutoShape 21" id="21"/>
            <p:cNvSpPr/>
            <p:nvPr/>
          </p:nvSpPr>
          <p:spPr>
            <a:xfrm rot="18000000">
              <a:off x="2527997" y="2480663"/>
              <a:ext cx="53034" cy="45719"/>
            </a:xfrm>
            <a:prstGeom prst="triangle">
              <a:avLst/>
            </a:prstGeom>
            <a:gradFill>
              <a:gsLst>
                <a:gs pos="0">
                  <a:srgbClr val="FCBE5D">
                    <a:lumMod val="60000"/>
                    <a:lumOff val="40000"/>
                  </a:srgbClr>
                </a:gs>
                <a:gs pos="60000">
                  <a:srgbClr val="FCBE5D"/>
                </a:gs>
              </a:gsLst>
              <a:lin ang="2700000"/>
            </a:gradFill>
            <a:ln cap="rnd" cmpd="sng">
              <a:prstDash val="solid"/>
            </a:ln>
            <a:effectLst>
              <a:outerShdw algn="ctr" blurRad="50800" dir="5400000" dist="50800" rotWithShape="false">
                <a:schemeClr val="accent4">
                  <a:alpha val="20000"/>
                </a:schemeClr>
              </a:outerShdw>
            </a:effectLst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TextBox 22" id="22"/>
          <p:cNvSpPr txBox="true"/>
          <p:nvPr/>
        </p:nvSpPr>
        <p:spPr>
          <a:xfrm>
            <a:off x="8971745" y="2593960"/>
            <a:ext cx="1625742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ln/>
                <a:solidFill>
                  <a:srgbClr val="2F2F2F">
                    <a:lumMod val="95000"/>
                    <a:lumOff val="5000"/>
                  </a:srgbClr>
                </a:solidFill>
                <a:latin typeface="微软雅黑"/>
                <a:ea typeface="微软雅黑"/>
              </a:rPr>
              <a:t>实时优化与调整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>
            <a:off x="3295677" y="3997788"/>
            <a:ext cx="0" cy="1625084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</a:ln>
        </p:spPr>
      </p:cxnSp>
      <p:cxnSp>
        <p:nvCxnSpPr>
          <p:cNvPr name="Connector 24" id="24"/>
          <p:cNvCxnSpPr/>
          <p:nvPr/>
        </p:nvCxnSpPr>
        <p:spPr>
          <a:xfrm>
            <a:off x="6089650" y="3997788"/>
            <a:ext cx="6350" cy="1625084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</a:ln>
        </p:spPr>
      </p:cxnSp>
      <p:cxnSp>
        <p:nvCxnSpPr>
          <p:cNvPr name="Connector 25" id="25"/>
          <p:cNvCxnSpPr/>
          <p:nvPr/>
        </p:nvCxnSpPr>
        <p:spPr>
          <a:xfrm>
            <a:off x="8809817" y="3997788"/>
            <a:ext cx="0" cy="1550021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</a:ln>
        </p:spPr>
      </p:cxnSp>
      <p:sp>
        <p:nvSpPr>
          <p:cNvPr name="TextBox 26" id="26"/>
          <p:cNvSpPr txBox="true"/>
          <p:nvPr/>
        </p:nvSpPr>
        <p:spPr>
          <a:xfrm>
            <a:off x="904115" y="4018282"/>
            <a:ext cx="2243214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实时数据分析技术能够对输入数据进行即时分析，提取关键信息，为PPT生成提供依据。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3589258" y="4018282"/>
            <a:ext cx="2243214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内容生成算法通过自然语言生成技术，能够自动生成符合需求的文本内容，确保PPT的专业性和一致性。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6376001" y="4018282"/>
            <a:ext cx="2243214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动态模板匹配技术能够根据数据内容自动选择合适的PPT模板，确保演示文稿的视觉效果。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9177258" y="4018282"/>
            <a:ext cx="2243214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实时优化与调整技术能够根据用户反馈和数据分析结果，动态调整PPT内容和设计，提升用户体验。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794000" y="3429000"/>
            <a:ext cx="5731164" cy="424732"/>
          </a:xfrm>
        </p:spPr>
        <p:txBody>
          <a:bodyPr vert="horz" anchor="t" tIns="45720" lIns="91440" bIns="45720" rIns="91440">
            <a:normAutofit/>
          </a:bodyPr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zh-CN" b="true" i="false" sz="3184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实时生成PPT的应用案例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314576" y="2348705"/>
            <a:ext cx="1210588" cy="1089529"/>
          </a:xfrm>
          <a:prstGeom prst="rect">
            <a:avLst/>
          </a:prstGeom>
        </p:spPr>
        <p:txBody>
          <a:bodyPr anchor="b" rtlCol="false" vert="horz" wrap="non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en-GB" b="true" i="false" sz="7200" baseline="0" u="none">
                <a:gradFill>
                  <a:gsLst>
                    <a:gs pos="29000">
                      <a:srgbClr val="FFFFFF"/>
                    </a:gs>
                    <a:gs pos="80000">
                      <a:srgbClr val="FCBE5D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企业报告生成</a:t>
            </a:r>
          </a:p>
        </p:txBody>
      </p:sp>
      <p:sp>
        <p:nvSpPr>
          <p:cNvPr name="Freeform 3" id="3"/>
          <p:cNvSpPr/>
          <p:nvPr/>
        </p:nvSpPr>
        <p:spPr>
          <a:xfrm>
            <a:off x="939827" y="1969941"/>
            <a:ext cx="3171870" cy="1585935"/>
          </a:xfrm>
          <a:custGeom>
            <a:avLst/>
            <a:gdLst/>
            <a:ahLst/>
            <a:cxnLst/>
            <a:rect r="r" b="b" t="t" l="l"/>
            <a:pathLst>
              <a:path w="3171870" h="1585935" stroke="true" fill="norm" extrusionOk="true">
                <a:moveTo>
                  <a:pt x="1585935" y="0"/>
                </a:moveTo>
                <a:cubicBezTo>
                  <a:pt x="2461823" y="0"/>
                  <a:pt x="3171870" y="710047"/>
                  <a:pt x="3171870" y="1585935"/>
                </a:cubicBezTo>
                <a:lnTo>
                  <a:pt x="0" y="1585935"/>
                </a:lnTo>
                <a:cubicBezTo>
                  <a:pt x="0" y="710047"/>
                  <a:pt x="710047" y="0"/>
                  <a:pt x="1585935" y="0"/>
                </a:cubicBezTo>
                <a:close/>
              </a:path>
            </a:pathLst>
          </a:custGeom>
          <a:gradFill>
            <a:gsLst>
              <a:gs pos="0">
                <a:srgbClr val="EC1726">
                  <a:lumMod val="60000"/>
                  <a:lumOff val="40000"/>
                </a:srgbClr>
              </a:gs>
              <a:gs pos="60000">
                <a:srgbClr val="EC1726"/>
              </a:gs>
            </a:gsLst>
            <a:lin ang="2700000"/>
          </a:gradFill>
          <a:ln cap="rnd" cmpd="sng">
            <a:prstDash val="solid"/>
          </a:ln>
          <a:effectLst>
            <a:outerShdw algn="ctr" blurRad="50800" dir="5400000" dist="50800" rotWithShape="false">
              <a:schemeClr val="accent1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4" id="4"/>
          <p:cNvGrpSpPr/>
          <p:nvPr/>
        </p:nvGrpSpPr>
        <p:grpSpPr>
          <a:xfrm>
            <a:off x="2293534" y="1370085"/>
            <a:ext cx="464457" cy="498040"/>
            <a:chOff x="2322286" y="2032000"/>
            <a:chExt cx="464457" cy="498040"/>
          </a:xfrm>
        </p:grpSpPr>
        <p:sp>
          <p:nvSpPr>
            <p:cNvPr name="AutoShape 5" id="5"/>
            <p:cNvSpPr/>
            <p:nvPr/>
          </p:nvSpPr>
          <p:spPr>
            <a:xfrm>
              <a:off x="2322286" y="2032000"/>
              <a:ext cx="464457" cy="464457"/>
            </a:xfrm>
            <a:prstGeom prst="ellipse">
              <a:avLst/>
            </a:prstGeom>
            <a:gradFill>
              <a:gsLst>
                <a:gs pos="0">
                  <a:srgbClr val="EC1726">
                    <a:lumMod val="60000"/>
                    <a:lumOff val="40000"/>
                  </a:srgbClr>
                </a:gs>
                <a:gs pos="60000">
                  <a:srgbClr val="EC1726"/>
                </a:gs>
              </a:gsLst>
              <a:lin ang="2700000"/>
            </a:gradFill>
            <a:ln cap="rnd" cmpd="sng">
              <a:prstDash val="solid"/>
            </a:ln>
            <a:effectLst>
              <a:outerShdw algn="ctr" blurRad="50800" dir="5400000" dist="50800" rotWithShape="false">
                <a:schemeClr val="accent1">
                  <a:alpha val="20000"/>
                </a:schemeClr>
              </a:outerShdw>
            </a:effectLst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  <a:r>
                <a:rPr lang="en-US" b="true" i="false" sz="1019" baseline="0" u="none">
                  <a:solidFill>
                    <a:schemeClr val="lt1"/>
                  </a:solidFill>
                  <a:latin typeface="Arial"/>
                  <a:ea typeface="Arial"/>
                </a:rPr>
                <a:t>01</a:t>
              </a:r>
            </a:p>
          </p:txBody>
        </p:sp>
        <p:sp>
          <p:nvSpPr>
            <p:cNvPr name="AutoShape 6" id="6"/>
            <p:cNvSpPr/>
            <p:nvPr/>
          </p:nvSpPr>
          <p:spPr>
            <a:xfrm rot="18000000">
              <a:off x="2527997" y="2480663"/>
              <a:ext cx="53034" cy="45719"/>
            </a:xfrm>
            <a:prstGeom prst="triangle">
              <a:avLst/>
            </a:prstGeom>
            <a:solidFill>
              <a:schemeClr val="accent1"/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TextBox 7" id="7"/>
          <p:cNvSpPr txBox="true"/>
          <p:nvPr/>
        </p:nvSpPr>
        <p:spPr>
          <a:xfrm>
            <a:off x="1335773" y="2593960"/>
            <a:ext cx="225537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财务报表生成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>
            <a:off x="4100899" y="1969941"/>
            <a:ext cx="3171870" cy="1585935"/>
          </a:xfrm>
          <a:custGeom>
            <a:avLst/>
            <a:gdLst/>
            <a:ahLst/>
            <a:cxnLst/>
            <a:rect r="r" b="b" t="t" l="l"/>
            <a:pathLst>
              <a:path w="3171870" h="1585935" stroke="true" fill="norm" extrusionOk="true">
                <a:moveTo>
                  <a:pt x="1585935" y="0"/>
                </a:moveTo>
                <a:cubicBezTo>
                  <a:pt x="2461823" y="0"/>
                  <a:pt x="3171870" y="710047"/>
                  <a:pt x="3171870" y="1585935"/>
                </a:cubicBezTo>
                <a:lnTo>
                  <a:pt x="0" y="1585935"/>
                </a:lnTo>
                <a:cubicBezTo>
                  <a:pt x="0" y="710047"/>
                  <a:pt x="710047" y="0"/>
                  <a:pt x="1585935" y="0"/>
                </a:cubicBezTo>
                <a:close/>
              </a:path>
            </a:pathLst>
          </a:custGeom>
          <a:gradFill>
            <a:gsLst>
              <a:gs pos="0">
                <a:srgbClr val="F05C0F">
                  <a:lumMod val="60000"/>
                  <a:lumOff val="40000"/>
                </a:srgbClr>
              </a:gs>
              <a:gs pos="60000">
                <a:srgbClr val="F05C0F"/>
              </a:gs>
            </a:gsLst>
            <a:lin ang="2700000"/>
          </a:gradFill>
          <a:ln cap="rnd" cmpd="sng">
            <a:prstDash val="solid"/>
          </a:ln>
          <a:effectLst>
            <a:outerShdw algn="ctr" blurRad="50800" dir="5400000" dist="50800" rotWithShape="false">
              <a:schemeClr val="accent2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9" id="9"/>
          <p:cNvGrpSpPr/>
          <p:nvPr/>
        </p:nvGrpSpPr>
        <p:grpSpPr>
          <a:xfrm>
            <a:off x="5454606" y="1370085"/>
            <a:ext cx="464457" cy="498040"/>
            <a:chOff x="2322286" y="2032000"/>
            <a:chExt cx="464457" cy="498040"/>
          </a:xfrm>
          <a:solidFill>
            <a:schemeClr val="accent2"/>
          </a:solidFill>
        </p:grpSpPr>
        <p:sp>
          <p:nvSpPr>
            <p:cNvPr name="AutoShape 10" id="10"/>
            <p:cNvSpPr/>
            <p:nvPr/>
          </p:nvSpPr>
          <p:spPr>
            <a:xfrm>
              <a:off x="2322286" y="2032000"/>
              <a:ext cx="464457" cy="464457"/>
            </a:xfrm>
            <a:prstGeom prst="ellipse">
              <a:avLst/>
            </a:prstGeom>
            <a:gradFill>
              <a:gsLst>
                <a:gs pos="0">
                  <a:srgbClr val="F05C0F">
                    <a:lumMod val="60000"/>
                    <a:lumOff val="40000"/>
                  </a:srgbClr>
                </a:gs>
                <a:gs pos="60000">
                  <a:srgbClr val="F05C0F"/>
                </a:gs>
              </a:gsLst>
              <a:lin ang="2700000"/>
            </a:gradFill>
            <a:ln cap="rnd" cmpd="sng">
              <a:prstDash val="solid"/>
            </a:ln>
            <a:effectLst>
              <a:outerShdw algn="ctr" blurRad="50800" dir="5400000" dist="50800" rotWithShape="false">
                <a:schemeClr val="accent2">
                  <a:alpha val="20000"/>
                </a:schemeClr>
              </a:outerShdw>
            </a:effectLst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  <a:r>
                <a:rPr lang="en-US" b="true" i="false" sz="1019" baseline="0" u="none">
                  <a:solidFill>
                    <a:schemeClr val="lt1"/>
                  </a:solidFill>
                  <a:latin typeface="Arial"/>
                  <a:ea typeface="Arial"/>
                </a:rPr>
                <a:t>02</a:t>
              </a:r>
            </a:p>
          </p:txBody>
        </p:sp>
        <p:sp>
          <p:nvSpPr>
            <p:cNvPr name="AutoShape 11" id="11"/>
            <p:cNvSpPr/>
            <p:nvPr/>
          </p:nvSpPr>
          <p:spPr>
            <a:xfrm rot="18000000">
              <a:off x="2527997" y="2480663"/>
              <a:ext cx="53034" cy="45719"/>
            </a:xfrm>
            <a:prstGeom prst="triangle">
              <a:avLst/>
            </a:prstGeom>
            <a:grpFill/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TextBox 12" id="12"/>
          <p:cNvSpPr txBox="true"/>
          <p:nvPr/>
        </p:nvSpPr>
        <p:spPr>
          <a:xfrm>
            <a:off x="4469642" y="2593960"/>
            <a:ext cx="2449773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ln/>
                <a:solidFill>
                  <a:srgbClr val="FFFFFF"/>
                </a:solidFill>
                <a:latin typeface="微软雅黑"/>
                <a:ea typeface="微软雅黑"/>
              </a:rPr>
              <a:t>项目进度报告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>
            <a:off x="7261966" y="1969941"/>
            <a:ext cx="3171870" cy="1585935"/>
          </a:xfrm>
          <a:custGeom>
            <a:avLst/>
            <a:gdLst/>
            <a:ahLst/>
            <a:cxnLst/>
            <a:rect r="r" b="b" t="t" l="l"/>
            <a:pathLst>
              <a:path w="3171870" h="1585935" stroke="true" fill="norm" extrusionOk="true">
                <a:moveTo>
                  <a:pt x="1585935" y="0"/>
                </a:moveTo>
                <a:cubicBezTo>
                  <a:pt x="2461823" y="0"/>
                  <a:pt x="3171870" y="710047"/>
                  <a:pt x="3171870" y="1585935"/>
                </a:cubicBezTo>
                <a:lnTo>
                  <a:pt x="0" y="1585935"/>
                </a:lnTo>
                <a:cubicBezTo>
                  <a:pt x="0" y="710047"/>
                  <a:pt x="710047" y="0"/>
                  <a:pt x="1585935" y="0"/>
                </a:cubicBezTo>
                <a:close/>
              </a:path>
            </a:pathLst>
          </a:custGeom>
          <a:gradFill>
            <a:gsLst>
              <a:gs pos="0">
                <a:srgbClr val="E54666">
                  <a:lumMod val="60000"/>
                  <a:lumOff val="40000"/>
                </a:srgbClr>
              </a:gs>
              <a:gs pos="60000">
                <a:srgbClr val="E54666"/>
              </a:gs>
            </a:gsLst>
            <a:lin ang="2700000"/>
          </a:gradFill>
          <a:ln cap="rnd" cmpd="sng">
            <a:prstDash val="solid"/>
          </a:ln>
          <a:effectLst>
            <a:outerShdw algn="ctr" blurRad="50800" dir="5400000" dist="50800" rotWithShape="false">
              <a:schemeClr val="accent3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14" id="14"/>
          <p:cNvGrpSpPr/>
          <p:nvPr/>
        </p:nvGrpSpPr>
        <p:grpSpPr>
          <a:xfrm>
            <a:off x="8615673" y="1370085"/>
            <a:ext cx="464457" cy="498040"/>
            <a:chOff x="2322286" y="2032000"/>
            <a:chExt cx="464457" cy="498040"/>
          </a:xfrm>
        </p:grpSpPr>
        <p:sp>
          <p:nvSpPr>
            <p:cNvPr name="AutoShape 15" id="15"/>
            <p:cNvSpPr/>
            <p:nvPr/>
          </p:nvSpPr>
          <p:spPr>
            <a:xfrm>
              <a:off x="2322286" y="2032000"/>
              <a:ext cx="464457" cy="464457"/>
            </a:xfrm>
            <a:prstGeom prst="ellipse">
              <a:avLst/>
            </a:prstGeom>
            <a:gradFill>
              <a:gsLst>
                <a:gs pos="0">
                  <a:srgbClr val="E54666">
                    <a:lumMod val="60000"/>
                    <a:lumOff val="40000"/>
                  </a:srgbClr>
                </a:gs>
                <a:gs pos="60000">
                  <a:srgbClr val="E54666"/>
                </a:gs>
              </a:gsLst>
              <a:lin ang="2700000"/>
            </a:gradFill>
            <a:ln cap="rnd" cmpd="sng">
              <a:prstDash val="solid"/>
            </a:ln>
            <a:effectLst>
              <a:outerShdw algn="ctr" blurRad="50800" dir="5400000" dist="50800" rotWithShape="false">
                <a:schemeClr val="accent3">
                  <a:alpha val="20000"/>
                </a:schemeClr>
              </a:outerShdw>
            </a:effectLst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  <a:r>
                <a:rPr lang="en-US" b="true" i="false" sz="1019" baseline="0" u="none">
                  <a:solidFill>
                    <a:schemeClr val="lt1"/>
                  </a:solidFill>
                  <a:latin typeface="Arial"/>
                  <a:ea typeface="Arial"/>
                </a:rPr>
                <a:t>03</a:t>
              </a:r>
            </a:p>
          </p:txBody>
        </p:sp>
        <p:sp>
          <p:nvSpPr>
            <p:cNvPr name="AutoShape 16" id="16"/>
            <p:cNvSpPr/>
            <p:nvPr/>
          </p:nvSpPr>
          <p:spPr>
            <a:xfrm rot="18000000">
              <a:off x="2527997" y="2480663"/>
              <a:ext cx="53034" cy="45719"/>
            </a:xfrm>
            <a:prstGeom prst="triangle">
              <a:avLst/>
            </a:prstGeom>
            <a:gradFill>
              <a:gsLst>
                <a:gs pos="0">
                  <a:srgbClr val="E54666">
                    <a:lumMod val="60000"/>
                    <a:lumOff val="40000"/>
                  </a:srgbClr>
                </a:gs>
                <a:gs pos="60000">
                  <a:srgbClr val="E54666"/>
                </a:gs>
              </a:gsLst>
              <a:lin ang="2700000"/>
            </a:gradFill>
            <a:ln cap="rnd" cmpd="sng">
              <a:prstDash val="solid"/>
            </a:ln>
            <a:effectLst>
              <a:outerShdw algn="ctr" blurRad="50800" dir="5400000" dist="50800" rotWithShape="false">
                <a:schemeClr val="accent3">
                  <a:alpha val="20000"/>
                </a:schemeClr>
              </a:outerShdw>
            </a:effectLst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TextBox 17" id="17"/>
          <p:cNvSpPr txBox="true"/>
          <p:nvPr/>
        </p:nvSpPr>
        <p:spPr>
          <a:xfrm>
            <a:off x="7939685" y="2593960"/>
            <a:ext cx="194335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ln/>
                <a:solidFill>
                  <a:srgbClr val="FFFFFF"/>
                </a:solidFill>
                <a:latin typeface="微软雅黑"/>
                <a:ea typeface="微软雅黑"/>
              </a:rPr>
              <a:t>市场分析报告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>
            <a:off x="4100899" y="3997788"/>
            <a:ext cx="0" cy="1625084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</a:ln>
        </p:spPr>
      </p:cxnSp>
      <p:cxnSp>
        <p:nvCxnSpPr>
          <p:cNvPr name="Connector 19" id="19"/>
          <p:cNvCxnSpPr/>
          <p:nvPr/>
        </p:nvCxnSpPr>
        <p:spPr>
          <a:xfrm>
            <a:off x="7261966" y="3879001"/>
            <a:ext cx="6350" cy="1625084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</a:ln>
        </p:spPr>
      </p:cxnSp>
      <p:sp>
        <p:nvSpPr>
          <p:cNvPr name="TextBox 20" id="20"/>
          <p:cNvSpPr txBox="true"/>
          <p:nvPr/>
        </p:nvSpPr>
        <p:spPr>
          <a:xfrm>
            <a:off x="895383" y="4018282"/>
            <a:ext cx="2939506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实时生成PPT能够根据财务数据自动生成财务报表，确保数据的准确性和及时性。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4231793" y="4031930"/>
            <a:ext cx="2939506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项目进度报告通过实时生成PPT，能够动态展示项目进展，帮助管理者及时了解项目状态。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7441611" y="4031930"/>
            <a:ext cx="2939506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市场分析报告通过实时生成PPT，能够快速响应市场变化，提供最新的市场趋势分析。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教育培训应用</a:t>
            </a:r>
          </a:p>
        </p:txBody>
      </p:sp>
      <p:sp>
        <p:nvSpPr>
          <p:cNvPr name="Freeform 3" id="3"/>
          <p:cNvSpPr/>
          <p:nvPr/>
        </p:nvSpPr>
        <p:spPr>
          <a:xfrm>
            <a:off x="4355823" y="1638909"/>
            <a:ext cx="3467650" cy="2879996"/>
          </a:xfrm>
          <a:custGeom>
            <a:avLst/>
            <a:gdLst/>
            <a:ahLst/>
            <a:cxnLst/>
            <a:rect r="r" b="b" t="t" l="l"/>
            <a:pathLst>
              <a:path w="4533900" h="3765550" stroke="true" fill="norm" extrusionOk="true">
                <a:moveTo>
                  <a:pt x="3964789" y="0"/>
                </a:moveTo>
                <a:lnTo>
                  <a:pt x="4016239" y="56609"/>
                </a:lnTo>
                <a:cubicBezTo>
                  <a:pt x="4339633" y="448472"/>
                  <a:pt x="4533900" y="950849"/>
                  <a:pt x="4533900" y="1498600"/>
                </a:cubicBezTo>
                <a:cubicBezTo>
                  <a:pt x="4533900" y="2750602"/>
                  <a:pt x="3518952" y="3765550"/>
                  <a:pt x="2266950" y="3765550"/>
                </a:cubicBezTo>
                <a:cubicBezTo>
                  <a:pt x="1014948" y="3765550"/>
                  <a:pt x="0" y="2750602"/>
                  <a:pt x="0" y="1498600"/>
                </a:cubicBezTo>
                <a:cubicBezTo>
                  <a:pt x="0" y="950849"/>
                  <a:pt x="194268" y="448472"/>
                  <a:pt x="517661" y="56609"/>
                </a:cubicBezTo>
                <a:lnTo>
                  <a:pt x="569111" y="0"/>
                </a:lnTo>
              </a:path>
            </a:pathLst>
          </a:custGeom>
          <a:noFill/>
          <a:ln w="12700" cap="rnd" cmpd="sng">
            <a:solidFill>
              <a:srgbClr val="778495">
                <a:alpha val="50000"/>
              </a:srgbClr>
            </a:solidFill>
            <a:prstDash val="solid"/>
            <a:headEnd w="sm" len="sm" type="oval"/>
            <a:tailEnd w="sm" len="sm" type="oval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4943478" y="1638909"/>
            <a:ext cx="2292340" cy="2292341"/>
          </a:xfrm>
          <a:prstGeom prst="ellipse">
            <a:avLst/>
          </a:pr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vert="horz" rot="0" anchor="ctr" wrap="square" anchorCtr="tru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4177923" y="2270768"/>
            <a:ext cx="432000" cy="432000"/>
          </a:xfrm>
          <a:prstGeom prst="ellipse">
            <a:avLst/>
          </a:prstGeom>
          <a:gradFill>
            <a:gsLst>
              <a:gs pos="0">
                <a:srgbClr val="EC1726">
                  <a:lumMod val="60000"/>
                  <a:lumOff val="40000"/>
                </a:srgbClr>
              </a:gs>
              <a:gs pos="50000">
                <a:srgbClr val="EC1726"/>
              </a:gs>
            </a:gsLst>
            <a:lin ang="2700000"/>
          </a:gradFill>
          <a:effectLst>
            <a:outerShdw algn="ctr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wrap="none" tIns="108000" lIns="108000" bIns="108000" rIns="108000">
            <a:no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name="AutoShape 6" id="6"/>
          <p:cNvSpPr/>
          <p:nvPr/>
        </p:nvSpPr>
        <p:spPr>
          <a:xfrm>
            <a:off x="4694381" y="3890256"/>
            <a:ext cx="432000" cy="432000"/>
          </a:xfrm>
          <a:prstGeom prst="ellipse">
            <a:avLst/>
          </a:prstGeom>
          <a:gradFill>
            <a:gsLst>
              <a:gs pos="0">
                <a:srgbClr val="F05C0F">
                  <a:lumMod val="60000"/>
                  <a:lumOff val="40000"/>
                </a:srgbClr>
              </a:gs>
              <a:gs pos="50000">
                <a:srgbClr val="F05C0F"/>
              </a:gs>
            </a:gsLst>
            <a:lin ang="2700000"/>
          </a:gradFill>
          <a:effectLst>
            <a:outerShdw algn="ctr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wrap="none" tIns="108000" lIns="108000" bIns="108000" rIns="108000">
            <a:no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7052917" y="3890256"/>
            <a:ext cx="432000" cy="432000"/>
          </a:xfrm>
          <a:prstGeom prst="ellipse">
            <a:avLst/>
          </a:prstGeom>
          <a:gradFill>
            <a:gsLst>
              <a:gs pos="0">
                <a:srgbClr val="FCBE5D">
                  <a:lumMod val="60000"/>
                  <a:lumOff val="40000"/>
                </a:srgbClr>
              </a:gs>
              <a:gs pos="50000">
                <a:srgbClr val="FCBE5D"/>
              </a:gs>
            </a:gsLst>
            <a:lin ang="2700000"/>
          </a:gradFill>
          <a:effectLst>
            <a:outerShdw algn="ctr" blurRad="177800" dir="2700000" dist="152400" rotWithShape="false">
              <a:schemeClr val="accent4">
                <a:alpha val="20000"/>
              </a:schemeClr>
            </a:outerShdw>
          </a:effectLst>
        </p:spPr>
        <p:txBody>
          <a:bodyPr vert="horz" anchor="ctr" wrap="none" tIns="108000" lIns="108000" bIns="108000" rIns="108000">
            <a:no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name="AutoShape 8" id="8"/>
          <p:cNvSpPr/>
          <p:nvPr/>
        </p:nvSpPr>
        <p:spPr>
          <a:xfrm flipH="true">
            <a:off x="7564904" y="2270768"/>
            <a:ext cx="432000" cy="432000"/>
          </a:xfrm>
          <a:prstGeom prst="ellipse">
            <a:avLst/>
          </a:prstGeom>
          <a:gradFill>
            <a:gsLst>
              <a:gs pos="0">
                <a:srgbClr val="E54666">
                  <a:lumMod val="60000"/>
                  <a:lumOff val="40000"/>
                </a:srgbClr>
              </a:gs>
              <a:gs pos="50000">
                <a:srgbClr val="E54666"/>
              </a:gs>
            </a:gsLst>
            <a:lin ang="2700000"/>
          </a:gradFill>
          <a:effectLst>
            <a:outerShdw algn="ctr" blurRad="177800" dir="2700000" dist="152400" rotWithShape="false">
              <a:schemeClr val="accent5">
                <a:alpha val="20000"/>
              </a:schemeClr>
            </a:outerShdw>
          </a:effectLst>
        </p:spPr>
        <p:txBody>
          <a:bodyPr vert="horz" anchor="ctr" wrap="none" tIns="108000" lIns="108000" bIns="108000" rIns="108000">
            <a:no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name="AutoShape 9" id="9"/>
          <p:cNvSpPr/>
          <p:nvPr/>
        </p:nvSpPr>
        <p:spPr>
          <a:xfrm>
            <a:off x="8072570" y="2072323"/>
            <a:ext cx="3467650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en-US" b="true" i="false" sz="1600" baseline="0" u="none">
                <a:solidFill>
                  <a:srgbClr val="2F2F2F"/>
                </a:solidFill>
                <a:latin typeface="Arial"/>
                <a:ea typeface="Arial"/>
              </a:rPr>
              <a:t>培训材料生成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072570" y="2429609"/>
            <a:ext cx="3467650" cy="62331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30000"/>
              </a:lnSpc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培训材料生成技术能够根据培训需求自动生成演示文稿，确保培训内容的专业性和一致性。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60401" y="2072323"/>
            <a:ext cx="3446324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r" marL="0"/>
            <a:r>
              <a:rPr lang="en-US" b="true" i="false" sz="1600" baseline="0" u="none">
                <a:solidFill>
                  <a:srgbClr val="2F2F2F"/>
                </a:solidFill>
                <a:latin typeface="Arial"/>
                <a:ea typeface="Arial"/>
              </a:rPr>
              <a:t>在线课程PPT生成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60401" y="2429609"/>
            <a:ext cx="3446324" cy="62331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30000"/>
              </a:lnSpc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在线课程PPT生成技术能够根据课程内容自动生成演示文稿，提升教学效率。</a:t>
            </a:r>
          </a:p>
        </p:txBody>
      </p:sp>
      <p:sp>
        <p:nvSpPr>
          <p:cNvPr name="AutoShape 13" id="13"/>
          <p:cNvSpPr/>
          <p:nvPr/>
        </p:nvSpPr>
        <p:spPr>
          <a:xfrm>
            <a:off x="7616586" y="4108570"/>
            <a:ext cx="3715810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en-US" b="true" i="false" sz="1600" baseline="0" u="none">
                <a:solidFill>
                  <a:srgbClr val="2F2F2F"/>
                </a:solidFill>
                <a:latin typeface="Arial"/>
                <a:ea typeface="Arial"/>
              </a:rPr>
              <a:t>学生作业展示</a:t>
            </a:r>
          </a:p>
        </p:txBody>
      </p:sp>
      <p:sp>
        <p:nvSpPr>
          <p:cNvPr name="AutoShape 14" id="14"/>
          <p:cNvSpPr/>
          <p:nvPr/>
        </p:nvSpPr>
        <p:spPr>
          <a:xfrm>
            <a:off x="7616586" y="4465856"/>
            <a:ext cx="3715810" cy="62331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30000"/>
              </a:lnSpc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学生作业展示通过实时生成PPT，能够自动生成作业报告，帮助学生更好地展示学习成果。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254908" y="4101251"/>
            <a:ext cx="3320508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r" marL="0"/>
            <a:r>
              <a:rPr lang="en-US" b="true" i="false" sz="1600" baseline="0" u="none">
                <a:solidFill>
                  <a:srgbClr val="2F2F2F"/>
                </a:solidFill>
                <a:latin typeface="Arial"/>
                <a:ea typeface="Arial"/>
              </a:rPr>
              <a:t>实时教学演示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254908" y="4458537"/>
            <a:ext cx="3320508" cy="90338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30000"/>
              </a:lnSpc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实时教学演示通过实时生成PPT，能够根据学生反馈动态调整教学内容，提升教学效果。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794000" y="3429000"/>
            <a:ext cx="5731164" cy="424732"/>
          </a:xfrm>
        </p:spPr>
        <p:txBody>
          <a:bodyPr vert="horz" anchor="t" tIns="45720" lIns="91440" bIns="45720" rIns="91440">
            <a:normAutofit/>
          </a:bodyPr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zh-CN" b="true" i="false" sz="2631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实时生成PPT的挑战与解决方案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314576" y="2348705"/>
            <a:ext cx="1210588" cy="1089529"/>
          </a:xfrm>
          <a:prstGeom prst="rect">
            <a:avLst/>
          </a:prstGeom>
        </p:spPr>
        <p:txBody>
          <a:bodyPr anchor="b" rtlCol="false" vert="horz" wrap="non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en-GB" b="true" i="false" sz="7200" baseline="0" u="none">
                <a:gradFill>
                  <a:gsLst>
                    <a:gs pos="29000">
                      <a:srgbClr val="FFFFFF"/>
                    </a:gs>
                    <a:gs pos="80000">
                      <a:srgbClr val="FCBE5D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latin typeface="Arial"/>
                <a:ea typeface="Arial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技术挑战</a:t>
            </a:r>
          </a:p>
        </p:txBody>
      </p:sp>
      <p:sp>
        <p:nvSpPr>
          <p:cNvPr name="Freeform 3" id="3"/>
          <p:cNvSpPr/>
          <p:nvPr/>
        </p:nvSpPr>
        <p:spPr>
          <a:xfrm>
            <a:off x="4355823" y="1638909"/>
            <a:ext cx="3467650" cy="2879996"/>
          </a:xfrm>
          <a:custGeom>
            <a:avLst/>
            <a:gdLst/>
            <a:ahLst/>
            <a:cxnLst/>
            <a:rect r="r" b="b" t="t" l="l"/>
            <a:pathLst>
              <a:path w="4533900" h="3765550" stroke="true" fill="norm" extrusionOk="true">
                <a:moveTo>
                  <a:pt x="3964789" y="0"/>
                </a:moveTo>
                <a:lnTo>
                  <a:pt x="4016239" y="56609"/>
                </a:lnTo>
                <a:cubicBezTo>
                  <a:pt x="4339633" y="448472"/>
                  <a:pt x="4533900" y="950849"/>
                  <a:pt x="4533900" y="1498600"/>
                </a:cubicBezTo>
                <a:cubicBezTo>
                  <a:pt x="4533900" y="2750602"/>
                  <a:pt x="3518952" y="3765550"/>
                  <a:pt x="2266950" y="3765550"/>
                </a:cubicBezTo>
                <a:cubicBezTo>
                  <a:pt x="1014948" y="3765550"/>
                  <a:pt x="0" y="2750602"/>
                  <a:pt x="0" y="1498600"/>
                </a:cubicBezTo>
                <a:cubicBezTo>
                  <a:pt x="0" y="950849"/>
                  <a:pt x="194268" y="448472"/>
                  <a:pt x="517661" y="56609"/>
                </a:cubicBezTo>
                <a:lnTo>
                  <a:pt x="569111" y="0"/>
                </a:lnTo>
              </a:path>
            </a:pathLst>
          </a:custGeom>
          <a:noFill/>
          <a:ln w="12700" cap="rnd" cmpd="sng">
            <a:solidFill>
              <a:srgbClr val="778495">
                <a:alpha val="50000"/>
              </a:srgbClr>
            </a:solidFill>
            <a:prstDash val="solid"/>
            <a:headEnd w="sm" len="sm" type="oval"/>
            <a:tailEnd w="sm" len="sm" type="oval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4943478" y="1638909"/>
            <a:ext cx="2292340" cy="2292341"/>
          </a:xfrm>
          <a:prstGeom prst="ellipse">
            <a:avLst/>
          </a:pr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vert="horz" rot="0" anchor="ctr" wrap="square" anchorCtr="tru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4177923" y="2270768"/>
            <a:ext cx="432000" cy="432000"/>
          </a:xfrm>
          <a:prstGeom prst="ellipse">
            <a:avLst/>
          </a:prstGeom>
          <a:gradFill>
            <a:gsLst>
              <a:gs pos="0">
                <a:srgbClr val="EC1726">
                  <a:lumMod val="60000"/>
                  <a:lumOff val="40000"/>
                </a:srgbClr>
              </a:gs>
              <a:gs pos="50000">
                <a:srgbClr val="EC1726"/>
              </a:gs>
            </a:gsLst>
            <a:lin ang="2700000"/>
          </a:gradFill>
          <a:effectLst>
            <a:outerShdw algn="ctr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wrap="none" tIns="108000" lIns="108000" bIns="108000" rIns="108000">
            <a:no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name="AutoShape 6" id="6"/>
          <p:cNvSpPr/>
          <p:nvPr/>
        </p:nvSpPr>
        <p:spPr>
          <a:xfrm>
            <a:off x="5880000" y="4302905"/>
            <a:ext cx="432000" cy="432000"/>
          </a:xfrm>
          <a:prstGeom prst="ellipse">
            <a:avLst/>
          </a:prstGeom>
          <a:gradFill>
            <a:gsLst>
              <a:gs pos="0">
                <a:srgbClr val="F05C0F">
                  <a:lumMod val="60000"/>
                  <a:lumOff val="40000"/>
                </a:srgbClr>
              </a:gs>
              <a:gs pos="50000">
                <a:srgbClr val="F05C0F"/>
              </a:gs>
            </a:gsLst>
            <a:lin ang="2700000"/>
          </a:gradFill>
          <a:effectLst>
            <a:outerShdw algn="ctr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wrap="none" tIns="108000" lIns="108000" bIns="108000" rIns="108000">
            <a:no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7564904" y="2270768"/>
            <a:ext cx="432000" cy="432000"/>
          </a:xfrm>
          <a:prstGeom prst="ellipse">
            <a:avLst/>
          </a:prstGeom>
          <a:gradFill>
            <a:gsLst>
              <a:gs pos="0">
                <a:srgbClr val="E54666">
                  <a:lumMod val="60000"/>
                  <a:lumOff val="40000"/>
                </a:srgbClr>
              </a:gs>
              <a:gs pos="50000">
                <a:srgbClr val="E54666"/>
              </a:gs>
            </a:gsLst>
            <a:lin ang="2700000"/>
          </a:gradFill>
          <a:effectLst>
            <a:outerShdw algn="ctr" blurRad="177800" dir="2700000" dist="152400" rotWithShape="false">
              <a:schemeClr val="accent5">
                <a:alpha val="20000"/>
              </a:schemeClr>
            </a:outerShdw>
          </a:effectLst>
        </p:spPr>
        <p:txBody>
          <a:bodyPr vert="horz" anchor="ctr" wrap="none" tIns="108000" lIns="108000" bIns="108000" rIns="108000">
            <a:noAutofit/>
          </a:bodyPr>
          <a:p>
            <a:pPr algn="ctr" marL="0"/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name="AutoShape 8" id="8"/>
          <p:cNvSpPr/>
          <p:nvPr/>
        </p:nvSpPr>
        <p:spPr>
          <a:xfrm>
            <a:off x="8209129" y="2072323"/>
            <a:ext cx="301580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en-US" b="true" i="false" sz="1600" baseline="0" u="none">
                <a:solidFill>
                  <a:srgbClr val="2F2F2F"/>
                </a:solidFill>
                <a:latin typeface="Arial"/>
                <a:ea typeface="Arial"/>
              </a:rPr>
              <a:t>系统性能优化</a:t>
            </a:r>
          </a:p>
        </p:txBody>
      </p:sp>
      <p:sp>
        <p:nvSpPr>
          <p:cNvPr name="AutoShape 9" id="9"/>
          <p:cNvSpPr/>
          <p:nvPr/>
        </p:nvSpPr>
        <p:spPr>
          <a:xfrm>
            <a:off x="8209129" y="2429609"/>
            <a:ext cx="3015806" cy="90338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30000"/>
              </a:lnSpc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系统性能优化需要确保在大规模数据处理和高并发情况下，系统能够稳定运行。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54365" y="2072323"/>
            <a:ext cx="3011333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r" marL="0"/>
            <a:r>
              <a:rPr lang="en-US" b="true" i="false" sz="1600" baseline="0" u="none">
                <a:solidFill>
                  <a:srgbClr val="2F2F2F"/>
                </a:solidFill>
                <a:latin typeface="Arial"/>
                <a:ea typeface="Arial"/>
              </a:rPr>
              <a:t>数据实时性要求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54365" y="2429609"/>
            <a:ext cx="3011333" cy="90338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30000"/>
              </a:lnSpc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数据实时性要求高，需要确保数据在输入后能够立即被处理和分析，以实现PPT的即时生成。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355823" y="4790560"/>
            <a:ext cx="3641081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ctr" marL="0"/>
            <a:r>
              <a:rPr lang="en-US" b="true" i="false" sz="1600" baseline="0" u="none">
                <a:solidFill>
                  <a:srgbClr val="2F2F2F"/>
                </a:solidFill>
                <a:latin typeface="Arial"/>
                <a:ea typeface="Arial"/>
              </a:rPr>
              <a:t>生成内容的质量</a:t>
            </a:r>
          </a:p>
        </p:txBody>
      </p:sp>
      <p:sp>
        <p:nvSpPr>
          <p:cNvPr name="AutoShape 13" id="13"/>
          <p:cNvSpPr/>
          <p:nvPr/>
        </p:nvSpPr>
        <p:spPr>
          <a:xfrm>
            <a:off x="4355823" y="5147846"/>
            <a:ext cx="3641081" cy="62331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30000"/>
              </a:lnSpc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生成内容的质量需要确保专业性和一致性，避免出现错误或不相关的内容。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解决方案</a:t>
            </a:r>
          </a:p>
        </p:txBody>
      </p:sp>
      <p:cxnSp>
        <p:nvCxnSpPr>
          <p:cNvPr name="Connector 3" id="3"/>
          <p:cNvCxnSpPr/>
          <p:nvPr/>
        </p:nvCxnSpPr>
        <p:spPr>
          <a:xfrm flipV="true">
            <a:off x="3576895" y="2043243"/>
            <a:ext cx="0" cy="2740297"/>
          </a:xfrm>
          <a:prstGeom prst="line">
            <a:avLst/>
          </a:prstGeom>
          <a:ln w="76200" cap="rnd" cmpd="sng">
            <a:solidFill>
              <a:srgbClr val="778495">
                <a:alpha val="15000"/>
              </a:srgbClr>
            </a:solidFill>
            <a:prstDash val="solid"/>
          </a:ln>
        </p:spPr>
      </p:cxnSp>
      <p:cxnSp>
        <p:nvCxnSpPr>
          <p:cNvPr name="Connector 4" id="4"/>
          <p:cNvCxnSpPr/>
          <p:nvPr/>
        </p:nvCxnSpPr>
        <p:spPr>
          <a:xfrm flipV="true">
            <a:off x="6031337" y="2043243"/>
            <a:ext cx="0" cy="2740297"/>
          </a:xfrm>
          <a:prstGeom prst="line">
            <a:avLst/>
          </a:prstGeom>
          <a:ln w="76200" cap="rnd" cmpd="sng">
            <a:solidFill>
              <a:srgbClr val="778495">
                <a:alpha val="15000"/>
              </a:srgbClr>
            </a:solidFill>
            <a:prstDash val="solid"/>
          </a:ln>
        </p:spPr>
      </p:cxnSp>
      <p:cxnSp>
        <p:nvCxnSpPr>
          <p:cNvPr name="Connector 5" id="5"/>
          <p:cNvCxnSpPr/>
          <p:nvPr/>
        </p:nvCxnSpPr>
        <p:spPr>
          <a:xfrm flipV="true">
            <a:off x="8485779" y="2043243"/>
            <a:ext cx="0" cy="2753945"/>
          </a:xfrm>
          <a:prstGeom prst="line">
            <a:avLst/>
          </a:prstGeom>
          <a:ln w="76200" cap="rnd" cmpd="sng">
            <a:solidFill>
              <a:srgbClr val="778495">
                <a:alpha val="15000"/>
              </a:srgbClr>
            </a:solidFill>
            <a:prstDash val="solid"/>
          </a:ln>
        </p:spPr>
      </p:cxnSp>
      <p:sp>
        <p:nvSpPr>
          <p:cNvPr name="TextBox 6" id="6"/>
          <p:cNvSpPr txBox="true"/>
          <p:nvPr/>
        </p:nvSpPr>
        <p:spPr>
          <a:xfrm>
            <a:off x="1463335" y="2754961"/>
            <a:ext cx="1950127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rgbClr val="2F2F2F"/>
                </a:solidFill>
                <a:latin typeface="Arial"/>
                <a:ea typeface="Arial"/>
              </a:rPr>
              <a:t>分布式计算架构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1463334" y="3062738"/>
            <a:ext cx="1950129" cy="166821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分布式计算架构能够提高系统的计算能力和处理效率，确保数据的实时处理。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1548635" y="2043243"/>
            <a:ext cx="410200" cy="410198"/>
          </a:xfrm>
          <a:prstGeom prst="ellipse">
            <a:avLst/>
          </a:prstGeom>
          <a:gradFill>
            <a:gsLst>
              <a:gs pos="0">
                <a:srgbClr val="EC1726">
                  <a:lumMod val="60000"/>
                  <a:lumOff val="40000"/>
                </a:srgbClr>
              </a:gs>
              <a:gs pos="60000">
                <a:srgbClr val="EC1726"/>
              </a:gs>
            </a:gsLst>
            <a:lin ang="2700000"/>
          </a:gradFill>
          <a:ln cap="rnd" cmpd="sng">
            <a:prstDash val="solid"/>
          </a:ln>
          <a:effectLst>
            <a:outerShdw algn="ctr" blurRad="76200" dir="5400000" dist="50800" rotWithShape="false">
              <a:schemeClr val="accent1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9" id="9"/>
          <p:cNvSpPr/>
          <p:nvPr/>
        </p:nvSpPr>
        <p:spPr>
          <a:xfrm>
            <a:off x="1664735" y="2181592"/>
            <a:ext cx="178001" cy="133500"/>
          </a:xfrm>
          <a:custGeom>
            <a:avLst/>
            <a:gdLst/>
            <a:ahLst/>
            <a:cxnLst/>
            <a:rect r="r" b="b" t="t" l="l"/>
            <a:pathLst>
              <a:path w="533400" h="400050" stroke="true" fill="norm" extrusionOk="true">
                <a:moveTo>
                  <a:pt x="505433" y="621"/>
                </a:moveTo>
                <a:cubicBezTo>
                  <a:pt x="521245" y="621"/>
                  <a:pt x="534008" y="13385"/>
                  <a:pt x="534008" y="29196"/>
                </a:cubicBezTo>
                <a:lnTo>
                  <a:pt x="534008" y="372096"/>
                </a:lnTo>
                <a:cubicBezTo>
                  <a:pt x="534008" y="387907"/>
                  <a:pt x="521245" y="400671"/>
                  <a:pt x="505433" y="400671"/>
                </a:cubicBezTo>
                <a:lnTo>
                  <a:pt x="29183" y="400671"/>
                </a:lnTo>
                <a:cubicBezTo>
                  <a:pt x="13371" y="400671"/>
                  <a:pt x="608" y="387907"/>
                  <a:pt x="608" y="372096"/>
                </a:cubicBezTo>
                <a:lnTo>
                  <a:pt x="608" y="29196"/>
                </a:lnTo>
                <a:cubicBezTo>
                  <a:pt x="608" y="13385"/>
                  <a:pt x="13371" y="621"/>
                  <a:pt x="29183" y="621"/>
                </a:cubicBezTo>
                <a:lnTo>
                  <a:pt x="505433" y="621"/>
                </a:lnTo>
                <a:close/>
                <a:moveTo>
                  <a:pt x="391419" y="198646"/>
                </a:moveTo>
                <a:cubicBezTo>
                  <a:pt x="378846" y="189121"/>
                  <a:pt x="360939" y="191597"/>
                  <a:pt x="351414" y="204170"/>
                </a:cubicBezTo>
                <a:lnTo>
                  <a:pt x="351414" y="204170"/>
                </a:lnTo>
                <a:lnTo>
                  <a:pt x="267118" y="315613"/>
                </a:lnTo>
                <a:cubicBezTo>
                  <a:pt x="266355" y="316660"/>
                  <a:pt x="265498" y="317518"/>
                  <a:pt x="264641" y="318470"/>
                </a:cubicBezTo>
                <a:cubicBezTo>
                  <a:pt x="253592" y="329710"/>
                  <a:pt x="235495" y="329805"/>
                  <a:pt x="224255" y="318756"/>
                </a:cubicBezTo>
                <a:lnTo>
                  <a:pt x="224255" y="318756"/>
                </a:lnTo>
                <a:lnTo>
                  <a:pt x="162152" y="257415"/>
                </a:lnTo>
                <a:cubicBezTo>
                  <a:pt x="161485" y="256844"/>
                  <a:pt x="160914" y="256177"/>
                  <a:pt x="160247" y="255701"/>
                </a:cubicBezTo>
                <a:cubicBezTo>
                  <a:pt x="148055" y="245699"/>
                  <a:pt x="130053" y="247414"/>
                  <a:pt x="120052" y="259606"/>
                </a:cubicBezTo>
                <a:lnTo>
                  <a:pt x="120052" y="259606"/>
                </a:lnTo>
                <a:lnTo>
                  <a:pt x="32517" y="366095"/>
                </a:lnTo>
                <a:cubicBezTo>
                  <a:pt x="31088" y="367810"/>
                  <a:pt x="30326" y="369905"/>
                  <a:pt x="30326" y="372096"/>
                </a:cubicBezTo>
                <a:cubicBezTo>
                  <a:pt x="30326" y="377335"/>
                  <a:pt x="34612" y="381621"/>
                  <a:pt x="39851" y="381621"/>
                </a:cubicBezTo>
                <a:lnTo>
                  <a:pt x="39851" y="381621"/>
                </a:lnTo>
                <a:lnTo>
                  <a:pt x="497242" y="381621"/>
                </a:lnTo>
                <a:cubicBezTo>
                  <a:pt x="499146" y="381621"/>
                  <a:pt x="500956" y="381050"/>
                  <a:pt x="502480" y="380002"/>
                </a:cubicBezTo>
                <a:cubicBezTo>
                  <a:pt x="506862" y="377049"/>
                  <a:pt x="508005" y="371144"/>
                  <a:pt x="505147" y="366762"/>
                </a:cubicBezTo>
                <a:lnTo>
                  <a:pt x="505147" y="366762"/>
                </a:lnTo>
                <a:lnTo>
                  <a:pt x="397991" y="205504"/>
                </a:lnTo>
                <a:cubicBezTo>
                  <a:pt x="396181" y="202932"/>
                  <a:pt x="393990" y="200551"/>
                  <a:pt x="391419" y="198646"/>
                </a:cubicBezTo>
                <a:close/>
                <a:moveTo>
                  <a:pt x="95858" y="57771"/>
                </a:moveTo>
                <a:cubicBezTo>
                  <a:pt x="74808" y="57771"/>
                  <a:pt x="57758" y="74821"/>
                  <a:pt x="57758" y="95871"/>
                </a:cubicBezTo>
                <a:cubicBezTo>
                  <a:pt x="57758" y="116921"/>
                  <a:pt x="74808" y="133971"/>
                  <a:pt x="95858" y="133971"/>
                </a:cubicBezTo>
                <a:cubicBezTo>
                  <a:pt x="116908" y="133971"/>
                  <a:pt x="133958" y="116921"/>
                  <a:pt x="133958" y="95871"/>
                </a:cubicBezTo>
                <a:cubicBezTo>
                  <a:pt x="133958" y="74821"/>
                  <a:pt x="116908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0" id="10"/>
          <p:cNvSpPr txBox="true"/>
          <p:nvPr/>
        </p:nvSpPr>
        <p:spPr>
          <a:xfrm>
            <a:off x="3901736" y="2754961"/>
            <a:ext cx="1950127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gradFill>
                  <a:gsLst>
                    <a:gs pos="0">
                      <a:srgbClr val="F05C0F">
                        <a:lumMod val="60000"/>
                        <a:lumOff val="40000"/>
                      </a:srgbClr>
                    </a:gs>
                    <a:gs pos="60000">
                      <a:srgbClr val="F05C0F"/>
                    </a:gs>
                  </a:gsLst>
                  <a:lin ang="2700000"/>
                </a:gradFill>
                <a:latin typeface="Arial"/>
                <a:ea typeface="Arial"/>
              </a:rPr>
              <a:t>机器学习模型优化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3901735" y="3062738"/>
            <a:ext cx="1950129" cy="166821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机器学习模型优化能够提高内容生成的质量，确保生成内容的准确性和专业性。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3981804" y="2043243"/>
            <a:ext cx="410200" cy="410198"/>
          </a:xfrm>
          <a:prstGeom prst="ellipse">
            <a:avLst/>
          </a:prstGeom>
          <a:gradFill>
            <a:gsLst>
              <a:gs pos="0">
                <a:srgbClr val="F05C0F">
                  <a:lumMod val="60000"/>
                  <a:lumOff val="40000"/>
                </a:srgbClr>
              </a:gs>
              <a:gs pos="60000">
                <a:srgbClr val="F05C0F"/>
              </a:gs>
            </a:gsLst>
            <a:lin ang="2700000"/>
          </a:gradFill>
          <a:ln cap="rnd" cmpd="sng">
            <a:prstDash val="solid"/>
          </a:ln>
          <a:effectLst>
            <a:outerShdw algn="ctr" blurRad="76200" dir="5400000" dist="50800" rotWithShape="false">
              <a:schemeClr val="accent2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3" id="13"/>
          <p:cNvSpPr/>
          <p:nvPr/>
        </p:nvSpPr>
        <p:spPr>
          <a:xfrm>
            <a:off x="4105711" y="2165691"/>
            <a:ext cx="162386" cy="178001"/>
          </a:xfrm>
          <a:custGeom>
            <a:avLst/>
            <a:gdLst/>
            <a:ahLst/>
            <a:cxnLst/>
            <a:rect r="r" b="b" t="t" l="l"/>
            <a:pathLst>
              <a:path w="495300" h="542925" stroke="true" fill="norm" extrusionOk="true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4" id="14"/>
          <p:cNvSpPr txBox="true"/>
          <p:nvPr/>
        </p:nvSpPr>
        <p:spPr>
          <a:xfrm>
            <a:off x="6340137" y="2754961"/>
            <a:ext cx="1950127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rgbClr val="2F2F2F"/>
                </a:solidFill>
                <a:latin typeface="Arial"/>
                <a:ea typeface="Arial"/>
              </a:rPr>
              <a:t>用户反馈机制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6340136" y="3062738"/>
            <a:ext cx="1950129" cy="166821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用户反馈机制能够根据用户反馈动态调整PPT内容和设计，提升用户体验。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>
            <a:off x="6414973" y="2043243"/>
            <a:ext cx="410200" cy="410198"/>
          </a:xfrm>
          <a:prstGeom prst="ellipse">
            <a:avLst/>
          </a:prstGeom>
          <a:gradFill>
            <a:gsLst>
              <a:gs pos="0">
                <a:srgbClr val="E54666">
                  <a:lumMod val="60000"/>
                  <a:lumOff val="40000"/>
                </a:srgbClr>
              </a:gs>
              <a:gs pos="60000">
                <a:srgbClr val="E54666"/>
              </a:gs>
            </a:gsLst>
            <a:lin ang="2700000"/>
          </a:gradFill>
          <a:ln cap="rnd" cmpd="sng">
            <a:prstDash val="solid"/>
          </a:ln>
          <a:effectLst>
            <a:outerShdw algn="ctr" blurRad="76200" dir="5400000" dist="50800" rotWithShape="false">
              <a:schemeClr val="accent3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7" id="17"/>
          <p:cNvSpPr/>
          <p:nvPr/>
        </p:nvSpPr>
        <p:spPr>
          <a:xfrm>
            <a:off x="6531073" y="2177422"/>
            <a:ext cx="178001" cy="148188"/>
          </a:xfrm>
          <a:custGeom>
            <a:avLst/>
            <a:gdLst/>
            <a:ahLst/>
            <a:cxnLst/>
            <a:rect r="r" b="b" t="t" l="l"/>
            <a:pathLst>
              <a:path w="526297" h="438150" stroke="true" fill="norm" extrusionOk="true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8" id="18"/>
          <p:cNvSpPr txBox="true"/>
          <p:nvPr/>
        </p:nvSpPr>
        <p:spPr>
          <a:xfrm>
            <a:off x="8778538" y="2754961"/>
            <a:ext cx="1950127" cy="338554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solidFill>
                  <a:srgbClr val="2F2F2F"/>
                </a:solidFill>
                <a:latin typeface="Arial"/>
                <a:ea typeface="Arial"/>
              </a:rPr>
              <a:t>持续迭代与更新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8778537" y="3062738"/>
            <a:ext cx="1950129" cy="166821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rgbClr val="2F2F2F"/>
                </a:solidFill>
                <a:latin typeface="Arial"/>
                <a:ea typeface="Arial"/>
              </a:rPr>
              <a:t>持续迭代与更新能够根据技术发展和用户需求，不断优化系统功能和性能。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>
            <a:off x="8848142" y="2043243"/>
            <a:ext cx="410200" cy="410198"/>
          </a:xfrm>
          <a:prstGeom prst="ellipse">
            <a:avLst/>
          </a:prstGeom>
          <a:gradFill>
            <a:gsLst>
              <a:gs pos="0">
                <a:srgbClr val="FCBE5D">
                  <a:lumMod val="60000"/>
                  <a:lumOff val="40000"/>
                </a:srgbClr>
              </a:gs>
              <a:gs pos="60000">
                <a:srgbClr val="FCBE5D"/>
              </a:gs>
            </a:gsLst>
            <a:lin ang="2700000"/>
          </a:gradFill>
          <a:ln cap="rnd" cmpd="sng">
            <a:prstDash val="solid"/>
          </a:ln>
          <a:effectLst>
            <a:outerShdw algn="ctr" blurRad="76200" dir="5400000" dist="50800" rotWithShape="false">
              <a:schemeClr val="accent4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21" id="21"/>
          <p:cNvSpPr/>
          <p:nvPr/>
        </p:nvSpPr>
        <p:spPr>
          <a:xfrm>
            <a:off x="8964242" y="2183821"/>
            <a:ext cx="178001" cy="141741"/>
          </a:xfrm>
          <a:custGeom>
            <a:avLst/>
            <a:gdLst/>
            <a:ahLst/>
            <a:cxnLst/>
            <a:rect r="r" b="b" t="t" l="l"/>
            <a:pathLst>
              <a:path w="514350" h="409575" stroke="true" fill="norm" extrusionOk="true">
                <a:moveTo>
                  <a:pt x="486767" y="621"/>
                </a:moveTo>
                <a:cubicBezTo>
                  <a:pt x="502579" y="621"/>
                  <a:pt x="515342" y="13385"/>
                  <a:pt x="515342" y="29196"/>
                </a:cubicBezTo>
                <a:lnTo>
                  <a:pt x="515342" y="324471"/>
                </a:lnTo>
                <a:cubicBezTo>
                  <a:pt x="515342" y="340282"/>
                  <a:pt x="502579" y="353046"/>
                  <a:pt x="486767" y="353046"/>
                </a:cubicBezTo>
                <a:lnTo>
                  <a:pt x="192159" y="353046"/>
                </a:lnTo>
                <a:lnTo>
                  <a:pt x="115387" y="410196"/>
                </a:lnTo>
                <a:lnTo>
                  <a:pt x="115387" y="353046"/>
                </a:lnTo>
                <a:lnTo>
                  <a:pt x="29567" y="353046"/>
                </a:lnTo>
                <a:cubicBezTo>
                  <a:pt x="13755" y="353046"/>
                  <a:pt x="992" y="340282"/>
                  <a:pt x="992" y="324471"/>
                </a:cubicBezTo>
                <a:lnTo>
                  <a:pt x="992" y="29196"/>
                </a:lnTo>
                <a:cubicBezTo>
                  <a:pt x="992" y="13385"/>
                  <a:pt x="13755" y="621"/>
                  <a:pt x="29567" y="621"/>
                </a:cubicBezTo>
                <a:lnTo>
                  <a:pt x="486767" y="621"/>
                </a:lnTo>
                <a:close/>
                <a:moveTo>
                  <a:pt x="124817" y="143496"/>
                </a:moveTo>
                <a:cubicBezTo>
                  <a:pt x="106434" y="143496"/>
                  <a:pt x="91480" y="158450"/>
                  <a:pt x="91480" y="176834"/>
                </a:cubicBezTo>
                <a:cubicBezTo>
                  <a:pt x="91480" y="195217"/>
                  <a:pt x="106434" y="210171"/>
                  <a:pt x="124817" y="210171"/>
                </a:cubicBezTo>
                <a:cubicBezTo>
                  <a:pt x="143200" y="210171"/>
                  <a:pt x="158155" y="195217"/>
                  <a:pt x="158155" y="176834"/>
                </a:cubicBezTo>
                <a:cubicBezTo>
                  <a:pt x="158155" y="158450"/>
                  <a:pt x="143200" y="143496"/>
                  <a:pt x="124817" y="143496"/>
                </a:cubicBezTo>
                <a:close/>
                <a:moveTo>
                  <a:pt x="258167" y="143496"/>
                </a:moveTo>
                <a:cubicBezTo>
                  <a:pt x="239784" y="143496"/>
                  <a:pt x="224830" y="158450"/>
                  <a:pt x="224830" y="176834"/>
                </a:cubicBezTo>
                <a:cubicBezTo>
                  <a:pt x="224830" y="195217"/>
                  <a:pt x="239784" y="210171"/>
                  <a:pt x="258167" y="210171"/>
                </a:cubicBezTo>
                <a:cubicBezTo>
                  <a:pt x="276550" y="210171"/>
                  <a:pt x="291505" y="195217"/>
                  <a:pt x="291505" y="176834"/>
                </a:cubicBezTo>
                <a:cubicBezTo>
                  <a:pt x="291505" y="158450"/>
                  <a:pt x="276550" y="143496"/>
                  <a:pt x="258167" y="143496"/>
                </a:cubicBezTo>
                <a:close/>
                <a:moveTo>
                  <a:pt x="391517" y="143496"/>
                </a:moveTo>
                <a:cubicBezTo>
                  <a:pt x="373134" y="143496"/>
                  <a:pt x="358180" y="158450"/>
                  <a:pt x="358180" y="176834"/>
                </a:cubicBezTo>
                <a:cubicBezTo>
                  <a:pt x="358180" y="195217"/>
                  <a:pt x="373134" y="210171"/>
                  <a:pt x="391517" y="210171"/>
                </a:cubicBezTo>
                <a:cubicBezTo>
                  <a:pt x="409900" y="210171"/>
                  <a:pt x="424855" y="195217"/>
                  <a:pt x="424855" y="176834"/>
                </a:cubicBezTo>
                <a:cubicBezTo>
                  <a:pt x="424855" y="158450"/>
                  <a:pt x="409900" y="143496"/>
                  <a:pt x="391517" y="143496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794000" y="3429000"/>
            <a:ext cx="5731164" cy="424732"/>
          </a:xfrm>
        </p:spPr>
        <p:txBody>
          <a:bodyPr vert="horz" anchor="t" tIns="45720" lIns="91440" bIns="45720" rIns="91440">
            <a:normAutofit/>
          </a:bodyPr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zh-CN" b="true" i="false" sz="3184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实时生成PPT的未来发展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314576" y="2348705"/>
            <a:ext cx="1210588" cy="1089529"/>
          </a:xfrm>
          <a:prstGeom prst="rect">
            <a:avLst/>
          </a:prstGeom>
        </p:spPr>
        <p:txBody>
          <a:bodyPr anchor="b" rtlCol="false" vert="horz" wrap="non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en-GB" b="true" i="false" sz="7200" baseline="0" u="none">
                <a:gradFill>
                  <a:gsLst>
                    <a:gs pos="29000">
                      <a:srgbClr val="FFFFFF"/>
                    </a:gs>
                    <a:gs pos="80000">
                      <a:srgbClr val="FCBE5D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latin typeface="Arial"/>
                <a:ea typeface="Arial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技术发展趋势</a:t>
            </a:r>
          </a:p>
        </p:txBody>
      </p:sp>
      <p:sp>
        <p:nvSpPr>
          <p:cNvPr name="AutoShape 3" id="3"/>
          <p:cNvSpPr/>
          <p:nvPr/>
        </p:nvSpPr>
        <p:spPr>
          <a:xfrm>
            <a:off x="1225138" y="2293673"/>
            <a:ext cx="2723956" cy="3007724"/>
          </a:xfrm>
          <a:prstGeom prst="roundRect">
            <a:avLst>
              <a:gd name="adj" fmla="val 5186"/>
            </a:avLst>
          </a:prstGeom>
          <a:noFill/>
          <a:ln w="9525" cap="flat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1228084" y="2432504"/>
            <a:ext cx="2718063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1600" baseline="0" u="none">
                <a:solidFill>
                  <a:srgbClr val="2F2F2F"/>
                </a:solidFill>
                <a:latin typeface="Arial"/>
                <a:ea typeface="Arial"/>
              </a:rPr>
              <a:t>人工智能的进一步应用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1228084" y="3014235"/>
            <a:ext cx="2718063" cy="84561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人工智能的进一步应用将提高内容生成的智能化水平，实现更加个性化和精准的PPT生成。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>
            <a:off x="2299260" y="1556603"/>
            <a:ext cx="575710" cy="609685"/>
          </a:xfrm>
          <a:custGeom>
            <a:avLst/>
            <a:gdLst/>
            <a:ahLst/>
            <a:cxnLst/>
            <a:rect r="r" b="b" t="t" l="l"/>
            <a:pathLst>
              <a:path w="572779" h="606580" stroke="true" fill="norm" extrusionOk="true">
                <a:moveTo>
                  <a:pt x="435703" y="160183"/>
                </a:moveTo>
                <a:lnTo>
                  <a:pt x="479697" y="160183"/>
                </a:lnTo>
                <a:cubicBezTo>
                  <a:pt x="479639" y="160241"/>
                  <a:pt x="479639" y="160414"/>
                  <a:pt x="479581" y="160472"/>
                </a:cubicBezTo>
                <a:lnTo>
                  <a:pt x="479812" y="160472"/>
                </a:lnTo>
                <a:cubicBezTo>
                  <a:pt x="479407" y="161281"/>
                  <a:pt x="478713" y="162726"/>
                  <a:pt x="478713" y="162726"/>
                </a:cubicBezTo>
                <a:cubicBezTo>
                  <a:pt x="474834" y="170989"/>
                  <a:pt x="471245" y="178848"/>
                  <a:pt x="469682" y="187227"/>
                </a:cubicBezTo>
                <a:lnTo>
                  <a:pt x="474776" y="242470"/>
                </a:lnTo>
                <a:lnTo>
                  <a:pt x="494284" y="242470"/>
                </a:lnTo>
                <a:lnTo>
                  <a:pt x="510840" y="160183"/>
                </a:lnTo>
                <a:lnTo>
                  <a:pt x="527338" y="160183"/>
                </a:lnTo>
                <a:cubicBezTo>
                  <a:pt x="552345" y="160183"/>
                  <a:pt x="572663" y="180466"/>
                  <a:pt x="572779" y="205430"/>
                </a:cubicBezTo>
                <a:lnTo>
                  <a:pt x="572779" y="337413"/>
                </a:lnTo>
                <a:cubicBezTo>
                  <a:pt x="572779" y="362434"/>
                  <a:pt x="552519" y="382717"/>
                  <a:pt x="527396" y="382717"/>
                </a:cubicBezTo>
                <a:lnTo>
                  <a:pt x="521607" y="382717"/>
                </a:lnTo>
                <a:lnTo>
                  <a:pt x="521607" y="574624"/>
                </a:lnTo>
                <a:cubicBezTo>
                  <a:pt x="521607" y="592249"/>
                  <a:pt x="507251" y="606580"/>
                  <a:pt x="489595" y="606580"/>
                </a:cubicBezTo>
                <a:cubicBezTo>
                  <a:pt x="473155" y="606580"/>
                  <a:pt x="459552" y="594098"/>
                  <a:pt x="457815" y="578149"/>
                </a:cubicBezTo>
                <a:cubicBezTo>
                  <a:pt x="456021" y="594214"/>
                  <a:pt x="442417" y="606580"/>
                  <a:pt x="425978" y="606580"/>
                </a:cubicBezTo>
                <a:cubicBezTo>
                  <a:pt x="408322" y="606580"/>
                  <a:pt x="393966" y="592249"/>
                  <a:pt x="393966" y="574624"/>
                </a:cubicBezTo>
                <a:lnTo>
                  <a:pt x="393966" y="392541"/>
                </a:lnTo>
                <a:cubicBezTo>
                  <a:pt x="411506" y="380521"/>
                  <a:pt x="422967" y="360354"/>
                  <a:pt x="422967" y="337528"/>
                </a:cubicBezTo>
                <a:lnTo>
                  <a:pt x="422967" y="242528"/>
                </a:lnTo>
                <a:lnTo>
                  <a:pt x="440739" y="242528"/>
                </a:lnTo>
                <a:lnTo>
                  <a:pt x="445833" y="186996"/>
                </a:lnTo>
                <a:cubicBezTo>
                  <a:pt x="445659" y="186013"/>
                  <a:pt x="445428" y="184973"/>
                  <a:pt x="445196" y="183991"/>
                </a:cubicBezTo>
                <a:cubicBezTo>
                  <a:pt x="443459" y="176768"/>
                  <a:pt x="440276" y="169891"/>
                  <a:pt x="436860" y="162726"/>
                </a:cubicBezTo>
                <a:cubicBezTo>
                  <a:pt x="436860" y="162726"/>
                  <a:pt x="436166" y="161281"/>
                  <a:pt x="435818" y="160472"/>
                </a:cubicBezTo>
                <a:lnTo>
                  <a:pt x="435876" y="160472"/>
                </a:lnTo>
                <a:cubicBezTo>
                  <a:pt x="435818" y="160356"/>
                  <a:pt x="435818" y="160241"/>
                  <a:pt x="435703" y="160183"/>
                </a:cubicBezTo>
                <a:close/>
                <a:moveTo>
                  <a:pt x="264349" y="160183"/>
                </a:moveTo>
                <a:lnTo>
                  <a:pt x="308327" y="160183"/>
                </a:lnTo>
                <a:cubicBezTo>
                  <a:pt x="308269" y="160241"/>
                  <a:pt x="308269" y="160414"/>
                  <a:pt x="308154" y="160472"/>
                </a:cubicBezTo>
                <a:lnTo>
                  <a:pt x="308385" y="160472"/>
                </a:lnTo>
                <a:cubicBezTo>
                  <a:pt x="308038" y="161281"/>
                  <a:pt x="307344" y="162726"/>
                  <a:pt x="307344" y="162726"/>
                </a:cubicBezTo>
                <a:cubicBezTo>
                  <a:pt x="303467" y="170989"/>
                  <a:pt x="299821" y="178848"/>
                  <a:pt x="298316" y="187227"/>
                </a:cubicBezTo>
                <a:lnTo>
                  <a:pt x="303409" y="242470"/>
                </a:lnTo>
                <a:lnTo>
                  <a:pt x="322910" y="242470"/>
                </a:lnTo>
                <a:lnTo>
                  <a:pt x="339401" y="160183"/>
                </a:lnTo>
                <a:lnTo>
                  <a:pt x="355951" y="160183"/>
                </a:lnTo>
                <a:cubicBezTo>
                  <a:pt x="380949" y="160183"/>
                  <a:pt x="401202" y="180466"/>
                  <a:pt x="401376" y="205430"/>
                </a:cubicBezTo>
                <a:lnTo>
                  <a:pt x="401376" y="337413"/>
                </a:lnTo>
                <a:cubicBezTo>
                  <a:pt x="401376" y="362434"/>
                  <a:pt x="381065" y="382717"/>
                  <a:pt x="356009" y="382717"/>
                </a:cubicBezTo>
                <a:lnTo>
                  <a:pt x="350222" y="382717"/>
                </a:lnTo>
                <a:lnTo>
                  <a:pt x="350222" y="574624"/>
                </a:lnTo>
                <a:cubicBezTo>
                  <a:pt x="350222" y="592249"/>
                  <a:pt x="335872" y="606580"/>
                  <a:pt x="318222" y="606580"/>
                </a:cubicBezTo>
                <a:cubicBezTo>
                  <a:pt x="301788" y="606580"/>
                  <a:pt x="288190" y="594098"/>
                  <a:pt x="286396" y="578149"/>
                </a:cubicBezTo>
                <a:cubicBezTo>
                  <a:pt x="284660" y="594214"/>
                  <a:pt x="271062" y="606580"/>
                  <a:pt x="254628" y="606580"/>
                </a:cubicBezTo>
                <a:cubicBezTo>
                  <a:pt x="236978" y="606580"/>
                  <a:pt x="222628" y="592249"/>
                  <a:pt x="222628" y="574624"/>
                </a:cubicBezTo>
                <a:lnTo>
                  <a:pt x="222628" y="382833"/>
                </a:lnTo>
                <a:lnTo>
                  <a:pt x="216841" y="382833"/>
                </a:lnTo>
                <a:cubicBezTo>
                  <a:pt x="191727" y="382833"/>
                  <a:pt x="171474" y="362608"/>
                  <a:pt x="171474" y="337528"/>
                </a:cubicBezTo>
                <a:lnTo>
                  <a:pt x="171474" y="205545"/>
                </a:lnTo>
                <a:cubicBezTo>
                  <a:pt x="171474" y="180524"/>
                  <a:pt x="191727" y="160241"/>
                  <a:pt x="216841" y="160241"/>
                </a:cubicBezTo>
                <a:lnTo>
                  <a:pt x="233333" y="160241"/>
                </a:lnTo>
                <a:lnTo>
                  <a:pt x="249825" y="242528"/>
                </a:lnTo>
                <a:lnTo>
                  <a:pt x="269383" y="242528"/>
                </a:lnTo>
                <a:lnTo>
                  <a:pt x="274476" y="186996"/>
                </a:lnTo>
                <a:cubicBezTo>
                  <a:pt x="274302" y="186013"/>
                  <a:pt x="274071" y="184973"/>
                  <a:pt x="273839" y="183991"/>
                </a:cubicBezTo>
                <a:cubicBezTo>
                  <a:pt x="272045" y="176768"/>
                  <a:pt x="268921" y="169891"/>
                  <a:pt x="265506" y="162726"/>
                </a:cubicBezTo>
                <a:cubicBezTo>
                  <a:pt x="265506" y="162726"/>
                  <a:pt x="264812" y="161281"/>
                  <a:pt x="264407" y="160472"/>
                </a:cubicBezTo>
                <a:lnTo>
                  <a:pt x="264523" y="160472"/>
                </a:lnTo>
                <a:cubicBezTo>
                  <a:pt x="264407" y="160356"/>
                  <a:pt x="264407" y="160241"/>
                  <a:pt x="264349" y="160183"/>
                </a:cubicBezTo>
                <a:close/>
                <a:moveTo>
                  <a:pt x="92987" y="160183"/>
                </a:moveTo>
                <a:lnTo>
                  <a:pt x="136964" y="160183"/>
                </a:lnTo>
                <a:cubicBezTo>
                  <a:pt x="136848" y="160241"/>
                  <a:pt x="136848" y="160414"/>
                  <a:pt x="136791" y="160472"/>
                </a:cubicBezTo>
                <a:lnTo>
                  <a:pt x="137022" y="160472"/>
                </a:lnTo>
                <a:cubicBezTo>
                  <a:pt x="136617" y="161281"/>
                  <a:pt x="135923" y="162726"/>
                  <a:pt x="135923" y="162726"/>
                </a:cubicBezTo>
                <a:cubicBezTo>
                  <a:pt x="132104" y="170989"/>
                  <a:pt x="128458" y="178848"/>
                  <a:pt x="126896" y="187227"/>
                </a:cubicBezTo>
                <a:lnTo>
                  <a:pt x="131988" y="242470"/>
                </a:lnTo>
                <a:lnTo>
                  <a:pt x="149752" y="242470"/>
                </a:lnTo>
                <a:lnTo>
                  <a:pt x="149752" y="337471"/>
                </a:lnTo>
                <a:cubicBezTo>
                  <a:pt x="149752" y="360296"/>
                  <a:pt x="161267" y="380406"/>
                  <a:pt x="178742" y="392483"/>
                </a:cubicBezTo>
                <a:lnTo>
                  <a:pt x="178742" y="574624"/>
                </a:lnTo>
                <a:cubicBezTo>
                  <a:pt x="178742" y="592249"/>
                  <a:pt x="164392" y="606580"/>
                  <a:pt x="146743" y="606580"/>
                </a:cubicBezTo>
                <a:cubicBezTo>
                  <a:pt x="130310" y="606580"/>
                  <a:pt x="116712" y="594098"/>
                  <a:pt x="114976" y="578149"/>
                </a:cubicBezTo>
                <a:cubicBezTo>
                  <a:pt x="113182" y="594214"/>
                  <a:pt x="99584" y="606580"/>
                  <a:pt x="83151" y="606580"/>
                </a:cubicBezTo>
                <a:cubicBezTo>
                  <a:pt x="65502" y="606580"/>
                  <a:pt x="51152" y="592249"/>
                  <a:pt x="51152" y="574624"/>
                </a:cubicBezTo>
                <a:lnTo>
                  <a:pt x="51152" y="382833"/>
                </a:lnTo>
                <a:lnTo>
                  <a:pt x="45365" y="382833"/>
                </a:lnTo>
                <a:cubicBezTo>
                  <a:pt x="20310" y="382833"/>
                  <a:pt x="0" y="362608"/>
                  <a:pt x="0" y="337528"/>
                </a:cubicBezTo>
                <a:lnTo>
                  <a:pt x="0" y="205545"/>
                </a:lnTo>
                <a:cubicBezTo>
                  <a:pt x="0" y="180524"/>
                  <a:pt x="20310" y="160241"/>
                  <a:pt x="45365" y="160241"/>
                </a:cubicBezTo>
                <a:lnTo>
                  <a:pt x="61972" y="160241"/>
                </a:lnTo>
                <a:lnTo>
                  <a:pt x="78464" y="242528"/>
                </a:lnTo>
                <a:lnTo>
                  <a:pt x="97964" y="242528"/>
                </a:lnTo>
                <a:lnTo>
                  <a:pt x="103056" y="186996"/>
                </a:lnTo>
                <a:cubicBezTo>
                  <a:pt x="102940" y="186013"/>
                  <a:pt x="102709" y="184973"/>
                  <a:pt x="102477" y="183991"/>
                </a:cubicBezTo>
                <a:cubicBezTo>
                  <a:pt x="100683" y="176768"/>
                  <a:pt x="97501" y="169891"/>
                  <a:pt x="94145" y="162726"/>
                </a:cubicBezTo>
                <a:cubicBezTo>
                  <a:pt x="94145" y="162726"/>
                  <a:pt x="93450" y="161281"/>
                  <a:pt x="93045" y="160472"/>
                </a:cubicBezTo>
                <a:lnTo>
                  <a:pt x="93103" y="160472"/>
                </a:lnTo>
                <a:cubicBezTo>
                  <a:pt x="93045" y="160356"/>
                  <a:pt x="93045" y="160241"/>
                  <a:pt x="92987" y="160183"/>
                </a:cubicBezTo>
                <a:close/>
                <a:moveTo>
                  <a:pt x="457411" y="751"/>
                </a:moveTo>
                <a:lnTo>
                  <a:pt x="458047" y="751"/>
                </a:lnTo>
                <a:cubicBezTo>
                  <a:pt x="488012" y="751"/>
                  <a:pt x="514158" y="20971"/>
                  <a:pt x="521621" y="49915"/>
                </a:cubicBezTo>
                <a:cubicBezTo>
                  <a:pt x="523009" y="55403"/>
                  <a:pt x="523761" y="61007"/>
                  <a:pt x="523761" y="66553"/>
                </a:cubicBezTo>
                <a:cubicBezTo>
                  <a:pt x="523761" y="102718"/>
                  <a:pt x="494317" y="132124"/>
                  <a:pt x="458105" y="132124"/>
                </a:cubicBezTo>
                <a:lnTo>
                  <a:pt x="457469" y="132124"/>
                </a:lnTo>
                <a:cubicBezTo>
                  <a:pt x="427504" y="132124"/>
                  <a:pt x="401358" y="111904"/>
                  <a:pt x="393895" y="82960"/>
                </a:cubicBezTo>
                <a:cubicBezTo>
                  <a:pt x="392507" y="77472"/>
                  <a:pt x="391755" y="71868"/>
                  <a:pt x="391755" y="66322"/>
                </a:cubicBezTo>
                <a:cubicBezTo>
                  <a:pt x="391755" y="30157"/>
                  <a:pt x="421199" y="751"/>
                  <a:pt x="457411" y="751"/>
                </a:cubicBezTo>
                <a:close/>
                <a:moveTo>
                  <a:pt x="285868" y="751"/>
                </a:moveTo>
                <a:lnTo>
                  <a:pt x="286621" y="751"/>
                </a:lnTo>
                <a:cubicBezTo>
                  <a:pt x="316601" y="751"/>
                  <a:pt x="342761" y="20971"/>
                  <a:pt x="350227" y="49915"/>
                </a:cubicBezTo>
                <a:cubicBezTo>
                  <a:pt x="351674" y="55403"/>
                  <a:pt x="352369" y="61007"/>
                  <a:pt x="352369" y="66553"/>
                </a:cubicBezTo>
                <a:cubicBezTo>
                  <a:pt x="352369" y="102718"/>
                  <a:pt x="322909" y="132124"/>
                  <a:pt x="286736" y="132124"/>
                </a:cubicBezTo>
                <a:lnTo>
                  <a:pt x="286100" y="132124"/>
                </a:lnTo>
                <a:cubicBezTo>
                  <a:pt x="256119" y="132124"/>
                  <a:pt x="229959" y="111846"/>
                  <a:pt x="222493" y="82845"/>
                </a:cubicBezTo>
                <a:cubicBezTo>
                  <a:pt x="221046" y="77414"/>
                  <a:pt x="220351" y="71810"/>
                  <a:pt x="220351" y="66264"/>
                </a:cubicBezTo>
                <a:cubicBezTo>
                  <a:pt x="220351" y="30157"/>
                  <a:pt x="249753" y="751"/>
                  <a:pt x="285868" y="751"/>
                </a:cubicBezTo>
                <a:close/>
                <a:moveTo>
                  <a:pt x="114639" y="751"/>
                </a:moveTo>
                <a:lnTo>
                  <a:pt x="115275" y="751"/>
                </a:lnTo>
                <a:cubicBezTo>
                  <a:pt x="145256" y="751"/>
                  <a:pt x="171416" y="20971"/>
                  <a:pt x="178882" y="49915"/>
                </a:cubicBezTo>
                <a:cubicBezTo>
                  <a:pt x="180329" y="55403"/>
                  <a:pt x="181024" y="61007"/>
                  <a:pt x="181024" y="66553"/>
                </a:cubicBezTo>
                <a:cubicBezTo>
                  <a:pt x="181024" y="102718"/>
                  <a:pt x="151564" y="132124"/>
                  <a:pt x="115333" y="132124"/>
                </a:cubicBezTo>
                <a:lnTo>
                  <a:pt x="114754" y="132124"/>
                </a:lnTo>
                <a:cubicBezTo>
                  <a:pt x="84774" y="132124"/>
                  <a:pt x="58614" y="111904"/>
                  <a:pt x="51148" y="82960"/>
                </a:cubicBezTo>
                <a:cubicBezTo>
                  <a:pt x="49701" y="77472"/>
                  <a:pt x="49006" y="71868"/>
                  <a:pt x="49006" y="66322"/>
                </a:cubicBezTo>
                <a:cubicBezTo>
                  <a:pt x="49006" y="30157"/>
                  <a:pt x="78466" y="751"/>
                  <a:pt x="114639" y="751"/>
                </a:cubicBezTo>
                <a:close/>
                <a:moveTo>
                  <a:pt x="457410" y="423"/>
                </a:moveTo>
                <a:cubicBezTo>
                  <a:pt x="420880" y="423"/>
                  <a:pt x="391355" y="29894"/>
                  <a:pt x="391355" y="66356"/>
                </a:cubicBezTo>
                <a:cubicBezTo>
                  <a:pt x="391355" y="72135"/>
                  <a:pt x="392108" y="77740"/>
                  <a:pt x="393497" y="83056"/>
                </a:cubicBezTo>
                <a:cubicBezTo>
                  <a:pt x="400849" y="111487"/>
                  <a:pt x="426669" y="132521"/>
                  <a:pt x="457468" y="132521"/>
                </a:cubicBezTo>
                <a:lnTo>
                  <a:pt x="457815" y="132521"/>
                </a:lnTo>
                <a:lnTo>
                  <a:pt x="458104" y="132521"/>
                </a:lnTo>
                <a:cubicBezTo>
                  <a:pt x="494634" y="132521"/>
                  <a:pt x="524159" y="103050"/>
                  <a:pt x="524159" y="66587"/>
                </a:cubicBezTo>
                <a:cubicBezTo>
                  <a:pt x="524159" y="60809"/>
                  <a:pt x="523406" y="55204"/>
                  <a:pt x="522017" y="49887"/>
                </a:cubicBezTo>
                <a:cubicBezTo>
                  <a:pt x="514665" y="21457"/>
                  <a:pt x="488845" y="423"/>
                  <a:pt x="458046" y="423"/>
                </a:cubicBezTo>
                <a:lnTo>
                  <a:pt x="457699" y="423"/>
                </a:lnTo>
                <a:close/>
                <a:moveTo>
                  <a:pt x="114646" y="423"/>
                </a:moveTo>
                <a:cubicBezTo>
                  <a:pt x="78190" y="423"/>
                  <a:pt x="48620" y="29894"/>
                  <a:pt x="48620" y="66356"/>
                </a:cubicBezTo>
                <a:cubicBezTo>
                  <a:pt x="48620" y="72135"/>
                  <a:pt x="49372" y="77740"/>
                  <a:pt x="50761" y="83056"/>
                </a:cubicBezTo>
                <a:cubicBezTo>
                  <a:pt x="58110" y="111487"/>
                  <a:pt x="83977" y="132521"/>
                  <a:pt x="114762" y="132521"/>
                </a:cubicBezTo>
                <a:lnTo>
                  <a:pt x="115051" y="132521"/>
                </a:lnTo>
                <a:lnTo>
                  <a:pt x="115340" y="132521"/>
                </a:lnTo>
                <a:cubicBezTo>
                  <a:pt x="151854" y="132521"/>
                  <a:pt x="181424" y="103050"/>
                  <a:pt x="181424" y="66587"/>
                </a:cubicBezTo>
                <a:cubicBezTo>
                  <a:pt x="181424" y="60809"/>
                  <a:pt x="180614" y="55204"/>
                  <a:pt x="179225" y="49887"/>
                </a:cubicBezTo>
                <a:cubicBezTo>
                  <a:pt x="171934" y="21457"/>
                  <a:pt x="146067" y="423"/>
                  <a:pt x="115282" y="423"/>
                </a:cubicBezTo>
                <a:lnTo>
                  <a:pt x="114993" y="423"/>
                </a:lnTo>
                <a:close/>
                <a:moveTo>
                  <a:pt x="286036" y="397"/>
                </a:moveTo>
                <a:cubicBezTo>
                  <a:pt x="249522" y="282"/>
                  <a:pt x="219952" y="29874"/>
                  <a:pt x="219952" y="66286"/>
                </a:cubicBezTo>
                <a:cubicBezTo>
                  <a:pt x="219952" y="72066"/>
                  <a:pt x="220762" y="77672"/>
                  <a:pt x="222151" y="82990"/>
                </a:cubicBezTo>
                <a:cubicBezTo>
                  <a:pt x="229442" y="111484"/>
                  <a:pt x="255309" y="132522"/>
                  <a:pt x="286094" y="132522"/>
                </a:cubicBezTo>
                <a:lnTo>
                  <a:pt x="286383" y="132522"/>
                </a:lnTo>
                <a:lnTo>
                  <a:pt x="286730" y="132522"/>
                </a:lnTo>
                <a:cubicBezTo>
                  <a:pt x="323186" y="132522"/>
                  <a:pt x="352756" y="103045"/>
                  <a:pt x="352756" y="66575"/>
                </a:cubicBezTo>
                <a:cubicBezTo>
                  <a:pt x="352756" y="60796"/>
                  <a:pt x="352004" y="55189"/>
                  <a:pt x="350615" y="49872"/>
                </a:cubicBezTo>
                <a:cubicBezTo>
                  <a:pt x="343266" y="21436"/>
                  <a:pt x="317399" y="397"/>
                  <a:pt x="286614" y="397"/>
                </a:cubicBezTo>
                <a:lnTo>
                  <a:pt x="286325" y="397"/>
                </a:lnTo>
                <a:close/>
                <a:moveTo>
                  <a:pt x="457411" y="0"/>
                </a:moveTo>
                <a:lnTo>
                  <a:pt x="458047" y="0"/>
                </a:lnTo>
                <a:cubicBezTo>
                  <a:pt x="488359" y="0"/>
                  <a:pt x="514795" y="20451"/>
                  <a:pt x="522315" y="49741"/>
                </a:cubicBezTo>
                <a:cubicBezTo>
                  <a:pt x="523761" y="55230"/>
                  <a:pt x="524513" y="60891"/>
                  <a:pt x="524513" y="66553"/>
                </a:cubicBezTo>
                <a:cubicBezTo>
                  <a:pt x="524513" y="103122"/>
                  <a:pt x="494722" y="132875"/>
                  <a:pt x="458105" y="132875"/>
                </a:cubicBezTo>
                <a:lnTo>
                  <a:pt x="457469" y="132875"/>
                </a:lnTo>
                <a:cubicBezTo>
                  <a:pt x="427157" y="132875"/>
                  <a:pt x="400721" y="112424"/>
                  <a:pt x="393201" y="83133"/>
                </a:cubicBezTo>
                <a:cubicBezTo>
                  <a:pt x="391755" y="77645"/>
                  <a:pt x="391003" y="71983"/>
                  <a:pt x="391003" y="66322"/>
                </a:cubicBezTo>
                <a:cubicBezTo>
                  <a:pt x="391003" y="29752"/>
                  <a:pt x="420794" y="0"/>
                  <a:pt x="457411" y="0"/>
                </a:cubicBezTo>
                <a:close/>
                <a:moveTo>
                  <a:pt x="285868" y="0"/>
                </a:moveTo>
                <a:lnTo>
                  <a:pt x="286621" y="0"/>
                </a:lnTo>
                <a:cubicBezTo>
                  <a:pt x="316948" y="0"/>
                  <a:pt x="343456" y="20451"/>
                  <a:pt x="350980" y="49741"/>
                </a:cubicBezTo>
                <a:cubicBezTo>
                  <a:pt x="352427" y="55287"/>
                  <a:pt x="353179" y="60891"/>
                  <a:pt x="353179" y="66553"/>
                </a:cubicBezTo>
                <a:cubicBezTo>
                  <a:pt x="353179" y="103122"/>
                  <a:pt x="323372" y="132875"/>
                  <a:pt x="286736" y="132875"/>
                </a:cubicBezTo>
                <a:lnTo>
                  <a:pt x="286100" y="132875"/>
                </a:lnTo>
                <a:cubicBezTo>
                  <a:pt x="255772" y="132875"/>
                  <a:pt x="229322" y="112366"/>
                  <a:pt x="221740" y="83076"/>
                </a:cubicBezTo>
                <a:cubicBezTo>
                  <a:pt x="220294" y="77530"/>
                  <a:pt x="219599" y="71868"/>
                  <a:pt x="219599" y="66264"/>
                </a:cubicBezTo>
                <a:cubicBezTo>
                  <a:pt x="219599" y="29695"/>
                  <a:pt x="249348" y="0"/>
                  <a:pt x="285868" y="0"/>
                </a:cubicBezTo>
                <a:close/>
                <a:moveTo>
                  <a:pt x="114639" y="0"/>
                </a:moveTo>
                <a:lnTo>
                  <a:pt x="115275" y="0"/>
                </a:lnTo>
                <a:cubicBezTo>
                  <a:pt x="145603" y="0"/>
                  <a:pt x="172053" y="20451"/>
                  <a:pt x="179635" y="49741"/>
                </a:cubicBezTo>
                <a:cubicBezTo>
                  <a:pt x="181081" y="55230"/>
                  <a:pt x="181776" y="60891"/>
                  <a:pt x="181776" y="66553"/>
                </a:cubicBezTo>
                <a:cubicBezTo>
                  <a:pt x="181776" y="103122"/>
                  <a:pt x="151969" y="132875"/>
                  <a:pt x="115333" y="132875"/>
                </a:cubicBezTo>
                <a:lnTo>
                  <a:pt x="114754" y="132875"/>
                </a:lnTo>
                <a:cubicBezTo>
                  <a:pt x="84427" y="132875"/>
                  <a:pt x="57919" y="112424"/>
                  <a:pt x="50395" y="83133"/>
                </a:cubicBezTo>
                <a:cubicBezTo>
                  <a:pt x="48948" y="77645"/>
                  <a:pt x="48196" y="71983"/>
                  <a:pt x="48196" y="66322"/>
                </a:cubicBezTo>
                <a:cubicBezTo>
                  <a:pt x="48196" y="29752"/>
                  <a:pt x="78003" y="0"/>
                  <a:pt x="114639" y="0"/>
                </a:cubicBezTo>
                <a:close/>
              </a:path>
            </a:pathLst>
          </a:custGeom>
          <a:solidFill>
            <a:srgbClr val="2F2F2F">
              <a:lumMod val="50000"/>
              <a:lumOff val="50000"/>
            </a:srgbClr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Freeform 7" id="7"/>
          <p:cNvSpPr/>
          <p:nvPr/>
        </p:nvSpPr>
        <p:spPr>
          <a:xfrm>
            <a:off x="5890032" y="1556603"/>
            <a:ext cx="575710" cy="609685"/>
          </a:xfrm>
          <a:custGeom>
            <a:avLst/>
            <a:gdLst/>
            <a:ahLst/>
            <a:cxnLst/>
            <a:rect r="r" b="b" t="t" l="l"/>
            <a:pathLst>
              <a:path w="572779" h="606580" stroke="true" fill="norm" extrusionOk="true">
                <a:moveTo>
                  <a:pt x="435703" y="160183"/>
                </a:moveTo>
                <a:lnTo>
                  <a:pt x="479697" y="160183"/>
                </a:lnTo>
                <a:cubicBezTo>
                  <a:pt x="479639" y="160241"/>
                  <a:pt x="479639" y="160414"/>
                  <a:pt x="479581" y="160472"/>
                </a:cubicBezTo>
                <a:lnTo>
                  <a:pt x="479812" y="160472"/>
                </a:lnTo>
                <a:cubicBezTo>
                  <a:pt x="479407" y="161281"/>
                  <a:pt x="478713" y="162726"/>
                  <a:pt x="478713" y="162726"/>
                </a:cubicBezTo>
                <a:cubicBezTo>
                  <a:pt x="474834" y="170989"/>
                  <a:pt x="471245" y="178848"/>
                  <a:pt x="469682" y="187227"/>
                </a:cubicBezTo>
                <a:lnTo>
                  <a:pt x="474776" y="242470"/>
                </a:lnTo>
                <a:lnTo>
                  <a:pt x="494284" y="242470"/>
                </a:lnTo>
                <a:lnTo>
                  <a:pt x="510840" y="160183"/>
                </a:lnTo>
                <a:lnTo>
                  <a:pt x="527338" y="160183"/>
                </a:lnTo>
                <a:cubicBezTo>
                  <a:pt x="552345" y="160183"/>
                  <a:pt x="572663" y="180466"/>
                  <a:pt x="572779" y="205430"/>
                </a:cubicBezTo>
                <a:lnTo>
                  <a:pt x="572779" y="337413"/>
                </a:lnTo>
                <a:cubicBezTo>
                  <a:pt x="572779" y="362434"/>
                  <a:pt x="552519" y="382717"/>
                  <a:pt x="527396" y="382717"/>
                </a:cubicBezTo>
                <a:lnTo>
                  <a:pt x="521607" y="382717"/>
                </a:lnTo>
                <a:lnTo>
                  <a:pt x="521607" y="574624"/>
                </a:lnTo>
                <a:cubicBezTo>
                  <a:pt x="521607" y="592249"/>
                  <a:pt x="507251" y="606580"/>
                  <a:pt x="489595" y="606580"/>
                </a:cubicBezTo>
                <a:cubicBezTo>
                  <a:pt x="473155" y="606580"/>
                  <a:pt x="459552" y="594098"/>
                  <a:pt x="457815" y="578149"/>
                </a:cubicBezTo>
                <a:cubicBezTo>
                  <a:pt x="456021" y="594214"/>
                  <a:pt x="442417" y="606580"/>
                  <a:pt x="425978" y="606580"/>
                </a:cubicBezTo>
                <a:cubicBezTo>
                  <a:pt x="408322" y="606580"/>
                  <a:pt x="393966" y="592249"/>
                  <a:pt x="393966" y="574624"/>
                </a:cubicBezTo>
                <a:lnTo>
                  <a:pt x="393966" y="392541"/>
                </a:lnTo>
                <a:cubicBezTo>
                  <a:pt x="411506" y="380521"/>
                  <a:pt x="422967" y="360354"/>
                  <a:pt x="422967" y="337528"/>
                </a:cubicBezTo>
                <a:lnTo>
                  <a:pt x="422967" y="242528"/>
                </a:lnTo>
                <a:lnTo>
                  <a:pt x="440739" y="242528"/>
                </a:lnTo>
                <a:lnTo>
                  <a:pt x="445833" y="186996"/>
                </a:lnTo>
                <a:cubicBezTo>
                  <a:pt x="445659" y="186013"/>
                  <a:pt x="445428" y="184973"/>
                  <a:pt x="445196" y="183991"/>
                </a:cubicBezTo>
                <a:cubicBezTo>
                  <a:pt x="443459" y="176768"/>
                  <a:pt x="440276" y="169891"/>
                  <a:pt x="436860" y="162726"/>
                </a:cubicBezTo>
                <a:cubicBezTo>
                  <a:pt x="436860" y="162726"/>
                  <a:pt x="436166" y="161281"/>
                  <a:pt x="435818" y="160472"/>
                </a:cubicBezTo>
                <a:lnTo>
                  <a:pt x="435876" y="160472"/>
                </a:lnTo>
                <a:cubicBezTo>
                  <a:pt x="435818" y="160356"/>
                  <a:pt x="435818" y="160241"/>
                  <a:pt x="435703" y="160183"/>
                </a:cubicBezTo>
                <a:close/>
                <a:moveTo>
                  <a:pt x="264349" y="160183"/>
                </a:moveTo>
                <a:lnTo>
                  <a:pt x="308327" y="160183"/>
                </a:lnTo>
                <a:cubicBezTo>
                  <a:pt x="308269" y="160241"/>
                  <a:pt x="308269" y="160414"/>
                  <a:pt x="308154" y="160472"/>
                </a:cubicBezTo>
                <a:lnTo>
                  <a:pt x="308385" y="160472"/>
                </a:lnTo>
                <a:cubicBezTo>
                  <a:pt x="308038" y="161281"/>
                  <a:pt x="307344" y="162726"/>
                  <a:pt x="307344" y="162726"/>
                </a:cubicBezTo>
                <a:cubicBezTo>
                  <a:pt x="303467" y="170989"/>
                  <a:pt x="299821" y="178848"/>
                  <a:pt x="298316" y="187227"/>
                </a:cubicBezTo>
                <a:lnTo>
                  <a:pt x="303409" y="242470"/>
                </a:lnTo>
                <a:lnTo>
                  <a:pt x="322910" y="242470"/>
                </a:lnTo>
                <a:lnTo>
                  <a:pt x="339401" y="160183"/>
                </a:lnTo>
                <a:lnTo>
                  <a:pt x="355951" y="160183"/>
                </a:lnTo>
                <a:cubicBezTo>
                  <a:pt x="380949" y="160183"/>
                  <a:pt x="401202" y="180466"/>
                  <a:pt x="401376" y="205430"/>
                </a:cubicBezTo>
                <a:lnTo>
                  <a:pt x="401376" y="337413"/>
                </a:lnTo>
                <a:cubicBezTo>
                  <a:pt x="401376" y="362434"/>
                  <a:pt x="381065" y="382717"/>
                  <a:pt x="356009" y="382717"/>
                </a:cubicBezTo>
                <a:lnTo>
                  <a:pt x="350222" y="382717"/>
                </a:lnTo>
                <a:lnTo>
                  <a:pt x="350222" y="574624"/>
                </a:lnTo>
                <a:cubicBezTo>
                  <a:pt x="350222" y="592249"/>
                  <a:pt x="335872" y="606580"/>
                  <a:pt x="318222" y="606580"/>
                </a:cubicBezTo>
                <a:cubicBezTo>
                  <a:pt x="301788" y="606580"/>
                  <a:pt x="288190" y="594098"/>
                  <a:pt x="286396" y="578149"/>
                </a:cubicBezTo>
                <a:cubicBezTo>
                  <a:pt x="284660" y="594214"/>
                  <a:pt x="271062" y="606580"/>
                  <a:pt x="254628" y="606580"/>
                </a:cubicBezTo>
                <a:cubicBezTo>
                  <a:pt x="236978" y="606580"/>
                  <a:pt x="222628" y="592249"/>
                  <a:pt x="222628" y="574624"/>
                </a:cubicBezTo>
                <a:lnTo>
                  <a:pt x="222628" y="382833"/>
                </a:lnTo>
                <a:lnTo>
                  <a:pt x="216841" y="382833"/>
                </a:lnTo>
                <a:cubicBezTo>
                  <a:pt x="191727" y="382833"/>
                  <a:pt x="171474" y="362608"/>
                  <a:pt x="171474" y="337528"/>
                </a:cubicBezTo>
                <a:lnTo>
                  <a:pt x="171474" y="205545"/>
                </a:lnTo>
                <a:cubicBezTo>
                  <a:pt x="171474" y="180524"/>
                  <a:pt x="191727" y="160241"/>
                  <a:pt x="216841" y="160241"/>
                </a:cubicBezTo>
                <a:lnTo>
                  <a:pt x="233333" y="160241"/>
                </a:lnTo>
                <a:lnTo>
                  <a:pt x="249825" y="242528"/>
                </a:lnTo>
                <a:lnTo>
                  <a:pt x="269383" y="242528"/>
                </a:lnTo>
                <a:lnTo>
                  <a:pt x="274476" y="186996"/>
                </a:lnTo>
                <a:cubicBezTo>
                  <a:pt x="274302" y="186013"/>
                  <a:pt x="274071" y="184973"/>
                  <a:pt x="273839" y="183991"/>
                </a:cubicBezTo>
                <a:cubicBezTo>
                  <a:pt x="272045" y="176768"/>
                  <a:pt x="268921" y="169891"/>
                  <a:pt x="265506" y="162726"/>
                </a:cubicBezTo>
                <a:cubicBezTo>
                  <a:pt x="265506" y="162726"/>
                  <a:pt x="264812" y="161281"/>
                  <a:pt x="264407" y="160472"/>
                </a:cubicBezTo>
                <a:lnTo>
                  <a:pt x="264523" y="160472"/>
                </a:lnTo>
                <a:cubicBezTo>
                  <a:pt x="264407" y="160356"/>
                  <a:pt x="264407" y="160241"/>
                  <a:pt x="264349" y="160183"/>
                </a:cubicBezTo>
                <a:close/>
                <a:moveTo>
                  <a:pt x="92987" y="160183"/>
                </a:moveTo>
                <a:lnTo>
                  <a:pt x="136964" y="160183"/>
                </a:lnTo>
                <a:cubicBezTo>
                  <a:pt x="136848" y="160241"/>
                  <a:pt x="136848" y="160414"/>
                  <a:pt x="136791" y="160472"/>
                </a:cubicBezTo>
                <a:lnTo>
                  <a:pt x="137022" y="160472"/>
                </a:lnTo>
                <a:cubicBezTo>
                  <a:pt x="136617" y="161281"/>
                  <a:pt x="135923" y="162726"/>
                  <a:pt x="135923" y="162726"/>
                </a:cubicBezTo>
                <a:cubicBezTo>
                  <a:pt x="132104" y="170989"/>
                  <a:pt x="128458" y="178848"/>
                  <a:pt x="126896" y="187227"/>
                </a:cubicBezTo>
                <a:lnTo>
                  <a:pt x="131988" y="242470"/>
                </a:lnTo>
                <a:lnTo>
                  <a:pt x="149752" y="242470"/>
                </a:lnTo>
                <a:lnTo>
                  <a:pt x="149752" y="337471"/>
                </a:lnTo>
                <a:cubicBezTo>
                  <a:pt x="149752" y="360296"/>
                  <a:pt x="161267" y="380406"/>
                  <a:pt x="178742" y="392483"/>
                </a:cubicBezTo>
                <a:lnTo>
                  <a:pt x="178742" y="574624"/>
                </a:lnTo>
                <a:cubicBezTo>
                  <a:pt x="178742" y="592249"/>
                  <a:pt x="164392" y="606580"/>
                  <a:pt x="146743" y="606580"/>
                </a:cubicBezTo>
                <a:cubicBezTo>
                  <a:pt x="130310" y="606580"/>
                  <a:pt x="116712" y="594098"/>
                  <a:pt x="114976" y="578149"/>
                </a:cubicBezTo>
                <a:cubicBezTo>
                  <a:pt x="113182" y="594214"/>
                  <a:pt x="99584" y="606580"/>
                  <a:pt x="83151" y="606580"/>
                </a:cubicBezTo>
                <a:cubicBezTo>
                  <a:pt x="65502" y="606580"/>
                  <a:pt x="51152" y="592249"/>
                  <a:pt x="51152" y="574624"/>
                </a:cubicBezTo>
                <a:lnTo>
                  <a:pt x="51152" y="382833"/>
                </a:lnTo>
                <a:lnTo>
                  <a:pt x="45365" y="382833"/>
                </a:lnTo>
                <a:cubicBezTo>
                  <a:pt x="20310" y="382833"/>
                  <a:pt x="0" y="362608"/>
                  <a:pt x="0" y="337528"/>
                </a:cubicBezTo>
                <a:lnTo>
                  <a:pt x="0" y="205545"/>
                </a:lnTo>
                <a:cubicBezTo>
                  <a:pt x="0" y="180524"/>
                  <a:pt x="20310" y="160241"/>
                  <a:pt x="45365" y="160241"/>
                </a:cubicBezTo>
                <a:lnTo>
                  <a:pt x="61972" y="160241"/>
                </a:lnTo>
                <a:lnTo>
                  <a:pt x="78464" y="242528"/>
                </a:lnTo>
                <a:lnTo>
                  <a:pt x="97964" y="242528"/>
                </a:lnTo>
                <a:lnTo>
                  <a:pt x="103056" y="186996"/>
                </a:lnTo>
                <a:cubicBezTo>
                  <a:pt x="102940" y="186013"/>
                  <a:pt x="102709" y="184973"/>
                  <a:pt x="102477" y="183991"/>
                </a:cubicBezTo>
                <a:cubicBezTo>
                  <a:pt x="100683" y="176768"/>
                  <a:pt x="97501" y="169891"/>
                  <a:pt x="94145" y="162726"/>
                </a:cubicBezTo>
                <a:cubicBezTo>
                  <a:pt x="94145" y="162726"/>
                  <a:pt x="93450" y="161281"/>
                  <a:pt x="93045" y="160472"/>
                </a:cubicBezTo>
                <a:lnTo>
                  <a:pt x="93103" y="160472"/>
                </a:lnTo>
                <a:cubicBezTo>
                  <a:pt x="93045" y="160356"/>
                  <a:pt x="93045" y="160241"/>
                  <a:pt x="92987" y="160183"/>
                </a:cubicBezTo>
                <a:close/>
                <a:moveTo>
                  <a:pt x="457411" y="751"/>
                </a:moveTo>
                <a:lnTo>
                  <a:pt x="458047" y="751"/>
                </a:lnTo>
                <a:cubicBezTo>
                  <a:pt x="488012" y="751"/>
                  <a:pt x="514158" y="20971"/>
                  <a:pt x="521621" y="49915"/>
                </a:cubicBezTo>
                <a:cubicBezTo>
                  <a:pt x="523009" y="55403"/>
                  <a:pt x="523761" y="61007"/>
                  <a:pt x="523761" y="66553"/>
                </a:cubicBezTo>
                <a:cubicBezTo>
                  <a:pt x="523761" y="102718"/>
                  <a:pt x="494317" y="132124"/>
                  <a:pt x="458105" y="132124"/>
                </a:cubicBezTo>
                <a:lnTo>
                  <a:pt x="457469" y="132124"/>
                </a:lnTo>
                <a:cubicBezTo>
                  <a:pt x="427504" y="132124"/>
                  <a:pt x="401358" y="111904"/>
                  <a:pt x="393895" y="82960"/>
                </a:cubicBezTo>
                <a:cubicBezTo>
                  <a:pt x="392507" y="77472"/>
                  <a:pt x="391755" y="71868"/>
                  <a:pt x="391755" y="66322"/>
                </a:cubicBezTo>
                <a:cubicBezTo>
                  <a:pt x="391755" y="30157"/>
                  <a:pt x="421199" y="751"/>
                  <a:pt x="457411" y="751"/>
                </a:cubicBezTo>
                <a:close/>
                <a:moveTo>
                  <a:pt x="285868" y="751"/>
                </a:moveTo>
                <a:lnTo>
                  <a:pt x="286621" y="751"/>
                </a:lnTo>
                <a:cubicBezTo>
                  <a:pt x="316601" y="751"/>
                  <a:pt x="342761" y="20971"/>
                  <a:pt x="350227" y="49915"/>
                </a:cubicBezTo>
                <a:cubicBezTo>
                  <a:pt x="351674" y="55403"/>
                  <a:pt x="352369" y="61007"/>
                  <a:pt x="352369" y="66553"/>
                </a:cubicBezTo>
                <a:cubicBezTo>
                  <a:pt x="352369" y="102718"/>
                  <a:pt x="322909" y="132124"/>
                  <a:pt x="286736" y="132124"/>
                </a:cubicBezTo>
                <a:lnTo>
                  <a:pt x="286100" y="132124"/>
                </a:lnTo>
                <a:cubicBezTo>
                  <a:pt x="256119" y="132124"/>
                  <a:pt x="229959" y="111846"/>
                  <a:pt x="222493" y="82845"/>
                </a:cubicBezTo>
                <a:cubicBezTo>
                  <a:pt x="221046" y="77414"/>
                  <a:pt x="220351" y="71810"/>
                  <a:pt x="220351" y="66264"/>
                </a:cubicBezTo>
                <a:cubicBezTo>
                  <a:pt x="220351" y="30157"/>
                  <a:pt x="249753" y="751"/>
                  <a:pt x="285868" y="751"/>
                </a:cubicBezTo>
                <a:close/>
                <a:moveTo>
                  <a:pt x="114639" y="751"/>
                </a:moveTo>
                <a:lnTo>
                  <a:pt x="115275" y="751"/>
                </a:lnTo>
                <a:cubicBezTo>
                  <a:pt x="145256" y="751"/>
                  <a:pt x="171416" y="20971"/>
                  <a:pt x="178882" y="49915"/>
                </a:cubicBezTo>
                <a:cubicBezTo>
                  <a:pt x="180329" y="55403"/>
                  <a:pt x="181024" y="61007"/>
                  <a:pt x="181024" y="66553"/>
                </a:cubicBezTo>
                <a:cubicBezTo>
                  <a:pt x="181024" y="102718"/>
                  <a:pt x="151564" y="132124"/>
                  <a:pt x="115333" y="132124"/>
                </a:cubicBezTo>
                <a:lnTo>
                  <a:pt x="114754" y="132124"/>
                </a:lnTo>
                <a:cubicBezTo>
                  <a:pt x="84774" y="132124"/>
                  <a:pt x="58614" y="111904"/>
                  <a:pt x="51148" y="82960"/>
                </a:cubicBezTo>
                <a:cubicBezTo>
                  <a:pt x="49701" y="77472"/>
                  <a:pt x="49006" y="71868"/>
                  <a:pt x="49006" y="66322"/>
                </a:cubicBezTo>
                <a:cubicBezTo>
                  <a:pt x="49006" y="30157"/>
                  <a:pt x="78466" y="751"/>
                  <a:pt x="114639" y="751"/>
                </a:cubicBezTo>
                <a:close/>
                <a:moveTo>
                  <a:pt x="457410" y="423"/>
                </a:moveTo>
                <a:cubicBezTo>
                  <a:pt x="420880" y="423"/>
                  <a:pt x="391355" y="29894"/>
                  <a:pt x="391355" y="66356"/>
                </a:cubicBezTo>
                <a:cubicBezTo>
                  <a:pt x="391355" y="72135"/>
                  <a:pt x="392108" y="77740"/>
                  <a:pt x="393497" y="83056"/>
                </a:cubicBezTo>
                <a:cubicBezTo>
                  <a:pt x="400849" y="111487"/>
                  <a:pt x="426669" y="132521"/>
                  <a:pt x="457468" y="132521"/>
                </a:cubicBezTo>
                <a:lnTo>
                  <a:pt x="457815" y="132521"/>
                </a:lnTo>
                <a:lnTo>
                  <a:pt x="458104" y="132521"/>
                </a:lnTo>
                <a:cubicBezTo>
                  <a:pt x="494634" y="132521"/>
                  <a:pt x="524159" y="103050"/>
                  <a:pt x="524159" y="66587"/>
                </a:cubicBezTo>
                <a:cubicBezTo>
                  <a:pt x="524159" y="60809"/>
                  <a:pt x="523406" y="55204"/>
                  <a:pt x="522017" y="49887"/>
                </a:cubicBezTo>
                <a:cubicBezTo>
                  <a:pt x="514665" y="21457"/>
                  <a:pt x="488845" y="423"/>
                  <a:pt x="458046" y="423"/>
                </a:cubicBezTo>
                <a:lnTo>
                  <a:pt x="457699" y="423"/>
                </a:lnTo>
                <a:close/>
                <a:moveTo>
                  <a:pt x="114646" y="423"/>
                </a:moveTo>
                <a:cubicBezTo>
                  <a:pt x="78190" y="423"/>
                  <a:pt x="48620" y="29894"/>
                  <a:pt x="48620" y="66356"/>
                </a:cubicBezTo>
                <a:cubicBezTo>
                  <a:pt x="48620" y="72135"/>
                  <a:pt x="49372" y="77740"/>
                  <a:pt x="50761" y="83056"/>
                </a:cubicBezTo>
                <a:cubicBezTo>
                  <a:pt x="58110" y="111487"/>
                  <a:pt x="83977" y="132521"/>
                  <a:pt x="114762" y="132521"/>
                </a:cubicBezTo>
                <a:lnTo>
                  <a:pt x="115051" y="132521"/>
                </a:lnTo>
                <a:lnTo>
                  <a:pt x="115340" y="132521"/>
                </a:lnTo>
                <a:cubicBezTo>
                  <a:pt x="151854" y="132521"/>
                  <a:pt x="181424" y="103050"/>
                  <a:pt x="181424" y="66587"/>
                </a:cubicBezTo>
                <a:cubicBezTo>
                  <a:pt x="181424" y="60809"/>
                  <a:pt x="180614" y="55204"/>
                  <a:pt x="179225" y="49887"/>
                </a:cubicBezTo>
                <a:cubicBezTo>
                  <a:pt x="171934" y="21457"/>
                  <a:pt x="146067" y="423"/>
                  <a:pt x="115282" y="423"/>
                </a:cubicBezTo>
                <a:lnTo>
                  <a:pt x="114993" y="423"/>
                </a:lnTo>
                <a:close/>
                <a:moveTo>
                  <a:pt x="286036" y="397"/>
                </a:moveTo>
                <a:cubicBezTo>
                  <a:pt x="249522" y="282"/>
                  <a:pt x="219952" y="29874"/>
                  <a:pt x="219952" y="66286"/>
                </a:cubicBezTo>
                <a:cubicBezTo>
                  <a:pt x="219952" y="72066"/>
                  <a:pt x="220762" y="77672"/>
                  <a:pt x="222151" y="82990"/>
                </a:cubicBezTo>
                <a:cubicBezTo>
                  <a:pt x="229442" y="111484"/>
                  <a:pt x="255309" y="132522"/>
                  <a:pt x="286094" y="132522"/>
                </a:cubicBezTo>
                <a:lnTo>
                  <a:pt x="286383" y="132522"/>
                </a:lnTo>
                <a:lnTo>
                  <a:pt x="286730" y="132522"/>
                </a:lnTo>
                <a:cubicBezTo>
                  <a:pt x="323186" y="132522"/>
                  <a:pt x="352756" y="103045"/>
                  <a:pt x="352756" y="66575"/>
                </a:cubicBezTo>
                <a:cubicBezTo>
                  <a:pt x="352756" y="60796"/>
                  <a:pt x="352004" y="55189"/>
                  <a:pt x="350615" y="49872"/>
                </a:cubicBezTo>
                <a:cubicBezTo>
                  <a:pt x="343266" y="21436"/>
                  <a:pt x="317399" y="397"/>
                  <a:pt x="286614" y="397"/>
                </a:cubicBezTo>
                <a:lnTo>
                  <a:pt x="286325" y="397"/>
                </a:lnTo>
                <a:close/>
                <a:moveTo>
                  <a:pt x="457411" y="0"/>
                </a:moveTo>
                <a:lnTo>
                  <a:pt x="458047" y="0"/>
                </a:lnTo>
                <a:cubicBezTo>
                  <a:pt x="488359" y="0"/>
                  <a:pt x="514795" y="20451"/>
                  <a:pt x="522315" y="49741"/>
                </a:cubicBezTo>
                <a:cubicBezTo>
                  <a:pt x="523761" y="55230"/>
                  <a:pt x="524513" y="60891"/>
                  <a:pt x="524513" y="66553"/>
                </a:cubicBezTo>
                <a:cubicBezTo>
                  <a:pt x="524513" y="103122"/>
                  <a:pt x="494722" y="132875"/>
                  <a:pt x="458105" y="132875"/>
                </a:cubicBezTo>
                <a:lnTo>
                  <a:pt x="457469" y="132875"/>
                </a:lnTo>
                <a:cubicBezTo>
                  <a:pt x="427157" y="132875"/>
                  <a:pt x="400721" y="112424"/>
                  <a:pt x="393201" y="83133"/>
                </a:cubicBezTo>
                <a:cubicBezTo>
                  <a:pt x="391755" y="77645"/>
                  <a:pt x="391003" y="71983"/>
                  <a:pt x="391003" y="66322"/>
                </a:cubicBezTo>
                <a:cubicBezTo>
                  <a:pt x="391003" y="29752"/>
                  <a:pt x="420794" y="0"/>
                  <a:pt x="457411" y="0"/>
                </a:cubicBezTo>
                <a:close/>
                <a:moveTo>
                  <a:pt x="285868" y="0"/>
                </a:moveTo>
                <a:lnTo>
                  <a:pt x="286621" y="0"/>
                </a:lnTo>
                <a:cubicBezTo>
                  <a:pt x="316948" y="0"/>
                  <a:pt x="343456" y="20451"/>
                  <a:pt x="350980" y="49741"/>
                </a:cubicBezTo>
                <a:cubicBezTo>
                  <a:pt x="352427" y="55287"/>
                  <a:pt x="353179" y="60891"/>
                  <a:pt x="353179" y="66553"/>
                </a:cubicBezTo>
                <a:cubicBezTo>
                  <a:pt x="353179" y="103122"/>
                  <a:pt x="323372" y="132875"/>
                  <a:pt x="286736" y="132875"/>
                </a:cubicBezTo>
                <a:lnTo>
                  <a:pt x="286100" y="132875"/>
                </a:lnTo>
                <a:cubicBezTo>
                  <a:pt x="255772" y="132875"/>
                  <a:pt x="229322" y="112366"/>
                  <a:pt x="221740" y="83076"/>
                </a:cubicBezTo>
                <a:cubicBezTo>
                  <a:pt x="220294" y="77530"/>
                  <a:pt x="219599" y="71868"/>
                  <a:pt x="219599" y="66264"/>
                </a:cubicBezTo>
                <a:cubicBezTo>
                  <a:pt x="219599" y="29695"/>
                  <a:pt x="249348" y="0"/>
                  <a:pt x="285868" y="0"/>
                </a:cubicBezTo>
                <a:close/>
                <a:moveTo>
                  <a:pt x="114639" y="0"/>
                </a:moveTo>
                <a:lnTo>
                  <a:pt x="115275" y="0"/>
                </a:lnTo>
                <a:cubicBezTo>
                  <a:pt x="145603" y="0"/>
                  <a:pt x="172053" y="20451"/>
                  <a:pt x="179635" y="49741"/>
                </a:cubicBezTo>
                <a:cubicBezTo>
                  <a:pt x="181081" y="55230"/>
                  <a:pt x="181776" y="60891"/>
                  <a:pt x="181776" y="66553"/>
                </a:cubicBezTo>
                <a:cubicBezTo>
                  <a:pt x="181776" y="103122"/>
                  <a:pt x="151969" y="132875"/>
                  <a:pt x="115333" y="132875"/>
                </a:cubicBezTo>
                <a:lnTo>
                  <a:pt x="114754" y="132875"/>
                </a:lnTo>
                <a:cubicBezTo>
                  <a:pt x="84427" y="132875"/>
                  <a:pt x="57919" y="112424"/>
                  <a:pt x="50395" y="83133"/>
                </a:cubicBezTo>
                <a:cubicBezTo>
                  <a:pt x="48948" y="77645"/>
                  <a:pt x="48196" y="71983"/>
                  <a:pt x="48196" y="66322"/>
                </a:cubicBezTo>
                <a:cubicBezTo>
                  <a:pt x="48196" y="29752"/>
                  <a:pt x="78003" y="0"/>
                  <a:pt x="114639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Freeform 8" id="8"/>
          <p:cNvSpPr/>
          <p:nvPr/>
        </p:nvSpPr>
        <p:spPr>
          <a:xfrm>
            <a:off x="9480803" y="1556603"/>
            <a:ext cx="575710" cy="609685"/>
          </a:xfrm>
          <a:custGeom>
            <a:avLst/>
            <a:gdLst/>
            <a:ahLst/>
            <a:cxnLst/>
            <a:rect r="r" b="b" t="t" l="l"/>
            <a:pathLst>
              <a:path w="572779" h="606580" stroke="true" fill="norm" extrusionOk="true">
                <a:moveTo>
                  <a:pt x="435703" y="160183"/>
                </a:moveTo>
                <a:lnTo>
                  <a:pt x="479697" y="160183"/>
                </a:lnTo>
                <a:cubicBezTo>
                  <a:pt x="479639" y="160241"/>
                  <a:pt x="479639" y="160414"/>
                  <a:pt x="479581" y="160472"/>
                </a:cubicBezTo>
                <a:lnTo>
                  <a:pt x="479812" y="160472"/>
                </a:lnTo>
                <a:cubicBezTo>
                  <a:pt x="479407" y="161281"/>
                  <a:pt x="478713" y="162726"/>
                  <a:pt x="478713" y="162726"/>
                </a:cubicBezTo>
                <a:cubicBezTo>
                  <a:pt x="474834" y="170989"/>
                  <a:pt x="471245" y="178848"/>
                  <a:pt x="469682" y="187227"/>
                </a:cubicBezTo>
                <a:lnTo>
                  <a:pt x="474776" y="242470"/>
                </a:lnTo>
                <a:lnTo>
                  <a:pt x="494284" y="242470"/>
                </a:lnTo>
                <a:lnTo>
                  <a:pt x="510840" y="160183"/>
                </a:lnTo>
                <a:lnTo>
                  <a:pt x="527338" y="160183"/>
                </a:lnTo>
                <a:cubicBezTo>
                  <a:pt x="552345" y="160183"/>
                  <a:pt x="572663" y="180466"/>
                  <a:pt x="572779" y="205430"/>
                </a:cubicBezTo>
                <a:lnTo>
                  <a:pt x="572779" y="337413"/>
                </a:lnTo>
                <a:cubicBezTo>
                  <a:pt x="572779" y="362434"/>
                  <a:pt x="552519" y="382717"/>
                  <a:pt x="527396" y="382717"/>
                </a:cubicBezTo>
                <a:lnTo>
                  <a:pt x="521607" y="382717"/>
                </a:lnTo>
                <a:lnTo>
                  <a:pt x="521607" y="574624"/>
                </a:lnTo>
                <a:cubicBezTo>
                  <a:pt x="521607" y="592249"/>
                  <a:pt x="507251" y="606580"/>
                  <a:pt x="489595" y="606580"/>
                </a:cubicBezTo>
                <a:cubicBezTo>
                  <a:pt x="473155" y="606580"/>
                  <a:pt x="459552" y="594098"/>
                  <a:pt x="457815" y="578149"/>
                </a:cubicBezTo>
                <a:cubicBezTo>
                  <a:pt x="456021" y="594214"/>
                  <a:pt x="442417" y="606580"/>
                  <a:pt x="425978" y="606580"/>
                </a:cubicBezTo>
                <a:cubicBezTo>
                  <a:pt x="408322" y="606580"/>
                  <a:pt x="393966" y="592249"/>
                  <a:pt x="393966" y="574624"/>
                </a:cubicBezTo>
                <a:lnTo>
                  <a:pt x="393966" y="392541"/>
                </a:lnTo>
                <a:cubicBezTo>
                  <a:pt x="411506" y="380521"/>
                  <a:pt x="422967" y="360354"/>
                  <a:pt x="422967" y="337528"/>
                </a:cubicBezTo>
                <a:lnTo>
                  <a:pt x="422967" y="242528"/>
                </a:lnTo>
                <a:lnTo>
                  <a:pt x="440739" y="242528"/>
                </a:lnTo>
                <a:lnTo>
                  <a:pt x="445833" y="186996"/>
                </a:lnTo>
                <a:cubicBezTo>
                  <a:pt x="445659" y="186013"/>
                  <a:pt x="445428" y="184973"/>
                  <a:pt x="445196" y="183991"/>
                </a:cubicBezTo>
                <a:cubicBezTo>
                  <a:pt x="443459" y="176768"/>
                  <a:pt x="440276" y="169891"/>
                  <a:pt x="436860" y="162726"/>
                </a:cubicBezTo>
                <a:cubicBezTo>
                  <a:pt x="436860" y="162726"/>
                  <a:pt x="436166" y="161281"/>
                  <a:pt x="435818" y="160472"/>
                </a:cubicBezTo>
                <a:lnTo>
                  <a:pt x="435876" y="160472"/>
                </a:lnTo>
                <a:cubicBezTo>
                  <a:pt x="435818" y="160356"/>
                  <a:pt x="435818" y="160241"/>
                  <a:pt x="435703" y="160183"/>
                </a:cubicBezTo>
                <a:close/>
                <a:moveTo>
                  <a:pt x="264349" y="160183"/>
                </a:moveTo>
                <a:lnTo>
                  <a:pt x="308327" y="160183"/>
                </a:lnTo>
                <a:cubicBezTo>
                  <a:pt x="308269" y="160241"/>
                  <a:pt x="308269" y="160414"/>
                  <a:pt x="308154" y="160472"/>
                </a:cubicBezTo>
                <a:lnTo>
                  <a:pt x="308385" y="160472"/>
                </a:lnTo>
                <a:cubicBezTo>
                  <a:pt x="308038" y="161281"/>
                  <a:pt x="307344" y="162726"/>
                  <a:pt x="307344" y="162726"/>
                </a:cubicBezTo>
                <a:cubicBezTo>
                  <a:pt x="303467" y="170989"/>
                  <a:pt x="299821" y="178848"/>
                  <a:pt x="298316" y="187227"/>
                </a:cubicBezTo>
                <a:lnTo>
                  <a:pt x="303409" y="242470"/>
                </a:lnTo>
                <a:lnTo>
                  <a:pt x="322910" y="242470"/>
                </a:lnTo>
                <a:lnTo>
                  <a:pt x="339401" y="160183"/>
                </a:lnTo>
                <a:lnTo>
                  <a:pt x="355951" y="160183"/>
                </a:lnTo>
                <a:cubicBezTo>
                  <a:pt x="380949" y="160183"/>
                  <a:pt x="401202" y="180466"/>
                  <a:pt x="401376" y="205430"/>
                </a:cubicBezTo>
                <a:lnTo>
                  <a:pt x="401376" y="337413"/>
                </a:lnTo>
                <a:cubicBezTo>
                  <a:pt x="401376" y="362434"/>
                  <a:pt x="381065" y="382717"/>
                  <a:pt x="356009" y="382717"/>
                </a:cubicBezTo>
                <a:lnTo>
                  <a:pt x="350222" y="382717"/>
                </a:lnTo>
                <a:lnTo>
                  <a:pt x="350222" y="574624"/>
                </a:lnTo>
                <a:cubicBezTo>
                  <a:pt x="350222" y="592249"/>
                  <a:pt x="335872" y="606580"/>
                  <a:pt x="318222" y="606580"/>
                </a:cubicBezTo>
                <a:cubicBezTo>
                  <a:pt x="301788" y="606580"/>
                  <a:pt x="288190" y="594098"/>
                  <a:pt x="286396" y="578149"/>
                </a:cubicBezTo>
                <a:cubicBezTo>
                  <a:pt x="284660" y="594214"/>
                  <a:pt x="271062" y="606580"/>
                  <a:pt x="254628" y="606580"/>
                </a:cubicBezTo>
                <a:cubicBezTo>
                  <a:pt x="236978" y="606580"/>
                  <a:pt x="222628" y="592249"/>
                  <a:pt x="222628" y="574624"/>
                </a:cubicBezTo>
                <a:lnTo>
                  <a:pt x="222628" y="382833"/>
                </a:lnTo>
                <a:lnTo>
                  <a:pt x="216841" y="382833"/>
                </a:lnTo>
                <a:cubicBezTo>
                  <a:pt x="191727" y="382833"/>
                  <a:pt x="171474" y="362608"/>
                  <a:pt x="171474" y="337528"/>
                </a:cubicBezTo>
                <a:lnTo>
                  <a:pt x="171474" y="205545"/>
                </a:lnTo>
                <a:cubicBezTo>
                  <a:pt x="171474" y="180524"/>
                  <a:pt x="191727" y="160241"/>
                  <a:pt x="216841" y="160241"/>
                </a:cubicBezTo>
                <a:lnTo>
                  <a:pt x="233333" y="160241"/>
                </a:lnTo>
                <a:lnTo>
                  <a:pt x="249825" y="242528"/>
                </a:lnTo>
                <a:lnTo>
                  <a:pt x="269383" y="242528"/>
                </a:lnTo>
                <a:lnTo>
                  <a:pt x="274476" y="186996"/>
                </a:lnTo>
                <a:cubicBezTo>
                  <a:pt x="274302" y="186013"/>
                  <a:pt x="274071" y="184973"/>
                  <a:pt x="273839" y="183991"/>
                </a:cubicBezTo>
                <a:cubicBezTo>
                  <a:pt x="272045" y="176768"/>
                  <a:pt x="268921" y="169891"/>
                  <a:pt x="265506" y="162726"/>
                </a:cubicBezTo>
                <a:cubicBezTo>
                  <a:pt x="265506" y="162726"/>
                  <a:pt x="264812" y="161281"/>
                  <a:pt x="264407" y="160472"/>
                </a:cubicBezTo>
                <a:lnTo>
                  <a:pt x="264523" y="160472"/>
                </a:lnTo>
                <a:cubicBezTo>
                  <a:pt x="264407" y="160356"/>
                  <a:pt x="264407" y="160241"/>
                  <a:pt x="264349" y="160183"/>
                </a:cubicBezTo>
                <a:close/>
                <a:moveTo>
                  <a:pt x="92987" y="160183"/>
                </a:moveTo>
                <a:lnTo>
                  <a:pt x="136964" y="160183"/>
                </a:lnTo>
                <a:cubicBezTo>
                  <a:pt x="136848" y="160241"/>
                  <a:pt x="136848" y="160414"/>
                  <a:pt x="136791" y="160472"/>
                </a:cubicBezTo>
                <a:lnTo>
                  <a:pt x="137022" y="160472"/>
                </a:lnTo>
                <a:cubicBezTo>
                  <a:pt x="136617" y="161281"/>
                  <a:pt x="135923" y="162726"/>
                  <a:pt x="135923" y="162726"/>
                </a:cubicBezTo>
                <a:cubicBezTo>
                  <a:pt x="132104" y="170989"/>
                  <a:pt x="128458" y="178848"/>
                  <a:pt x="126896" y="187227"/>
                </a:cubicBezTo>
                <a:lnTo>
                  <a:pt x="131988" y="242470"/>
                </a:lnTo>
                <a:lnTo>
                  <a:pt x="149752" y="242470"/>
                </a:lnTo>
                <a:lnTo>
                  <a:pt x="149752" y="337471"/>
                </a:lnTo>
                <a:cubicBezTo>
                  <a:pt x="149752" y="360296"/>
                  <a:pt x="161267" y="380406"/>
                  <a:pt x="178742" y="392483"/>
                </a:cubicBezTo>
                <a:lnTo>
                  <a:pt x="178742" y="574624"/>
                </a:lnTo>
                <a:cubicBezTo>
                  <a:pt x="178742" y="592249"/>
                  <a:pt x="164392" y="606580"/>
                  <a:pt x="146743" y="606580"/>
                </a:cubicBezTo>
                <a:cubicBezTo>
                  <a:pt x="130310" y="606580"/>
                  <a:pt x="116712" y="594098"/>
                  <a:pt x="114976" y="578149"/>
                </a:cubicBezTo>
                <a:cubicBezTo>
                  <a:pt x="113182" y="594214"/>
                  <a:pt x="99584" y="606580"/>
                  <a:pt x="83151" y="606580"/>
                </a:cubicBezTo>
                <a:cubicBezTo>
                  <a:pt x="65502" y="606580"/>
                  <a:pt x="51152" y="592249"/>
                  <a:pt x="51152" y="574624"/>
                </a:cubicBezTo>
                <a:lnTo>
                  <a:pt x="51152" y="382833"/>
                </a:lnTo>
                <a:lnTo>
                  <a:pt x="45365" y="382833"/>
                </a:lnTo>
                <a:cubicBezTo>
                  <a:pt x="20310" y="382833"/>
                  <a:pt x="0" y="362608"/>
                  <a:pt x="0" y="337528"/>
                </a:cubicBezTo>
                <a:lnTo>
                  <a:pt x="0" y="205545"/>
                </a:lnTo>
                <a:cubicBezTo>
                  <a:pt x="0" y="180524"/>
                  <a:pt x="20310" y="160241"/>
                  <a:pt x="45365" y="160241"/>
                </a:cubicBezTo>
                <a:lnTo>
                  <a:pt x="61972" y="160241"/>
                </a:lnTo>
                <a:lnTo>
                  <a:pt x="78464" y="242528"/>
                </a:lnTo>
                <a:lnTo>
                  <a:pt x="97964" y="242528"/>
                </a:lnTo>
                <a:lnTo>
                  <a:pt x="103056" y="186996"/>
                </a:lnTo>
                <a:cubicBezTo>
                  <a:pt x="102940" y="186013"/>
                  <a:pt x="102709" y="184973"/>
                  <a:pt x="102477" y="183991"/>
                </a:cubicBezTo>
                <a:cubicBezTo>
                  <a:pt x="100683" y="176768"/>
                  <a:pt x="97501" y="169891"/>
                  <a:pt x="94145" y="162726"/>
                </a:cubicBezTo>
                <a:cubicBezTo>
                  <a:pt x="94145" y="162726"/>
                  <a:pt x="93450" y="161281"/>
                  <a:pt x="93045" y="160472"/>
                </a:cubicBezTo>
                <a:lnTo>
                  <a:pt x="93103" y="160472"/>
                </a:lnTo>
                <a:cubicBezTo>
                  <a:pt x="93045" y="160356"/>
                  <a:pt x="93045" y="160241"/>
                  <a:pt x="92987" y="160183"/>
                </a:cubicBezTo>
                <a:close/>
                <a:moveTo>
                  <a:pt x="457411" y="751"/>
                </a:moveTo>
                <a:lnTo>
                  <a:pt x="458047" y="751"/>
                </a:lnTo>
                <a:cubicBezTo>
                  <a:pt x="488012" y="751"/>
                  <a:pt x="514158" y="20971"/>
                  <a:pt x="521621" y="49915"/>
                </a:cubicBezTo>
                <a:cubicBezTo>
                  <a:pt x="523009" y="55403"/>
                  <a:pt x="523761" y="61007"/>
                  <a:pt x="523761" y="66553"/>
                </a:cubicBezTo>
                <a:cubicBezTo>
                  <a:pt x="523761" y="102718"/>
                  <a:pt x="494317" y="132124"/>
                  <a:pt x="458105" y="132124"/>
                </a:cubicBezTo>
                <a:lnTo>
                  <a:pt x="457469" y="132124"/>
                </a:lnTo>
                <a:cubicBezTo>
                  <a:pt x="427504" y="132124"/>
                  <a:pt x="401358" y="111904"/>
                  <a:pt x="393895" y="82960"/>
                </a:cubicBezTo>
                <a:cubicBezTo>
                  <a:pt x="392507" y="77472"/>
                  <a:pt x="391755" y="71868"/>
                  <a:pt x="391755" y="66322"/>
                </a:cubicBezTo>
                <a:cubicBezTo>
                  <a:pt x="391755" y="30157"/>
                  <a:pt x="421199" y="751"/>
                  <a:pt x="457411" y="751"/>
                </a:cubicBezTo>
                <a:close/>
                <a:moveTo>
                  <a:pt x="285868" y="751"/>
                </a:moveTo>
                <a:lnTo>
                  <a:pt x="286621" y="751"/>
                </a:lnTo>
                <a:cubicBezTo>
                  <a:pt x="316601" y="751"/>
                  <a:pt x="342761" y="20971"/>
                  <a:pt x="350227" y="49915"/>
                </a:cubicBezTo>
                <a:cubicBezTo>
                  <a:pt x="351674" y="55403"/>
                  <a:pt x="352369" y="61007"/>
                  <a:pt x="352369" y="66553"/>
                </a:cubicBezTo>
                <a:cubicBezTo>
                  <a:pt x="352369" y="102718"/>
                  <a:pt x="322909" y="132124"/>
                  <a:pt x="286736" y="132124"/>
                </a:cubicBezTo>
                <a:lnTo>
                  <a:pt x="286100" y="132124"/>
                </a:lnTo>
                <a:cubicBezTo>
                  <a:pt x="256119" y="132124"/>
                  <a:pt x="229959" y="111846"/>
                  <a:pt x="222493" y="82845"/>
                </a:cubicBezTo>
                <a:cubicBezTo>
                  <a:pt x="221046" y="77414"/>
                  <a:pt x="220351" y="71810"/>
                  <a:pt x="220351" y="66264"/>
                </a:cubicBezTo>
                <a:cubicBezTo>
                  <a:pt x="220351" y="30157"/>
                  <a:pt x="249753" y="751"/>
                  <a:pt x="285868" y="751"/>
                </a:cubicBezTo>
                <a:close/>
                <a:moveTo>
                  <a:pt x="114639" y="751"/>
                </a:moveTo>
                <a:lnTo>
                  <a:pt x="115275" y="751"/>
                </a:lnTo>
                <a:cubicBezTo>
                  <a:pt x="145256" y="751"/>
                  <a:pt x="171416" y="20971"/>
                  <a:pt x="178882" y="49915"/>
                </a:cubicBezTo>
                <a:cubicBezTo>
                  <a:pt x="180329" y="55403"/>
                  <a:pt x="181024" y="61007"/>
                  <a:pt x="181024" y="66553"/>
                </a:cubicBezTo>
                <a:cubicBezTo>
                  <a:pt x="181024" y="102718"/>
                  <a:pt x="151564" y="132124"/>
                  <a:pt x="115333" y="132124"/>
                </a:cubicBezTo>
                <a:lnTo>
                  <a:pt x="114754" y="132124"/>
                </a:lnTo>
                <a:cubicBezTo>
                  <a:pt x="84774" y="132124"/>
                  <a:pt x="58614" y="111904"/>
                  <a:pt x="51148" y="82960"/>
                </a:cubicBezTo>
                <a:cubicBezTo>
                  <a:pt x="49701" y="77472"/>
                  <a:pt x="49006" y="71868"/>
                  <a:pt x="49006" y="66322"/>
                </a:cubicBezTo>
                <a:cubicBezTo>
                  <a:pt x="49006" y="30157"/>
                  <a:pt x="78466" y="751"/>
                  <a:pt x="114639" y="751"/>
                </a:cubicBezTo>
                <a:close/>
                <a:moveTo>
                  <a:pt x="457410" y="423"/>
                </a:moveTo>
                <a:cubicBezTo>
                  <a:pt x="420880" y="423"/>
                  <a:pt x="391355" y="29894"/>
                  <a:pt x="391355" y="66356"/>
                </a:cubicBezTo>
                <a:cubicBezTo>
                  <a:pt x="391355" y="72135"/>
                  <a:pt x="392108" y="77740"/>
                  <a:pt x="393497" y="83056"/>
                </a:cubicBezTo>
                <a:cubicBezTo>
                  <a:pt x="400849" y="111487"/>
                  <a:pt x="426669" y="132521"/>
                  <a:pt x="457468" y="132521"/>
                </a:cubicBezTo>
                <a:lnTo>
                  <a:pt x="457815" y="132521"/>
                </a:lnTo>
                <a:lnTo>
                  <a:pt x="458104" y="132521"/>
                </a:lnTo>
                <a:cubicBezTo>
                  <a:pt x="494634" y="132521"/>
                  <a:pt x="524159" y="103050"/>
                  <a:pt x="524159" y="66587"/>
                </a:cubicBezTo>
                <a:cubicBezTo>
                  <a:pt x="524159" y="60809"/>
                  <a:pt x="523406" y="55204"/>
                  <a:pt x="522017" y="49887"/>
                </a:cubicBezTo>
                <a:cubicBezTo>
                  <a:pt x="514665" y="21457"/>
                  <a:pt x="488845" y="423"/>
                  <a:pt x="458046" y="423"/>
                </a:cubicBezTo>
                <a:lnTo>
                  <a:pt x="457699" y="423"/>
                </a:lnTo>
                <a:close/>
                <a:moveTo>
                  <a:pt x="114646" y="423"/>
                </a:moveTo>
                <a:cubicBezTo>
                  <a:pt x="78190" y="423"/>
                  <a:pt x="48620" y="29894"/>
                  <a:pt x="48620" y="66356"/>
                </a:cubicBezTo>
                <a:cubicBezTo>
                  <a:pt x="48620" y="72135"/>
                  <a:pt x="49372" y="77740"/>
                  <a:pt x="50761" y="83056"/>
                </a:cubicBezTo>
                <a:cubicBezTo>
                  <a:pt x="58110" y="111487"/>
                  <a:pt x="83977" y="132521"/>
                  <a:pt x="114762" y="132521"/>
                </a:cubicBezTo>
                <a:lnTo>
                  <a:pt x="115051" y="132521"/>
                </a:lnTo>
                <a:lnTo>
                  <a:pt x="115340" y="132521"/>
                </a:lnTo>
                <a:cubicBezTo>
                  <a:pt x="151854" y="132521"/>
                  <a:pt x="181424" y="103050"/>
                  <a:pt x="181424" y="66587"/>
                </a:cubicBezTo>
                <a:cubicBezTo>
                  <a:pt x="181424" y="60809"/>
                  <a:pt x="180614" y="55204"/>
                  <a:pt x="179225" y="49887"/>
                </a:cubicBezTo>
                <a:cubicBezTo>
                  <a:pt x="171934" y="21457"/>
                  <a:pt x="146067" y="423"/>
                  <a:pt x="115282" y="423"/>
                </a:cubicBezTo>
                <a:lnTo>
                  <a:pt x="114993" y="423"/>
                </a:lnTo>
                <a:close/>
                <a:moveTo>
                  <a:pt x="286036" y="397"/>
                </a:moveTo>
                <a:cubicBezTo>
                  <a:pt x="249522" y="282"/>
                  <a:pt x="219952" y="29874"/>
                  <a:pt x="219952" y="66286"/>
                </a:cubicBezTo>
                <a:cubicBezTo>
                  <a:pt x="219952" y="72066"/>
                  <a:pt x="220762" y="77672"/>
                  <a:pt x="222151" y="82990"/>
                </a:cubicBezTo>
                <a:cubicBezTo>
                  <a:pt x="229442" y="111484"/>
                  <a:pt x="255309" y="132522"/>
                  <a:pt x="286094" y="132522"/>
                </a:cubicBezTo>
                <a:lnTo>
                  <a:pt x="286383" y="132522"/>
                </a:lnTo>
                <a:lnTo>
                  <a:pt x="286730" y="132522"/>
                </a:lnTo>
                <a:cubicBezTo>
                  <a:pt x="323186" y="132522"/>
                  <a:pt x="352756" y="103045"/>
                  <a:pt x="352756" y="66575"/>
                </a:cubicBezTo>
                <a:cubicBezTo>
                  <a:pt x="352756" y="60796"/>
                  <a:pt x="352004" y="55189"/>
                  <a:pt x="350615" y="49872"/>
                </a:cubicBezTo>
                <a:cubicBezTo>
                  <a:pt x="343266" y="21436"/>
                  <a:pt x="317399" y="397"/>
                  <a:pt x="286614" y="397"/>
                </a:cubicBezTo>
                <a:lnTo>
                  <a:pt x="286325" y="397"/>
                </a:lnTo>
                <a:close/>
                <a:moveTo>
                  <a:pt x="457411" y="0"/>
                </a:moveTo>
                <a:lnTo>
                  <a:pt x="458047" y="0"/>
                </a:lnTo>
                <a:cubicBezTo>
                  <a:pt x="488359" y="0"/>
                  <a:pt x="514795" y="20451"/>
                  <a:pt x="522315" y="49741"/>
                </a:cubicBezTo>
                <a:cubicBezTo>
                  <a:pt x="523761" y="55230"/>
                  <a:pt x="524513" y="60891"/>
                  <a:pt x="524513" y="66553"/>
                </a:cubicBezTo>
                <a:cubicBezTo>
                  <a:pt x="524513" y="103122"/>
                  <a:pt x="494722" y="132875"/>
                  <a:pt x="458105" y="132875"/>
                </a:cubicBezTo>
                <a:lnTo>
                  <a:pt x="457469" y="132875"/>
                </a:lnTo>
                <a:cubicBezTo>
                  <a:pt x="427157" y="132875"/>
                  <a:pt x="400721" y="112424"/>
                  <a:pt x="393201" y="83133"/>
                </a:cubicBezTo>
                <a:cubicBezTo>
                  <a:pt x="391755" y="77645"/>
                  <a:pt x="391003" y="71983"/>
                  <a:pt x="391003" y="66322"/>
                </a:cubicBezTo>
                <a:cubicBezTo>
                  <a:pt x="391003" y="29752"/>
                  <a:pt x="420794" y="0"/>
                  <a:pt x="457411" y="0"/>
                </a:cubicBezTo>
                <a:close/>
                <a:moveTo>
                  <a:pt x="285868" y="0"/>
                </a:moveTo>
                <a:lnTo>
                  <a:pt x="286621" y="0"/>
                </a:lnTo>
                <a:cubicBezTo>
                  <a:pt x="316948" y="0"/>
                  <a:pt x="343456" y="20451"/>
                  <a:pt x="350980" y="49741"/>
                </a:cubicBezTo>
                <a:cubicBezTo>
                  <a:pt x="352427" y="55287"/>
                  <a:pt x="353179" y="60891"/>
                  <a:pt x="353179" y="66553"/>
                </a:cubicBezTo>
                <a:cubicBezTo>
                  <a:pt x="353179" y="103122"/>
                  <a:pt x="323372" y="132875"/>
                  <a:pt x="286736" y="132875"/>
                </a:cubicBezTo>
                <a:lnTo>
                  <a:pt x="286100" y="132875"/>
                </a:lnTo>
                <a:cubicBezTo>
                  <a:pt x="255772" y="132875"/>
                  <a:pt x="229322" y="112366"/>
                  <a:pt x="221740" y="83076"/>
                </a:cubicBezTo>
                <a:cubicBezTo>
                  <a:pt x="220294" y="77530"/>
                  <a:pt x="219599" y="71868"/>
                  <a:pt x="219599" y="66264"/>
                </a:cubicBezTo>
                <a:cubicBezTo>
                  <a:pt x="219599" y="29695"/>
                  <a:pt x="249348" y="0"/>
                  <a:pt x="285868" y="0"/>
                </a:cubicBezTo>
                <a:close/>
                <a:moveTo>
                  <a:pt x="114639" y="0"/>
                </a:moveTo>
                <a:lnTo>
                  <a:pt x="115275" y="0"/>
                </a:lnTo>
                <a:cubicBezTo>
                  <a:pt x="145603" y="0"/>
                  <a:pt x="172053" y="20451"/>
                  <a:pt x="179635" y="49741"/>
                </a:cubicBezTo>
                <a:cubicBezTo>
                  <a:pt x="181081" y="55230"/>
                  <a:pt x="181776" y="60891"/>
                  <a:pt x="181776" y="66553"/>
                </a:cubicBezTo>
                <a:cubicBezTo>
                  <a:pt x="181776" y="103122"/>
                  <a:pt x="151969" y="132875"/>
                  <a:pt x="115333" y="132875"/>
                </a:cubicBezTo>
                <a:lnTo>
                  <a:pt x="114754" y="132875"/>
                </a:lnTo>
                <a:cubicBezTo>
                  <a:pt x="84427" y="132875"/>
                  <a:pt x="57919" y="112424"/>
                  <a:pt x="50395" y="83133"/>
                </a:cubicBezTo>
                <a:cubicBezTo>
                  <a:pt x="48948" y="77645"/>
                  <a:pt x="48196" y="71983"/>
                  <a:pt x="48196" y="66322"/>
                </a:cubicBezTo>
                <a:cubicBezTo>
                  <a:pt x="48196" y="29752"/>
                  <a:pt x="78003" y="0"/>
                  <a:pt x="114639" y="0"/>
                </a:cubicBezTo>
                <a:close/>
              </a:path>
            </a:pathLst>
          </a:custGeom>
          <a:solidFill>
            <a:srgbClr val="2F2F2F">
              <a:lumMod val="50000"/>
              <a:lumOff val="50000"/>
            </a:srgbClr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TextBox 9" id="9"/>
          <p:cNvSpPr txBox="true"/>
          <p:nvPr/>
        </p:nvSpPr>
        <p:spPr>
          <a:xfrm>
            <a:off x="4828671" y="3079106"/>
            <a:ext cx="2718063" cy="84561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云计算与边缘计算结合将提高系统的实时性和响应速度，确保PPT生成的即时性。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8411689" y="3113124"/>
            <a:ext cx="2718063" cy="845616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实时生成技术的创新将推动PPT生成技术的进一步发展，实现更加高效和智能的生成过程。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4815910" y="2293673"/>
            <a:ext cx="2723956" cy="3007724"/>
          </a:xfrm>
          <a:prstGeom prst="roundRect">
            <a:avLst>
              <a:gd name="adj" fmla="val 5186"/>
            </a:avLst>
          </a:prstGeom>
          <a:noFill/>
          <a:ln w="9525" cap="flat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2" id="12"/>
          <p:cNvSpPr txBox="true"/>
          <p:nvPr/>
        </p:nvSpPr>
        <p:spPr>
          <a:xfrm>
            <a:off x="4818856" y="2432504"/>
            <a:ext cx="2718063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1600" baseline="0" u="none">
                <a:solidFill>
                  <a:srgbClr val="2F2F2F"/>
                </a:solidFill>
                <a:latin typeface="Arial"/>
                <a:ea typeface="Arial"/>
              </a:rPr>
              <a:t>云计算与边缘计算结合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8406681" y="2293673"/>
            <a:ext cx="2723956" cy="3007724"/>
          </a:xfrm>
          <a:prstGeom prst="roundRect">
            <a:avLst>
              <a:gd name="adj" fmla="val 5186"/>
            </a:avLst>
          </a:prstGeom>
          <a:noFill/>
          <a:ln w="9525" cap="flat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4" id="14"/>
          <p:cNvSpPr txBox="true"/>
          <p:nvPr/>
        </p:nvSpPr>
        <p:spPr>
          <a:xfrm>
            <a:off x="8409627" y="2432504"/>
            <a:ext cx="2718063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en-US" b="true" i="false" sz="1600" baseline="0" u="none">
                <a:solidFill>
                  <a:srgbClr val="2F2F2F"/>
                </a:solidFill>
                <a:latin typeface="Arial"/>
                <a:ea typeface="Arial"/>
              </a:rPr>
              <a:t>实时生成技术的创新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应用前景</a:t>
            </a:r>
          </a:p>
        </p:txBody>
      </p:sp>
      <p:sp>
        <p:nvSpPr>
          <p:cNvPr name="Freeform 3" id="3"/>
          <p:cNvSpPr/>
          <p:nvPr/>
        </p:nvSpPr>
        <p:spPr>
          <a:xfrm>
            <a:off x="939827" y="1969941"/>
            <a:ext cx="3171870" cy="1585935"/>
          </a:xfrm>
          <a:custGeom>
            <a:avLst/>
            <a:gdLst/>
            <a:ahLst/>
            <a:cxnLst/>
            <a:rect r="r" b="b" t="t" l="l"/>
            <a:pathLst>
              <a:path w="3171870" h="1585935" stroke="true" fill="norm" extrusionOk="true">
                <a:moveTo>
                  <a:pt x="1585935" y="0"/>
                </a:moveTo>
                <a:cubicBezTo>
                  <a:pt x="2461823" y="0"/>
                  <a:pt x="3171870" y="710047"/>
                  <a:pt x="3171870" y="1585935"/>
                </a:cubicBezTo>
                <a:lnTo>
                  <a:pt x="0" y="1585935"/>
                </a:lnTo>
                <a:cubicBezTo>
                  <a:pt x="0" y="710047"/>
                  <a:pt x="710047" y="0"/>
                  <a:pt x="1585935" y="0"/>
                </a:cubicBezTo>
                <a:close/>
              </a:path>
            </a:pathLst>
          </a:custGeom>
          <a:gradFill>
            <a:gsLst>
              <a:gs pos="0">
                <a:srgbClr val="EC1726">
                  <a:lumMod val="60000"/>
                  <a:lumOff val="40000"/>
                </a:srgbClr>
              </a:gs>
              <a:gs pos="60000">
                <a:srgbClr val="EC1726"/>
              </a:gs>
            </a:gsLst>
            <a:lin ang="2700000"/>
          </a:gradFill>
          <a:ln cap="rnd" cmpd="sng">
            <a:prstDash val="solid"/>
          </a:ln>
          <a:effectLst>
            <a:outerShdw algn="ctr" blurRad="50800" dir="5400000" dist="50800" rotWithShape="false">
              <a:schemeClr val="accent1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4" id="4"/>
          <p:cNvGrpSpPr/>
          <p:nvPr/>
        </p:nvGrpSpPr>
        <p:grpSpPr>
          <a:xfrm>
            <a:off x="2293534" y="1370085"/>
            <a:ext cx="464457" cy="498040"/>
            <a:chOff x="2322286" y="2032000"/>
            <a:chExt cx="464457" cy="498040"/>
          </a:xfrm>
        </p:grpSpPr>
        <p:sp>
          <p:nvSpPr>
            <p:cNvPr name="AutoShape 5" id="5"/>
            <p:cNvSpPr/>
            <p:nvPr/>
          </p:nvSpPr>
          <p:spPr>
            <a:xfrm>
              <a:off x="2322286" y="2032000"/>
              <a:ext cx="464457" cy="464457"/>
            </a:xfrm>
            <a:prstGeom prst="ellipse">
              <a:avLst/>
            </a:prstGeom>
            <a:gradFill>
              <a:gsLst>
                <a:gs pos="0">
                  <a:srgbClr val="EC1726">
                    <a:lumMod val="60000"/>
                    <a:lumOff val="40000"/>
                  </a:srgbClr>
                </a:gs>
                <a:gs pos="60000">
                  <a:srgbClr val="EC1726"/>
                </a:gs>
              </a:gsLst>
              <a:lin ang="2700000"/>
            </a:gradFill>
            <a:ln cap="rnd" cmpd="sng">
              <a:prstDash val="solid"/>
            </a:ln>
            <a:effectLst>
              <a:outerShdw algn="ctr" blurRad="50800" dir="5400000" dist="50800" rotWithShape="false">
                <a:schemeClr val="accent1">
                  <a:alpha val="20000"/>
                </a:schemeClr>
              </a:outerShdw>
            </a:effectLst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  <a:r>
                <a:rPr lang="en-US" b="true" i="false" sz="1019" baseline="0" u="none">
                  <a:solidFill>
                    <a:schemeClr val="lt1"/>
                  </a:solidFill>
                  <a:latin typeface="Arial"/>
                  <a:ea typeface="Arial"/>
                </a:rPr>
                <a:t>01</a:t>
              </a:r>
            </a:p>
          </p:txBody>
        </p:sp>
        <p:sp>
          <p:nvSpPr>
            <p:cNvPr name="AutoShape 6" id="6"/>
            <p:cNvSpPr/>
            <p:nvPr/>
          </p:nvSpPr>
          <p:spPr>
            <a:xfrm rot="18000000">
              <a:off x="2527997" y="2480663"/>
              <a:ext cx="53034" cy="45719"/>
            </a:xfrm>
            <a:prstGeom prst="triangle">
              <a:avLst/>
            </a:prstGeom>
            <a:solidFill>
              <a:schemeClr val="accent1"/>
            </a:solidFill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TextBox 7" id="7"/>
          <p:cNvSpPr txBox="true"/>
          <p:nvPr/>
        </p:nvSpPr>
        <p:spPr>
          <a:xfrm>
            <a:off x="1426191" y="2593960"/>
            <a:ext cx="172113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跨行业应用扩展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>
            <a:off x="3295677" y="1969941"/>
            <a:ext cx="3171870" cy="1585935"/>
          </a:xfrm>
          <a:custGeom>
            <a:avLst/>
            <a:gdLst/>
            <a:ahLst/>
            <a:cxnLst/>
            <a:rect r="r" b="b" t="t" l="l"/>
            <a:pathLst>
              <a:path w="3171870" h="1585935" stroke="true" fill="norm" extrusionOk="true">
                <a:moveTo>
                  <a:pt x="1585935" y="0"/>
                </a:moveTo>
                <a:cubicBezTo>
                  <a:pt x="2461823" y="0"/>
                  <a:pt x="3171870" y="710047"/>
                  <a:pt x="3171870" y="1585935"/>
                </a:cubicBezTo>
                <a:lnTo>
                  <a:pt x="0" y="1585935"/>
                </a:lnTo>
                <a:cubicBezTo>
                  <a:pt x="0" y="710047"/>
                  <a:pt x="710047" y="0"/>
                  <a:pt x="1585935" y="0"/>
                </a:cubicBezTo>
                <a:close/>
              </a:path>
            </a:pathLst>
          </a:custGeom>
          <a:gradFill>
            <a:gsLst>
              <a:gs pos="0">
                <a:srgbClr val="F05C0F">
                  <a:lumMod val="60000"/>
                  <a:lumOff val="40000"/>
                </a:srgbClr>
              </a:gs>
              <a:gs pos="60000">
                <a:srgbClr val="F05C0F"/>
              </a:gs>
            </a:gsLst>
            <a:lin ang="2700000"/>
          </a:gradFill>
          <a:ln cap="rnd" cmpd="sng">
            <a:prstDash val="solid"/>
          </a:ln>
          <a:effectLst>
            <a:outerShdw algn="ctr" blurRad="50800" dir="5400000" dist="50800" rotWithShape="false">
              <a:schemeClr val="accent2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9" id="9"/>
          <p:cNvGrpSpPr/>
          <p:nvPr/>
        </p:nvGrpSpPr>
        <p:grpSpPr>
          <a:xfrm>
            <a:off x="4649384" y="1370085"/>
            <a:ext cx="464457" cy="498040"/>
            <a:chOff x="2322286" y="2032000"/>
            <a:chExt cx="464457" cy="498040"/>
          </a:xfrm>
          <a:solidFill>
            <a:schemeClr val="accent2"/>
          </a:solidFill>
        </p:grpSpPr>
        <p:sp>
          <p:nvSpPr>
            <p:cNvPr name="AutoShape 10" id="10"/>
            <p:cNvSpPr/>
            <p:nvPr/>
          </p:nvSpPr>
          <p:spPr>
            <a:xfrm>
              <a:off x="2322286" y="2032000"/>
              <a:ext cx="464457" cy="464457"/>
            </a:xfrm>
            <a:prstGeom prst="ellipse">
              <a:avLst/>
            </a:prstGeom>
            <a:gradFill>
              <a:gsLst>
                <a:gs pos="0">
                  <a:srgbClr val="F05C0F">
                    <a:lumMod val="60000"/>
                    <a:lumOff val="40000"/>
                  </a:srgbClr>
                </a:gs>
                <a:gs pos="60000">
                  <a:srgbClr val="F05C0F"/>
                </a:gs>
              </a:gsLst>
              <a:lin ang="2700000"/>
            </a:gradFill>
            <a:ln cap="rnd" cmpd="sng">
              <a:prstDash val="solid"/>
            </a:ln>
            <a:effectLst>
              <a:outerShdw algn="ctr" blurRad="50800" dir="5400000" dist="50800" rotWithShape="false">
                <a:schemeClr val="accent2">
                  <a:alpha val="20000"/>
                </a:schemeClr>
              </a:outerShdw>
            </a:effectLst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  <a:r>
                <a:rPr lang="en-US" b="true" i="false" sz="1019" baseline="0" u="none">
                  <a:solidFill>
                    <a:schemeClr val="lt1"/>
                  </a:solidFill>
                  <a:latin typeface="Arial"/>
                  <a:ea typeface="Arial"/>
                </a:rPr>
                <a:t>02</a:t>
              </a:r>
            </a:p>
          </p:txBody>
        </p:sp>
        <p:sp>
          <p:nvSpPr>
            <p:cNvPr name="AutoShape 11" id="11"/>
            <p:cNvSpPr/>
            <p:nvPr/>
          </p:nvSpPr>
          <p:spPr>
            <a:xfrm rot="18000000">
              <a:off x="2527997" y="2480663"/>
              <a:ext cx="53034" cy="45719"/>
            </a:xfrm>
            <a:prstGeom prst="triangle">
              <a:avLst/>
            </a:prstGeom>
            <a:grpFill/>
            <a:ln cap="flat" cmpd="sng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TextBox 12" id="12"/>
          <p:cNvSpPr txBox="true"/>
          <p:nvPr/>
        </p:nvSpPr>
        <p:spPr>
          <a:xfrm>
            <a:off x="3782041" y="2593960"/>
            <a:ext cx="1869486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ln/>
                <a:solidFill>
                  <a:srgbClr val="FFFFFF"/>
                </a:solidFill>
                <a:latin typeface="微软雅黑"/>
                <a:ea typeface="微软雅黑"/>
              </a:rPr>
              <a:t>个性化定制服务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>
            <a:off x="5651527" y="1969941"/>
            <a:ext cx="3171870" cy="1585935"/>
          </a:xfrm>
          <a:custGeom>
            <a:avLst/>
            <a:gdLst/>
            <a:ahLst/>
            <a:cxnLst/>
            <a:rect r="r" b="b" t="t" l="l"/>
            <a:pathLst>
              <a:path w="3171870" h="1585935" stroke="true" fill="norm" extrusionOk="true">
                <a:moveTo>
                  <a:pt x="1585935" y="0"/>
                </a:moveTo>
                <a:cubicBezTo>
                  <a:pt x="2461823" y="0"/>
                  <a:pt x="3171870" y="710047"/>
                  <a:pt x="3171870" y="1585935"/>
                </a:cubicBezTo>
                <a:lnTo>
                  <a:pt x="0" y="1585935"/>
                </a:lnTo>
                <a:cubicBezTo>
                  <a:pt x="0" y="710047"/>
                  <a:pt x="710047" y="0"/>
                  <a:pt x="1585935" y="0"/>
                </a:cubicBezTo>
                <a:close/>
              </a:path>
            </a:pathLst>
          </a:custGeom>
          <a:gradFill>
            <a:gsLst>
              <a:gs pos="0">
                <a:srgbClr val="E54666">
                  <a:lumMod val="60000"/>
                  <a:lumOff val="40000"/>
                </a:srgbClr>
              </a:gs>
              <a:gs pos="60000">
                <a:srgbClr val="E54666"/>
              </a:gs>
            </a:gsLst>
            <a:lin ang="2700000"/>
          </a:gradFill>
          <a:ln cap="rnd" cmpd="sng">
            <a:prstDash val="solid"/>
          </a:ln>
          <a:effectLst>
            <a:outerShdw algn="ctr" blurRad="50800" dir="5400000" dist="50800" rotWithShape="false">
              <a:schemeClr val="accent3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14" id="14"/>
          <p:cNvGrpSpPr/>
          <p:nvPr/>
        </p:nvGrpSpPr>
        <p:grpSpPr>
          <a:xfrm>
            <a:off x="7005234" y="1370085"/>
            <a:ext cx="464457" cy="498040"/>
            <a:chOff x="2322286" y="2032000"/>
            <a:chExt cx="464457" cy="498040"/>
          </a:xfrm>
        </p:grpSpPr>
        <p:sp>
          <p:nvSpPr>
            <p:cNvPr name="AutoShape 15" id="15"/>
            <p:cNvSpPr/>
            <p:nvPr/>
          </p:nvSpPr>
          <p:spPr>
            <a:xfrm>
              <a:off x="2322286" y="2032000"/>
              <a:ext cx="464457" cy="464457"/>
            </a:xfrm>
            <a:prstGeom prst="ellipse">
              <a:avLst/>
            </a:prstGeom>
            <a:gradFill>
              <a:gsLst>
                <a:gs pos="0">
                  <a:srgbClr val="E54666">
                    <a:lumMod val="60000"/>
                    <a:lumOff val="40000"/>
                  </a:srgbClr>
                </a:gs>
                <a:gs pos="60000">
                  <a:srgbClr val="E54666"/>
                </a:gs>
              </a:gsLst>
              <a:lin ang="2700000"/>
            </a:gradFill>
            <a:ln cap="rnd" cmpd="sng">
              <a:prstDash val="solid"/>
            </a:ln>
            <a:effectLst>
              <a:outerShdw algn="ctr" blurRad="50800" dir="5400000" dist="50800" rotWithShape="false">
                <a:schemeClr val="accent3">
                  <a:alpha val="20000"/>
                </a:schemeClr>
              </a:outerShdw>
            </a:effectLst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  <a:r>
                <a:rPr lang="en-US" b="true" i="false" sz="1019" baseline="0" u="none">
                  <a:solidFill>
                    <a:schemeClr val="lt1"/>
                  </a:solidFill>
                  <a:latin typeface="Arial"/>
                  <a:ea typeface="Arial"/>
                </a:rPr>
                <a:t>03</a:t>
              </a:r>
            </a:p>
          </p:txBody>
        </p:sp>
        <p:sp>
          <p:nvSpPr>
            <p:cNvPr name="AutoShape 16" id="16"/>
            <p:cNvSpPr/>
            <p:nvPr/>
          </p:nvSpPr>
          <p:spPr>
            <a:xfrm rot="18000000">
              <a:off x="2527997" y="2480663"/>
              <a:ext cx="53034" cy="45719"/>
            </a:xfrm>
            <a:prstGeom prst="triangle">
              <a:avLst/>
            </a:prstGeom>
            <a:gradFill>
              <a:gsLst>
                <a:gs pos="0">
                  <a:srgbClr val="E54666">
                    <a:lumMod val="60000"/>
                    <a:lumOff val="40000"/>
                  </a:srgbClr>
                </a:gs>
                <a:gs pos="60000">
                  <a:srgbClr val="E54666"/>
                </a:gs>
              </a:gsLst>
              <a:lin ang="2700000"/>
            </a:gradFill>
            <a:ln cap="rnd" cmpd="sng">
              <a:prstDash val="solid"/>
            </a:ln>
            <a:effectLst>
              <a:outerShdw algn="ctr" blurRad="50800" dir="5400000" dist="50800" rotWithShape="false">
                <a:schemeClr val="accent3">
                  <a:alpha val="20000"/>
                </a:schemeClr>
              </a:outerShdw>
            </a:effectLst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TextBox 17" id="17"/>
          <p:cNvSpPr txBox="true"/>
          <p:nvPr/>
        </p:nvSpPr>
        <p:spPr>
          <a:xfrm>
            <a:off x="6376001" y="2593960"/>
            <a:ext cx="148302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ln/>
                <a:solidFill>
                  <a:srgbClr val="FFFFFF"/>
                </a:solidFill>
                <a:latin typeface="微软雅黑"/>
                <a:ea typeface="微软雅黑"/>
              </a:rPr>
              <a:t>智能化决策支持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>
            <a:off x="8007377" y="1969941"/>
            <a:ext cx="3171870" cy="1585935"/>
          </a:xfrm>
          <a:custGeom>
            <a:avLst/>
            <a:gdLst/>
            <a:ahLst/>
            <a:cxnLst/>
            <a:rect r="r" b="b" t="t" l="l"/>
            <a:pathLst>
              <a:path w="3171870" h="1585935" stroke="true" fill="norm" extrusionOk="true">
                <a:moveTo>
                  <a:pt x="1585935" y="0"/>
                </a:moveTo>
                <a:cubicBezTo>
                  <a:pt x="2461823" y="0"/>
                  <a:pt x="3171870" y="710047"/>
                  <a:pt x="3171870" y="1585935"/>
                </a:cubicBezTo>
                <a:lnTo>
                  <a:pt x="0" y="1585935"/>
                </a:lnTo>
                <a:cubicBezTo>
                  <a:pt x="0" y="710047"/>
                  <a:pt x="710047" y="0"/>
                  <a:pt x="1585935" y="0"/>
                </a:cubicBezTo>
                <a:close/>
              </a:path>
            </a:pathLst>
          </a:custGeom>
          <a:gradFill>
            <a:gsLst>
              <a:gs pos="0">
                <a:srgbClr val="FCBE5D">
                  <a:lumMod val="60000"/>
                  <a:lumOff val="40000"/>
                </a:srgbClr>
              </a:gs>
              <a:gs pos="60000">
                <a:srgbClr val="FCBE5D"/>
              </a:gs>
            </a:gsLst>
            <a:lin ang="2700000"/>
          </a:gradFill>
          <a:ln cap="rnd" cmpd="sng">
            <a:prstDash val="solid"/>
          </a:ln>
          <a:effectLst>
            <a:outerShdw algn="ctr" blurRad="50800" dir="5400000" dist="50800" rotWithShape="false">
              <a:schemeClr val="accent4">
                <a:alpha val="20000"/>
              </a:schemeClr>
            </a:outerShdw>
          </a:effectLst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grpSp>
        <p:nvGrpSpPr>
          <p:cNvPr name="Group 19" id="19"/>
          <p:cNvGrpSpPr/>
          <p:nvPr/>
        </p:nvGrpSpPr>
        <p:grpSpPr>
          <a:xfrm>
            <a:off x="9361084" y="1370085"/>
            <a:ext cx="464457" cy="498040"/>
            <a:chOff x="2322286" y="2032000"/>
            <a:chExt cx="464457" cy="498040"/>
          </a:xfrm>
          <a:solidFill>
            <a:schemeClr val="accent2"/>
          </a:solidFill>
        </p:grpSpPr>
        <p:sp>
          <p:nvSpPr>
            <p:cNvPr name="AutoShape 20" id="20"/>
            <p:cNvSpPr/>
            <p:nvPr/>
          </p:nvSpPr>
          <p:spPr>
            <a:xfrm>
              <a:off x="2322286" y="2032000"/>
              <a:ext cx="464457" cy="464457"/>
            </a:xfrm>
            <a:prstGeom prst="ellipse">
              <a:avLst/>
            </a:prstGeom>
            <a:gradFill>
              <a:gsLst>
                <a:gs pos="0">
                  <a:srgbClr val="FCBE5D">
                    <a:lumMod val="60000"/>
                    <a:lumOff val="40000"/>
                  </a:srgbClr>
                </a:gs>
                <a:gs pos="60000">
                  <a:srgbClr val="FCBE5D"/>
                </a:gs>
              </a:gsLst>
              <a:lin ang="2700000"/>
            </a:gradFill>
            <a:ln cap="rnd" cmpd="sng">
              <a:prstDash val="solid"/>
            </a:ln>
            <a:effectLst>
              <a:outerShdw algn="ctr" blurRad="50800" dir="5400000" dist="50800" rotWithShape="false">
                <a:schemeClr val="accent4">
                  <a:alpha val="20000"/>
                </a:schemeClr>
              </a:outerShdw>
            </a:effectLst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  <a:r>
                <a:rPr lang="en-US" b="true" i="false" sz="1019" baseline="0" u="none">
                  <a:solidFill>
                    <a:schemeClr val="lt1"/>
                  </a:solidFill>
                  <a:latin typeface="Arial"/>
                  <a:ea typeface="Arial"/>
                </a:rPr>
                <a:t>04</a:t>
              </a:r>
            </a:p>
          </p:txBody>
        </p:sp>
        <p:sp>
          <p:nvSpPr>
            <p:cNvPr name="AutoShape 21" id="21"/>
            <p:cNvSpPr/>
            <p:nvPr/>
          </p:nvSpPr>
          <p:spPr>
            <a:xfrm rot="18000000">
              <a:off x="2527997" y="2480663"/>
              <a:ext cx="53034" cy="45719"/>
            </a:xfrm>
            <a:prstGeom prst="triangle">
              <a:avLst/>
            </a:prstGeom>
            <a:gradFill>
              <a:gsLst>
                <a:gs pos="0">
                  <a:srgbClr val="FCBE5D">
                    <a:lumMod val="60000"/>
                    <a:lumOff val="40000"/>
                  </a:srgbClr>
                </a:gs>
                <a:gs pos="60000">
                  <a:srgbClr val="FCBE5D"/>
                </a:gs>
              </a:gsLst>
              <a:lin ang="2700000"/>
            </a:gradFill>
            <a:ln cap="rnd" cmpd="sng">
              <a:prstDash val="solid"/>
            </a:ln>
            <a:effectLst>
              <a:outerShdw algn="ctr" blurRad="50800" dir="5400000" dist="50800" rotWithShape="false">
                <a:schemeClr val="accent4">
                  <a:alpha val="20000"/>
                </a:schemeClr>
              </a:outerShdw>
            </a:effectLst>
          </p:spPr>
          <p:txBody>
            <a:bodyPr vert="horz" rot="0" anchor="ctr" wrap="square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TextBox 22" id="22"/>
          <p:cNvSpPr txBox="true"/>
          <p:nvPr/>
        </p:nvSpPr>
        <p:spPr>
          <a:xfrm>
            <a:off x="8971745" y="2593960"/>
            <a:ext cx="1625742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ln/>
                <a:solidFill>
                  <a:srgbClr val="2F2F2F">
                    <a:lumMod val="95000"/>
                    <a:lumOff val="5000"/>
                  </a:srgbClr>
                </a:solidFill>
                <a:latin typeface="微软雅黑"/>
                <a:ea typeface="微软雅黑"/>
              </a:rPr>
              <a:t>全球化市场拓展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>
            <a:off x="3295677" y="3997788"/>
            <a:ext cx="0" cy="1625084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</a:ln>
        </p:spPr>
      </p:cxnSp>
      <p:cxnSp>
        <p:nvCxnSpPr>
          <p:cNvPr name="Connector 24" id="24"/>
          <p:cNvCxnSpPr/>
          <p:nvPr/>
        </p:nvCxnSpPr>
        <p:spPr>
          <a:xfrm>
            <a:off x="6089650" y="3997788"/>
            <a:ext cx="6350" cy="1625084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</a:ln>
        </p:spPr>
      </p:cxnSp>
      <p:cxnSp>
        <p:nvCxnSpPr>
          <p:cNvPr name="Connector 25" id="25"/>
          <p:cNvCxnSpPr/>
          <p:nvPr/>
        </p:nvCxnSpPr>
        <p:spPr>
          <a:xfrm>
            <a:off x="8809817" y="3997788"/>
            <a:ext cx="0" cy="1550021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</a:ln>
        </p:spPr>
      </p:cxnSp>
      <p:sp>
        <p:nvSpPr>
          <p:cNvPr name="TextBox 26" id="26"/>
          <p:cNvSpPr txBox="true"/>
          <p:nvPr/>
        </p:nvSpPr>
        <p:spPr>
          <a:xfrm>
            <a:off x="904115" y="4018282"/>
            <a:ext cx="2243214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实时生成PPT技术将在更多行业中得到应用，如医疗、金融、教育等，提升行业效率。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3589258" y="4018282"/>
            <a:ext cx="2243214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个性化定制服务将根据用户需求，提供更加精准和个性化的PPT生成服务。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6376001" y="4018282"/>
            <a:ext cx="2243214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智能化决策支持将通过实时生成PPT，提供更加准确和及时的数据分析，支持决策制定。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9177258" y="4018282"/>
            <a:ext cx="2243214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全球化市场拓展将通过实时生成PPT技术，满足不同国家和地区的需求，推动全球化发展。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2794000" y="3429000"/>
            <a:ext cx="5731164" cy="424732"/>
          </a:xfrm>
        </p:spPr>
        <p:txBody>
          <a:bodyPr vert="horz" anchor="t" tIns="45720" lIns="91440" bIns="45720" rIns="91440">
            <a:normAutofit/>
          </a:bodyPr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zh-CN" b="true" i="false" sz="3184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实时生成PPT的实施策略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314576" y="2348705"/>
            <a:ext cx="1210588" cy="1089529"/>
          </a:xfrm>
          <a:prstGeom prst="rect">
            <a:avLst/>
          </a:prstGeom>
        </p:spPr>
        <p:txBody>
          <a:bodyPr anchor="b" rtlCol="false" vert="horz" wrap="non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en-GB" b="true" i="false" sz="7200" baseline="0" u="none">
                <a:gradFill>
                  <a:gsLst>
                    <a:gs pos="29000">
                      <a:srgbClr val="FFFFFF"/>
                    </a:gs>
                    <a:gs pos="80000">
                      <a:srgbClr val="FCBE5D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latin typeface="Arial"/>
                <a:ea typeface="Arial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实施步骤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3" y="4407285"/>
            <a:ext cx="5228634" cy="1198361"/>
          </a:xfrm>
          <a:prstGeom prst="roundRect">
            <a:avLst>
              <a:gd name="adj" fmla="val 5931"/>
            </a:avLst>
          </a:prstGeom>
          <a:solidFill>
            <a:srgbClr val="FFFFFF"/>
          </a:solidFill>
          <a:ln cap="flat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需求分析与规划是实施实时生成PPT的第一步，需要明确用户需求和系统功能。</a:t>
            </a:r>
          </a:p>
        </p:txBody>
      </p:sp>
      <p:sp>
        <p:nvSpPr>
          <p:cNvPr name="AutoShape 4" id="4"/>
          <p:cNvSpPr/>
          <p:nvPr/>
        </p:nvSpPr>
        <p:spPr>
          <a:xfrm>
            <a:off x="660400" y="3786939"/>
            <a:ext cx="5228634" cy="480812"/>
          </a:xfrm>
          <a:prstGeom prst="roundRect">
            <a:avLst>
              <a:gd name="adj" fmla="val 15900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square" tIns="108000" lIns="108000" bIns="108000" rIns="108000">
            <a:noAutofit/>
          </a:bodyPr>
          <a:p>
            <a:pPr algn="l" marL="0"/>
            <a:r>
              <a:rPr lang="zh-CN" b="true" i="false" sz="1600" baseline="0" u="none" altLang="en-US">
                <a:solidFill>
                  <a:srgbClr val="FFFFFF"/>
                </a:solidFill>
                <a:latin typeface="+mn-ea"/>
                <a:ea typeface="+mn-ea"/>
              </a:rPr>
              <a:t>需求分析与规划</a:t>
            </a:r>
          </a:p>
        </p:txBody>
      </p:sp>
      <p:sp>
        <p:nvSpPr>
          <p:cNvPr name="AutoShape 5" id="5"/>
          <p:cNvSpPr/>
          <p:nvPr/>
        </p:nvSpPr>
        <p:spPr>
          <a:xfrm>
            <a:off x="660402" y="1768977"/>
            <a:ext cx="5228634" cy="1874948"/>
          </a:xfrm>
          <a:prstGeom prst="roundRect">
            <a:avLst>
              <a:gd name="adj" fmla="val 5931"/>
            </a:avLst>
          </a:prstGeom>
          <a:blipFill>
            <a:blip r:embed="rId2"/>
            <a:srcRect/>
            <a:stretch>
              <a:fillRect t="0" l="0" b="0" r="0"/>
            </a:stretch>
          </a:blip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6290266" y="4407285"/>
            <a:ext cx="5228634" cy="1198361"/>
          </a:xfrm>
          <a:prstGeom prst="roundRect">
            <a:avLst>
              <a:gd name="adj" fmla="val 5931"/>
            </a:avLst>
          </a:prstGeom>
          <a:solidFill>
            <a:srgbClr val="FFFFFF"/>
          </a:solidFill>
          <a:ln cap="flat">
            <a:prstDash val="solid"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+mn-ea"/>
                <a:ea typeface="+mn-ea"/>
              </a:rPr>
              <a:t>技术选型与开发需要根据需求选择合适的</a:t>
            </a:r>
          </a:p>
        </p:txBody>
      </p:sp>
      <p:sp>
        <p:nvSpPr>
          <p:cNvPr name="AutoShape 7" id="7"/>
          <p:cNvSpPr/>
          <p:nvPr/>
        </p:nvSpPr>
        <p:spPr>
          <a:xfrm>
            <a:off x="6290263" y="3786939"/>
            <a:ext cx="5228634" cy="480812"/>
          </a:xfrm>
          <a:prstGeom prst="roundRect">
            <a:avLst>
              <a:gd name="adj" fmla="val 15900"/>
            </a:avLst>
          </a:prstGeom>
          <a:solidFill>
            <a:srgbClr val="FFFFFF"/>
          </a:solidFill>
          <a:ln cap="flat" cmpd="sng">
            <a:prstDash val="solid"/>
          </a:ln>
        </p:spPr>
        <p:txBody>
          <a:bodyPr vert="horz" anchor="ctr" wrap="square" tIns="108000" lIns="108000" bIns="108000" rIns="108000">
            <a:noAutofit/>
          </a:bodyPr>
          <a:p>
            <a:pPr algn="l" marL="0"/>
            <a:r>
              <a:rPr lang="zh-CN" b="true" i="false" sz="1600" baseline="0" u="none" altLang="en-US">
                <a:solidFill>
                  <a:srgbClr val="2F2F2F"/>
                </a:solidFill>
                <a:latin typeface="+mn-ea"/>
                <a:ea typeface="+mn-ea"/>
              </a:rPr>
              <a:t>技术选型与开发</a:t>
            </a:r>
          </a:p>
        </p:txBody>
      </p:sp>
      <p:sp>
        <p:nvSpPr>
          <p:cNvPr name="AutoShape 8" id="8"/>
          <p:cNvSpPr/>
          <p:nvPr/>
        </p:nvSpPr>
        <p:spPr>
          <a:xfrm>
            <a:off x="6290265" y="1768977"/>
            <a:ext cx="5228634" cy="1874948"/>
          </a:xfrm>
          <a:prstGeom prst="roundRect">
            <a:avLst>
              <a:gd name="adj" fmla="val 5931"/>
            </a:avLst>
          </a:prstGeom>
          <a:blipFill>
            <a:blip r:embed="rId3"/>
            <a:srcRect/>
            <a:stretch>
              <a:fillRect t="0" l="0" b="0" r="0"/>
            </a:stretch>
          </a:blipFill>
          <a:ln cap="flat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body" sz="quarter" idx="13"/>
          </p:nvPr>
        </p:nvSpPr>
        <p:spPr>
          <a:xfrm>
            <a:off x="3162300" y="2230734"/>
            <a:ext cx="8356600" cy="1643062"/>
          </a:xfrm>
        </p:spPr>
        <p:txBody>
          <a:bodyPr vert="horz" anchor="b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en-GB" b="true" i="false" sz="5400" baseline="0" u="none">
                <a:gradFill>
                  <a:gsLst>
                    <a:gs pos="29000">
                      <a:srgbClr val="FFFFFF"/>
                    </a:gs>
                    <a:gs pos="80000">
                      <a:srgbClr val="FCBE5D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latin typeface="Arial"/>
                <a:ea typeface="Arial"/>
              </a:rPr>
              <a:t>Thank you for </a:t>
            </a:r>
          </a:p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en-GB" b="true" i="false" sz="5400" baseline="0" u="none">
                <a:gradFill>
                  <a:gsLst>
                    <a:gs pos="29000">
                      <a:srgbClr val="FFFFFF"/>
                    </a:gs>
                    <a:gs pos="80000">
                      <a:srgbClr val="FCBE5D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latin typeface="Arial"/>
                <a:ea typeface="Arial"/>
              </a:rPr>
              <a:t>watching.</a:t>
            </a:r>
          </a:p>
        </p:txBody>
      </p:sp>
      <p:sp>
        <p:nvSpPr>
          <p:cNvPr name="AutoShape 3" id="3"/>
          <p:cNvSpPr/>
          <p:nvPr>
            <p:ph type="body" sz="quarter" idx="4294967295"/>
          </p:nvPr>
        </p:nvSpPr>
        <p:spPr>
          <a:xfrm>
            <a:off x="3244662" y="4261512"/>
            <a:ext cx="5162546" cy="296271"/>
          </a:xfrm>
        </p:spPr>
        <p:txBody>
          <a:bodyPr vert="horz" anchor="b" tIns="45720" lIns="91440" bIns="45720" rIns="91440">
            <a:normAutofit/>
          </a:bodyPr>
          <a:p>
            <a:pPr algn="l" indent="0" marL="0">
              <a:lnSpc>
                <a:spcPct val="72000"/>
              </a:lnSpc>
              <a:spcBef>
                <a:spcPts val="1000"/>
              </a:spcBef>
            </a:pPr>
            <a:r>
              <a:rPr lang="zh-CN" b="true" i="false" sz="4995" baseline="0" u="none" altLang="en-US">
                <a:gradFill>
                  <a:gsLst>
                    <a:gs pos="29000">
                      <a:srgbClr val="FFFFFF"/>
                    </a:gs>
                    <a:gs pos="80000">
                      <a:srgbClr val="FCBE5D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latin typeface="微软雅黑"/>
                <a:ea typeface="微软雅黑"/>
              </a:rPr>
              <a:t>汇报人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EC1726"/>
      </a:accent1>
      <a:accent2>
        <a:srgbClr val="F05C0F"/>
      </a:accent2>
      <a:accent3>
        <a:srgbClr val="E54666"/>
      </a:accent3>
      <a:accent4>
        <a:srgbClr val="FCBE5D"/>
      </a:accent4>
      <a:accent5>
        <a:srgbClr val="B7AEAE"/>
      </a:accent5>
      <a:accent6>
        <a:srgbClr val="847878"/>
      </a:accent6>
      <a:hlink>
        <a:srgbClr val="F84D4D"/>
      </a:hlink>
      <a:folHlink>
        <a:srgbClr val="97979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cp:lastModifiedBy>卓伟 罗</cp:lastModifiedBy>
  <dcterms:modified xsi:type="dcterms:W3CDTF">2024-05-20T00:48:33Z</dcterms:modified>
  <cp:revision>2</cp:revision>
</cp:coreProperties>
</file>