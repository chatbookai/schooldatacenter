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12700" y="0"/>
            <a:ext cx="12192002" cy="6858001"/>
            <a:chOff x="-99153" y="-723901"/>
            <a:chExt cx="12192002" cy="6858001"/>
          </a:xfrm>
        </p:grpSpPr>
        <p:grpSp>
          <p:nvGrpSpPr>
            <p:cNvPr name="Group 3" id="3"/>
            <p:cNvGrpSpPr/>
            <p:nvPr/>
          </p:nvGrpSpPr>
          <p:grpSpPr>
            <a:xfrm flipH="true">
              <a:off x="-99152" y="-723901"/>
              <a:ext cx="12192001" cy="6858000"/>
              <a:chOff x="1" y="0"/>
              <a:chExt cx="12192001" cy="6858000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tretch>
                <a:fillRect t="0" l="0" b="0" r="0"/>
              </a:stretch>
            </p:blipFill>
            <p:spPr>
              <a:xfrm>
                <a:off x="1" y="0"/>
                <a:ext cx="10287000" cy="6858000"/>
              </a:xfrm>
              <a:prstGeom prst="rect">
                <a:avLst/>
              </a:prstGeom>
            </p:spPr>
          </p:pic>
          <p:pic>
            <p:nvPicPr>
              <p:cNvPr name="image2.png" id="5"/>
              <p:cNvPicPr>
                <a:picLocks noChangeAspect="true"/>
              </p:cNvPicPr>
              <p:nvPr/>
            </p:nvPicPr>
            <p:blipFill>
              <a:blip r:embed="rId2"/>
              <a:srcRect l="91199"/>
              <a:stretch>
                <a:fillRect/>
              </a:stretch>
            </p:blipFill>
            <p:spPr>
              <a:xfrm>
                <a:off x="9477831" y="0"/>
                <a:ext cx="2714171" cy="6858000"/>
              </a:xfrm>
              <a:prstGeom prst="rect">
                <a:avLst/>
              </a:prstGeom>
            </p:spPr>
          </p:pic>
        </p:grpSp>
        <p:sp>
          <p:nvSpPr>
            <p:cNvPr name="AutoShape 6" id="6"/>
            <p:cNvSpPr/>
            <p:nvPr/>
          </p:nvSpPr>
          <p:spPr>
            <a:xfrm rot="16200000">
              <a:off x="2567848" y="-3390901"/>
              <a:ext cx="6858000" cy="12192001"/>
            </a:xfrm>
            <a:prstGeom prst="rect">
              <a:avLst/>
            </a:prstGeom>
            <a:solidFill>
              <a:schemeClr val="accent3">
                <a:alpha val="20000"/>
                <a:lumMod val="1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8" id="8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9" id="9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12700" y="0"/>
            <a:ext cx="12192001" cy="6858000"/>
            <a:chOff x="-12700" y="0"/>
            <a:chExt cx="12192001" cy="6858000"/>
          </a:xfrm>
        </p:grpSpPr>
        <p:grpSp>
          <p:nvGrpSpPr>
            <p:cNvPr name="Group 3" id="3"/>
            <p:cNvGrpSpPr/>
            <p:nvPr/>
          </p:nvGrpSpPr>
          <p:grpSpPr>
            <a:xfrm>
              <a:off x="-12700" y="0"/>
              <a:ext cx="12192001" cy="6858000"/>
              <a:chOff x="-12700" y="0"/>
              <a:chExt cx="12192001" cy="6858000"/>
            </a:xfrm>
          </p:grpSpPr>
          <p:grpSp>
            <p:nvGrpSpPr>
              <p:cNvPr name="Group 4" id="4"/>
              <p:cNvGrpSpPr/>
              <p:nvPr/>
            </p:nvGrpSpPr>
            <p:grpSpPr>
              <a:xfrm flipH="true">
                <a:off x="-12700" y="0"/>
                <a:ext cx="12192001" cy="6858000"/>
                <a:chOff x="1" y="0"/>
                <a:chExt cx="12192001" cy="6858000"/>
              </a:xfrm>
            </p:grpSpPr>
            <p:pic>
              <p:nvPicPr>
                <p:cNvPr name="image1.png" id="5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 t="0" l="0" b="0" r="0"/>
                </a:stretch>
              </p:blipFill>
              <p:spPr>
                <a:xfrm>
                  <a:off x="1" y="0"/>
                  <a:ext cx="10287000" cy="6858000"/>
                </a:xfrm>
                <a:prstGeom prst="rect">
                  <a:avLst/>
                </a:prstGeom>
              </p:spPr>
            </p:pic>
            <p:pic>
              <p:nvPicPr>
                <p:cNvPr name="image1.png" id="6"/>
                <p:cNvPicPr>
                  <a:picLocks noChangeAspect="true"/>
                </p:cNvPicPr>
                <p:nvPr/>
              </p:nvPicPr>
              <p:blipFill>
                <a:blip r:embed="rId2"/>
                <a:srcRect l="91199"/>
                <a:stretch>
                  <a:fillRect/>
                </a:stretch>
              </p:blipFill>
              <p:spPr>
                <a:xfrm>
                  <a:off x="9477831" y="0"/>
                  <a:ext cx="2714171" cy="6858000"/>
                </a:xfrm>
                <a:prstGeom prst="rect">
                  <a:avLst/>
                </a:prstGeom>
              </p:spPr>
            </p:pic>
          </p:grpSp>
          <p:sp>
            <p:nvSpPr>
              <p:cNvPr name="Freeform 7" id="7"/>
              <p:cNvSpPr/>
              <p:nvPr/>
            </p:nvSpPr>
            <p:spPr>
              <a:xfrm>
                <a:off x="16897" y="4724431"/>
                <a:ext cx="2583556" cy="1512790"/>
              </a:xfrm>
              <a:custGeom>
                <a:avLst/>
                <a:gdLst/>
                <a:ahLst/>
                <a:cxnLst/>
                <a:rect r="r" b="b" t="t" l="l"/>
                <a:pathLst>
                  <a:path w="2583556" h="1512790" stroke="true" fill="norm" extrusionOk="true">
                    <a:moveTo>
                      <a:pt x="0" y="0"/>
                    </a:moveTo>
                    <a:lnTo>
                      <a:pt x="1827161" y="0"/>
                    </a:lnTo>
                    <a:cubicBezTo>
                      <a:pt x="2244906" y="0"/>
                      <a:pt x="2583556" y="338650"/>
                      <a:pt x="2583556" y="756395"/>
                    </a:cubicBezTo>
                    <a:lnTo>
                      <a:pt x="2583555" y="756395"/>
                    </a:lnTo>
                    <a:cubicBezTo>
                      <a:pt x="2583555" y="1174140"/>
                      <a:pt x="2244905" y="1512790"/>
                      <a:pt x="1827160" y="1512790"/>
                    </a:cubicBezTo>
                    <a:lnTo>
                      <a:pt x="0" y="1512790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AutoShape 8" id="8"/>
              <p:cNvSpPr/>
              <p:nvPr/>
            </p:nvSpPr>
            <p:spPr>
              <a:xfrm rot="16200000">
                <a:off x="8435975" y="3101975"/>
                <a:ext cx="6858000" cy="65405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9" id="9"/>
              <p:cNvGrpSpPr/>
              <p:nvPr/>
            </p:nvGrpSpPr>
            <p:grpSpPr>
              <a:xfrm>
                <a:off x="1442086" y="5307957"/>
                <a:ext cx="424734" cy="424731"/>
                <a:chOff x="629590" y="4600086"/>
                <a:chExt cx="299830" cy="299832"/>
              </a:xfrm>
            </p:grpSpPr>
            <p:sp>
              <p:nvSpPr>
                <p:cNvPr name="AutoShape 10" id="10"/>
                <p:cNvSpPr/>
                <p:nvPr/>
              </p:nvSpPr>
              <p:spPr>
                <a:xfrm flipH="true" rot="16200000">
                  <a:off x="629589" y="4600087"/>
                  <a:ext cx="299832" cy="299830"/>
                </a:xfrm>
                <a:prstGeom prst="ellipse">
                  <a:avLst/>
                </a:prstGeom>
                <a:noFill/>
                <a:ln w="6350" cap="flat" cmpd="sng">
                  <a:solidFill>
                    <a:srgbClr val="FFFFFF">
                      <a:alpha val="60000"/>
                    </a:srgbClr>
                  </a:solidFill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11" id="11"/>
                <p:cNvSpPr/>
                <p:nvPr/>
              </p:nvSpPr>
              <p:spPr>
                <a:xfrm rot="5400000">
                  <a:off x="754213" y="4719991"/>
                  <a:ext cx="69629" cy="60026"/>
                </a:xfrm>
                <a:prstGeom prst="triangle">
                  <a:avLst/>
                </a:prstGeom>
                <a:solidFill>
                  <a:srgbClr val="FFFFFF"/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11791968" y="636924"/>
              <a:ext cx="117960" cy="70075"/>
              <a:chOff x="11820295" y="893108"/>
              <a:chExt cx="153032" cy="40571"/>
            </a:xfrm>
          </p:grpSpPr>
          <p:cxnSp>
            <p:nvCxnSpPr>
              <p:cNvPr name="Connector 13" id="13"/>
              <p:cNvCxnSpPr/>
              <p:nvPr/>
            </p:nvCxnSpPr>
            <p:spPr>
              <a:xfrm>
                <a:off x="11820295" y="893108"/>
                <a:ext cx="153009" cy="0"/>
              </a:xfrm>
              <a:prstGeom prst="line">
                <a:avLst/>
              </a:prstGeom>
              <a:ln w="15875" cap="rnd" cmpd="sng">
                <a:solidFill>
                  <a:srgbClr val="774A97"/>
                </a:solidFill>
                <a:prstDash val="solid"/>
              </a:ln>
            </p:spPr>
          </p:cxnSp>
          <p:cxnSp>
            <p:nvCxnSpPr>
              <p:cNvPr name="Connector 14" id="14"/>
              <p:cNvCxnSpPr/>
              <p:nvPr/>
            </p:nvCxnSpPr>
            <p:spPr>
              <a:xfrm>
                <a:off x="11902652" y="933679"/>
                <a:ext cx="70675" cy="0"/>
              </a:xfrm>
              <a:prstGeom prst="line">
                <a:avLst/>
              </a:prstGeom>
              <a:ln w="15875" cap="rnd" cmpd="sng">
                <a:solidFill>
                  <a:srgbClr val="774A97"/>
                </a:solidFill>
                <a:prstDash val="solid"/>
              </a:ln>
            </p:spPr>
          </p:cxnSp>
        </p:grpSp>
      </p:grpSp>
      <p:sp>
        <p:nvSpPr>
          <p:cNvPr name="AutoShape 15" id="15"/>
          <p:cNvSpPr/>
          <p:nvPr>
            <p:ph type="ctrTitle"/>
          </p:nvPr>
        </p:nvSpPr>
        <p:spPr>
          <a:xfrm>
            <a:off x="558835" y="3002092"/>
            <a:ext cx="4789424" cy="1173162"/>
          </a:xfrm>
        </p:spPr>
        <p:txBody>
          <a:bodyPr vert="horz" anchor="b" tIns="45720" lIns="91440" bIns="45720" rIns="91440">
            <a:noAutofit/>
          </a:bodyPr>
          <a:p>
            <a:pPr algn="l" marL="0">
              <a:lnSpc>
                <a:spcPct val="100000"/>
              </a:lnSpc>
              <a:spcBef>
                <a:spcPct val="0"/>
              </a:spcBef>
            </a:pP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Click to edit </a:t>
            </a:r>
            <a:b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</a:br>
            <a:r>
              <a:rPr lang="en-US" b="true" i="false" sz="4000" baseline="0" u="none">
                <a:solidFill>
                  <a:srgbClr val="FFFFFF"/>
                </a:solidFill>
                <a:latin typeface="Arial"/>
                <a:ea typeface="Arial"/>
              </a:rPr>
              <a:t>Master title style</a:t>
            </a:r>
          </a:p>
        </p:txBody>
      </p:sp>
      <p:sp>
        <p:nvSpPr>
          <p:cNvPr name="AutoShape 16" id="16"/>
          <p:cNvSpPr/>
          <p:nvPr>
            <p:ph type="subTitle" idx="1"/>
          </p:nvPr>
        </p:nvSpPr>
        <p:spPr>
          <a:xfrm>
            <a:off x="2050161" y="5421065"/>
            <a:ext cx="4789424" cy="535853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ct val="0"/>
              </a:spcBef>
            </a:pPr>
            <a:r>
              <a:rPr lang="en-US" b="false" i="false" sz="14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name="AutoShape 17" id="17"/>
          <p:cNvSpPr/>
          <p:nvPr>
            <p:ph type="body" sz="quarter" idx="13"/>
          </p:nvPr>
        </p:nvSpPr>
        <p:spPr>
          <a:xfrm rot="5400000">
            <a:off x="10871454" y="5159822"/>
            <a:ext cx="1987042" cy="296271"/>
          </a:xfrm>
        </p:spPr>
        <p:txBody>
          <a:bodyPr vert="horz" anchor="ctr" tIns="45720" lIns="91440" bIns="45720" rIns="91440">
            <a:normAutofit/>
          </a:bodyPr>
          <a:p>
            <a:pPr algn="ctr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774A97"/>
                </a:solidFill>
                <a:latin typeface="Arial"/>
                <a:ea typeface="Arial"/>
              </a:rPr>
              <a:t>Speaker name and title</a:t>
            </a:r>
          </a:p>
        </p:txBody>
      </p:sp>
      <p:sp>
        <p:nvSpPr>
          <p:cNvPr name="AutoShape 18" id="18"/>
          <p:cNvSpPr/>
          <p:nvPr>
            <p:ph type="body" sz="quarter" idx="15"/>
          </p:nvPr>
        </p:nvSpPr>
        <p:spPr>
          <a:xfrm>
            <a:off x="671367" y="513652"/>
            <a:ext cx="1039091" cy="296271"/>
          </a:xfrm>
        </p:spPr>
        <p:txBody>
          <a:bodyPr vert="horz" anchor="ctr" wrap="none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1200" baseline="0" u="none">
                <a:solidFill>
                  <a:srgbClr val="FFFFFF"/>
                </a:solidFill>
                <a:latin typeface="Arial"/>
                <a:ea typeface="Arial"/>
              </a:rPr>
              <a:t>LGOO HERE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12700" y="0"/>
            <a:ext cx="12192002" cy="6858001"/>
            <a:chOff x="-99153" y="-723901"/>
            <a:chExt cx="12192002" cy="6858001"/>
          </a:xfrm>
        </p:grpSpPr>
        <p:grpSp>
          <p:nvGrpSpPr>
            <p:cNvPr name="Group 3" id="3"/>
            <p:cNvGrpSpPr/>
            <p:nvPr/>
          </p:nvGrpSpPr>
          <p:grpSpPr>
            <a:xfrm flipH="true">
              <a:off x="-99152" y="-723901"/>
              <a:ext cx="12192001" cy="6858000"/>
              <a:chOff x="1" y="0"/>
              <a:chExt cx="12192001" cy="6858000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tretch>
                <a:fillRect t="0" l="0" b="0" r="0"/>
              </a:stretch>
            </p:blipFill>
            <p:spPr>
              <a:xfrm>
                <a:off x="1" y="0"/>
                <a:ext cx="10287000" cy="6858000"/>
              </a:xfrm>
              <a:prstGeom prst="rect">
                <a:avLst/>
              </a:prstGeom>
            </p:spPr>
          </p:pic>
          <p:pic>
            <p:nvPicPr>
              <p:cNvPr name="image2.png" id="5"/>
              <p:cNvPicPr>
                <a:picLocks noChangeAspect="true"/>
              </p:cNvPicPr>
              <p:nvPr/>
            </p:nvPicPr>
            <p:blipFill>
              <a:blip r:embed="rId2"/>
              <a:srcRect l="91199"/>
              <a:stretch>
                <a:fillRect/>
              </a:stretch>
            </p:blipFill>
            <p:spPr>
              <a:xfrm>
                <a:off x="9477831" y="0"/>
                <a:ext cx="2714171" cy="6858000"/>
              </a:xfrm>
              <a:prstGeom prst="rect">
                <a:avLst/>
              </a:prstGeom>
            </p:spPr>
          </p:pic>
        </p:grpSp>
        <p:sp>
          <p:nvSpPr>
            <p:cNvPr name="AutoShape 6" id="6"/>
            <p:cNvSpPr/>
            <p:nvPr/>
          </p:nvSpPr>
          <p:spPr>
            <a:xfrm rot="16200000">
              <a:off x="2567848" y="-3390901"/>
              <a:ext cx="6858000" cy="12192001"/>
            </a:xfrm>
            <a:prstGeom prst="rect">
              <a:avLst/>
            </a:prstGeom>
            <a:solidFill>
              <a:schemeClr val="accent3">
                <a:alpha val="20000"/>
                <a:lumMod val="1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8" id="8"/>
          <p:cNvSpPr/>
          <p:nvPr>
            <p:ph type="obj" idx="1"/>
          </p:nvPr>
        </p:nvSpPr>
        <p:spPr>
          <a:xfrm>
            <a:off x="660400" y="1130300"/>
            <a:ext cx="10858500" cy="5003800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9" id="9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10" id="10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1" id="11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yout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2" cy="6888481"/>
            <a:chOff x="-99153" y="-723901"/>
            <a:chExt cx="12192002" cy="6888481"/>
          </a:xfrm>
        </p:grpSpPr>
        <p:grpSp>
          <p:nvGrpSpPr>
            <p:cNvPr name="Group 3" id="3"/>
            <p:cNvGrpSpPr/>
            <p:nvPr/>
          </p:nvGrpSpPr>
          <p:grpSpPr>
            <a:xfrm flipH="true">
              <a:off x="-99152" y="-723901"/>
              <a:ext cx="12192001" cy="6858000"/>
              <a:chOff x="1" y="0"/>
              <a:chExt cx="12192001" cy="6858000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tretch>
                <a:fillRect t="0" l="0" b="0" r="0"/>
              </a:stretch>
            </p:blipFill>
            <p:spPr>
              <a:xfrm>
                <a:off x="1" y="0"/>
                <a:ext cx="10287000" cy="6858000"/>
              </a:xfrm>
              <a:prstGeom prst="rect">
                <a:avLst/>
              </a:prstGeom>
            </p:spPr>
          </p:pic>
          <p:pic>
            <p:nvPicPr>
              <p:cNvPr name="image2.png" id="5"/>
              <p:cNvPicPr>
                <a:picLocks noChangeAspect="true"/>
              </p:cNvPicPr>
              <p:nvPr/>
            </p:nvPicPr>
            <p:blipFill>
              <a:blip r:embed="rId2"/>
              <a:srcRect l="91199"/>
              <a:stretch>
                <a:fillRect/>
              </a:stretch>
            </p:blipFill>
            <p:spPr>
              <a:xfrm>
                <a:off x="9477831" y="0"/>
                <a:ext cx="2714171" cy="6858000"/>
              </a:xfrm>
              <a:prstGeom prst="rect">
                <a:avLst/>
              </a:prstGeom>
            </p:spPr>
          </p:pic>
        </p:grpSp>
        <p:sp>
          <p:nvSpPr>
            <p:cNvPr name="AutoShape 6" id="6"/>
            <p:cNvSpPr/>
            <p:nvPr/>
          </p:nvSpPr>
          <p:spPr>
            <a:xfrm rot="16200000">
              <a:off x="2567848" y="-3360421"/>
              <a:ext cx="6858000" cy="12192001"/>
            </a:xfrm>
            <a:prstGeom prst="rect">
              <a:avLst/>
            </a:prstGeom>
            <a:solidFill>
              <a:schemeClr val="accent3">
                <a:alpha val="20000"/>
                <a:lumMod val="1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body" sz="quarter" idx="14"/>
          </p:nvPr>
        </p:nvSpPr>
        <p:spPr>
          <a:xfrm>
            <a:off x="660400" y="1500188"/>
            <a:ext cx="2836562" cy="594626"/>
          </a:xfrm>
        </p:spPr>
        <p:txBody>
          <a:bodyPr vert="horz" anchor="t" tIns="45720" lIns="91440" bIns="45720" rIns="91440">
            <a:normAutofit/>
          </a:bodyPr>
          <a:p>
            <a:pPr algn="r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name="AutoShape 8" id="8"/>
          <p:cNvSpPr/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 vert="horz" anchor="t" tIns="45720" lIns="91440" bIns="45720" rIns="91440">
            <a:normAutofit/>
          </a:bodyPr>
          <a:p>
            <a:pPr algn="l" indent="-342900" marL="3429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342900" lvl="1" marL="8001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algn="l" indent="-342900" lvl="2" marL="12573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9" id="9"/>
          <p:cNvSpPr/>
          <p:nvPr>
            <p:ph type="ftr" sz="quarter" idx="10"/>
          </p:nvPr>
        </p:nvSpPr>
        <p:spPr>
          <a:xfrm>
            <a:off x="660401" y="6438900"/>
            <a:ext cx="3992171" cy="21590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0" id="10"/>
          <p:cNvSpPr/>
          <p:nvPr>
            <p:ph type="dt" sz="half" idx="11"/>
          </p:nvPr>
        </p:nvSpPr>
        <p:spPr>
          <a:xfrm>
            <a:off x="5504656" y="6438900"/>
            <a:ext cx="1802924" cy="21590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11" id="11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000" baseline="0" u="none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  <p:cxnSp>
        <p:nvCxnSpPr>
          <p:cNvPr name="Connector 12" id="12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>
            <a:solidFill>
              <a:srgbClr val="FFFFFF"/>
            </a:solidFill>
            <a:prstDash val="solid"/>
          </a:ln>
        </p:spPr>
      </p:cxnSp>
      <p:sp>
        <p:nvSpPr>
          <p:cNvPr name="Freeform 13" id="1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r="r" b="b" t="t" l="l"/>
            <a:pathLst>
              <a:path w="5127" h="5401" stroke="true" fill="norm" extrusionOk="true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true">
            <a:off x="-12700" y="0"/>
            <a:ext cx="12192001" cy="6858000"/>
            <a:chOff x="-12700" y="0"/>
            <a:chExt cx="12192001" cy="6858000"/>
          </a:xfrm>
        </p:grpSpPr>
        <p:grpSp>
          <p:nvGrpSpPr>
            <p:cNvPr name="Group 3" id="3"/>
            <p:cNvGrpSpPr/>
            <p:nvPr/>
          </p:nvGrpSpPr>
          <p:grpSpPr>
            <a:xfrm>
              <a:off x="-12700" y="0"/>
              <a:ext cx="12192001" cy="6858000"/>
              <a:chOff x="-12700" y="0"/>
              <a:chExt cx="12192001" cy="6858000"/>
            </a:xfrm>
          </p:grpSpPr>
          <p:grpSp>
            <p:nvGrpSpPr>
              <p:cNvPr name="Group 4" id="4"/>
              <p:cNvGrpSpPr/>
              <p:nvPr/>
            </p:nvGrpSpPr>
            <p:grpSpPr>
              <a:xfrm flipH="true">
                <a:off x="-12700" y="0"/>
                <a:ext cx="12192001" cy="6858000"/>
                <a:chOff x="1" y="0"/>
                <a:chExt cx="12192001" cy="6858000"/>
              </a:xfrm>
            </p:grpSpPr>
            <p:pic>
              <p:nvPicPr>
                <p:cNvPr name="image1.png" id="5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 t="0" l="0" b="0" r="0"/>
                </a:stretch>
              </p:blipFill>
              <p:spPr>
                <a:xfrm>
                  <a:off x="1" y="0"/>
                  <a:ext cx="10287000" cy="6858000"/>
                </a:xfrm>
                <a:prstGeom prst="rect">
                  <a:avLst/>
                </a:prstGeom>
              </p:spPr>
            </p:pic>
            <p:pic>
              <p:nvPicPr>
                <p:cNvPr name="image1.png" id="6"/>
                <p:cNvPicPr>
                  <a:picLocks noChangeAspect="true"/>
                </p:cNvPicPr>
                <p:nvPr/>
              </p:nvPicPr>
              <p:blipFill>
                <a:blip r:embed="rId2"/>
                <a:srcRect l="91199"/>
                <a:stretch>
                  <a:fillRect/>
                </a:stretch>
              </p:blipFill>
              <p:spPr>
                <a:xfrm>
                  <a:off x="9477831" y="0"/>
                  <a:ext cx="2714171" cy="6858000"/>
                </a:xfrm>
                <a:prstGeom prst="rect">
                  <a:avLst/>
                </a:prstGeom>
              </p:spPr>
            </p:pic>
          </p:grpSp>
          <p:sp>
            <p:nvSpPr>
              <p:cNvPr name="Freeform 7" id="7"/>
              <p:cNvSpPr/>
              <p:nvPr/>
            </p:nvSpPr>
            <p:spPr>
              <a:xfrm>
                <a:off x="16897" y="4724431"/>
                <a:ext cx="2583556" cy="1512790"/>
              </a:xfrm>
              <a:custGeom>
                <a:avLst/>
                <a:gdLst/>
                <a:ahLst/>
                <a:cxnLst/>
                <a:rect r="r" b="b" t="t" l="l"/>
                <a:pathLst>
                  <a:path w="2583556" h="1512790" stroke="true" fill="norm" extrusionOk="true">
                    <a:moveTo>
                      <a:pt x="0" y="0"/>
                    </a:moveTo>
                    <a:lnTo>
                      <a:pt x="1827161" y="0"/>
                    </a:lnTo>
                    <a:cubicBezTo>
                      <a:pt x="2244906" y="0"/>
                      <a:pt x="2583556" y="338650"/>
                      <a:pt x="2583556" y="756395"/>
                    </a:cubicBezTo>
                    <a:lnTo>
                      <a:pt x="2583555" y="756395"/>
                    </a:lnTo>
                    <a:cubicBezTo>
                      <a:pt x="2583555" y="1174140"/>
                      <a:pt x="2244905" y="1512790"/>
                      <a:pt x="1827160" y="1512790"/>
                    </a:cubicBezTo>
                    <a:lnTo>
                      <a:pt x="0" y="1512790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AutoShape 8" id="8"/>
              <p:cNvSpPr/>
              <p:nvPr/>
            </p:nvSpPr>
            <p:spPr>
              <a:xfrm rot="16200000">
                <a:off x="8435975" y="3101975"/>
                <a:ext cx="6858000" cy="65405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9" id="9"/>
              <p:cNvGrpSpPr/>
              <p:nvPr/>
            </p:nvGrpSpPr>
            <p:grpSpPr>
              <a:xfrm>
                <a:off x="1442086" y="5307957"/>
                <a:ext cx="424734" cy="424731"/>
                <a:chOff x="629590" y="4600086"/>
                <a:chExt cx="299830" cy="299832"/>
              </a:xfrm>
            </p:grpSpPr>
            <p:sp>
              <p:nvSpPr>
                <p:cNvPr name="AutoShape 10" id="10"/>
                <p:cNvSpPr/>
                <p:nvPr/>
              </p:nvSpPr>
              <p:spPr>
                <a:xfrm flipH="true" rot="16200000">
                  <a:off x="629589" y="4600087"/>
                  <a:ext cx="299832" cy="299830"/>
                </a:xfrm>
                <a:prstGeom prst="ellipse">
                  <a:avLst/>
                </a:prstGeom>
                <a:noFill/>
                <a:ln w="6350" cap="flat" cmpd="sng">
                  <a:solidFill>
                    <a:srgbClr val="FFFFFF">
                      <a:alpha val="60000"/>
                    </a:srgbClr>
                  </a:solidFill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11" id="11"/>
                <p:cNvSpPr/>
                <p:nvPr/>
              </p:nvSpPr>
              <p:spPr>
                <a:xfrm rot="5400000">
                  <a:off x="754213" y="4719991"/>
                  <a:ext cx="69629" cy="60026"/>
                </a:xfrm>
                <a:prstGeom prst="triangle">
                  <a:avLst/>
                </a:prstGeom>
                <a:solidFill>
                  <a:srgbClr val="FFFFFF"/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11791968" y="636924"/>
              <a:ext cx="117960" cy="70075"/>
              <a:chOff x="11820295" y="893108"/>
              <a:chExt cx="153032" cy="40571"/>
            </a:xfrm>
          </p:grpSpPr>
          <p:cxnSp>
            <p:nvCxnSpPr>
              <p:cNvPr name="Connector 13" id="13"/>
              <p:cNvCxnSpPr/>
              <p:nvPr/>
            </p:nvCxnSpPr>
            <p:spPr>
              <a:xfrm>
                <a:off x="11820295" y="893108"/>
                <a:ext cx="153009" cy="0"/>
              </a:xfrm>
              <a:prstGeom prst="line">
                <a:avLst/>
              </a:prstGeom>
              <a:ln w="15875" cap="rnd" cmpd="sng">
                <a:solidFill>
                  <a:srgbClr val="774A97"/>
                </a:solidFill>
                <a:prstDash val="solid"/>
              </a:ln>
            </p:spPr>
          </p:cxnSp>
          <p:cxnSp>
            <p:nvCxnSpPr>
              <p:cNvPr name="Connector 14" id="14"/>
              <p:cNvCxnSpPr/>
              <p:nvPr/>
            </p:nvCxnSpPr>
            <p:spPr>
              <a:xfrm>
                <a:off x="11902652" y="933679"/>
                <a:ext cx="70675" cy="0"/>
              </a:xfrm>
              <a:prstGeom prst="line">
                <a:avLst/>
              </a:prstGeom>
              <a:ln w="15875" cap="rnd" cmpd="sng">
                <a:solidFill>
                  <a:srgbClr val="774A97"/>
                </a:solidFill>
                <a:prstDash val="solid"/>
              </a:ln>
            </p:spPr>
          </p:cxnSp>
        </p:grpSp>
      </p:grpSp>
      <p:sp>
        <p:nvSpPr>
          <p:cNvPr name="AutoShape 15" id="15"/>
          <p:cNvSpPr/>
          <p:nvPr>
            <p:ph type="title"/>
          </p:nvPr>
        </p:nvSpPr>
        <p:spPr>
          <a:xfrm>
            <a:off x="6802739" y="3023908"/>
            <a:ext cx="4572397" cy="951057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16" id="16"/>
          <p:cNvSpPr/>
          <p:nvPr>
            <p:ph type="body" idx="1"/>
          </p:nvPr>
        </p:nvSpPr>
        <p:spPr>
          <a:xfrm>
            <a:off x="6802739" y="4003220"/>
            <a:ext cx="4572397" cy="583526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</p:txBody>
      </p:sp>
      <p:sp>
        <p:nvSpPr>
          <p:cNvPr name="AutoShape 17" id="17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false" i="false" sz="1000" baseline="0" u="none">
                <a:solidFill>
                  <a:srgbClr val="FFFFFF"/>
                </a:solidFill>
                <a:latin typeface="Arial"/>
                <a:ea typeface="Arial"/>
              </a:rPr>
              <a:t>8/14/24</a:t>
            </a:r>
          </a:p>
        </p:txBody>
      </p:sp>
      <p:sp>
        <p:nvSpPr>
          <p:cNvPr name="AutoShape 18" id="18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9" id="19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000" baseline="0" u="none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12700" y="0"/>
            <a:ext cx="12192002" cy="6858001"/>
            <a:chOff x="-99153" y="-723901"/>
            <a:chExt cx="12192002" cy="6858001"/>
          </a:xfrm>
        </p:grpSpPr>
        <p:grpSp>
          <p:nvGrpSpPr>
            <p:cNvPr name="Group 3" id="3"/>
            <p:cNvGrpSpPr/>
            <p:nvPr/>
          </p:nvGrpSpPr>
          <p:grpSpPr>
            <a:xfrm flipH="true">
              <a:off x="-99152" y="-723901"/>
              <a:ext cx="12192001" cy="6858000"/>
              <a:chOff x="1" y="0"/>
              <a:chExt cx="12192001" cy="6858000"/>
            </a:xfrm>
          </p:grpSpPr>
          <p:pic>
            <p:nvPicPr>
              <p:cNvPr name="image2.png" id="4"/>
              <p:cNvPicPr>
                <a:picLocks noChangeAspect="true"/>
              </p:cNvPicPr>
              <p:nvPr/>
            </p:nvPicPr>
            <p:blipFill>
              <a:blip r:embed="rId2"/>
              <a:stretch>
                <a:fillRect t="0" l="0" b="0" r="0"/>
              </a:stretch>
            </p:blipFill>
            <p:spPr>
              <a:xfrm>
                <a:off x="1" y="0"/>
                <a:ext cx="10287000" cy="6858000"/>
              </a:xfrm>
              <a:prstGeom prst="rect">
                <a:avLst/>
              </a:prstGeom>
            </p:spPr>
          </p:pic>
          <p:pic>
            <p:nvPicPr>
              <p:cNvPr name="image2.png" id="5"/>
              <p:cNvPicPr>
                <a:picLocks noChangeAspect="true"/>
              </p:cNvPicPr>
              <p:nvPr/>
            </p:nvPicPr>
            <p:blipFill>
              <a:blip r:embed="rId2"/>
              <a:srcRect l="91199"/>
              <a:stretch>
                <a:fillRect/>
              </a:stretch>
            </p:blipFill>
            <p:spPr>
              <a:xfrm>
                <a:off x="9477831" y="0"/>
                <a:ext cx="2714171" cy="6858000"/>
              </a:xfrm>
              <a:prstGeom prst="rect">
                <a:avLst/>
              </a:prstGeom>
            </p:spPr>
          </p:pic>
        </p:grpSp>
        <p:sp>
          <p:nvSpPr>
            <p:cNvPr name="AutoShape 6" id="6"/>
            <p:cNvSpPr/>
            <p:nvPr/>
          </p:nvSpPr>
          <p:spPr>
            <a:xfrm rot="16200000">
              <a:off x="2567848" y="-3390901"/>
              <a:ext cx="6858000" cy="12192001"/>
            </a:xfrm>
            <a:prstGeom prst="rect">
              <a:avLst/>
            </a:prstGeom>
            <a:solidFill>
              <a:schemeClr val="accent3">
                <a:alpha val="20000"/>
                <a:lumMod val="1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7" id="7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8" id="8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9" id="9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0" id="10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FFFFFF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12700" y="0"/>
            <a:ext cx="12192001" cy="6858000"/>
            <a:chOff x="-12700" y="0"/>
            <a:chExt cx="12192001" cy="6858000"/>
          </a:xfrm>
        </p:grpSpPr>
        <p:grpSp>
          <p:nvGrpSpPr>
            <p:cNvPr name="Group 3" id="3"/>
            <p:cNvGrpSpPr/>
            <p:nvPr/>
          </p:nvGrpSpPr>
          <p:grpSpPr>
            <a:xfrm>
              <a:off x="-12700" y="0"/>
              <a:ext cx="12192001" cy="6858000"/>
              <a:chOff x="-12700" y="0"/>
              <a:chExt cx="12192001" cy="6858000"/>
            </a:xfrm>
          </p:grpSpPr>
          <p:grpSp>
            <p:nvGrpSpPr>
              <p:cNvPr name="Group 4" id="4"/>
              <p:cNvGrpSpPr/>
              <p:nvPr/>
            </p:nvGrpSpPr>
            <p:grpSpPr>
              <a:xfrm flipH="true">
                <a:off x="-12700" y="0"/>
                <a:ext cx="12192001" cy="6858000"/>
                <a:chOff x="1" y="0"/>
                <a:chExt cx="12192001" cy="6858000"/>
              </a:xfrm>
            </p:grpSpPr>
            <p:pic>
              <p:nvPicPr>
                <p:cNvPr name="image1.png" id="5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 t="0" l="0" b="0" r="0"/>
                </a:stretch>
              </p:blipFill>
              <p:spPr>
                <a:xfrm>
                  <a:off x="1" y="0"/>
                  <a:ext cx="10287000" cy="6858000"/>
                </a:xfrm>
                <a:prstGeom prst="rect">
                  <a:avLst/>
                </a:prstGeom>
              </p:spPr>
            </p:pic>
            <p:pic>
              <p:nvPicPr>
                <p:cNvPr name="image1.png" id="6"/>
                <p:cNvPicPr>
                  <a:picLocks noChangeAspect="true"/>
                </p:cNvPicPr>
                <p:nvPr/>
              </p:nvPicPr>
              <p:blipFill>
                <a:blip r:embed="rId2"/>
                <a:srcRect l="91199"/>
                <a:stretch>
                  <a:fillRect/>
                </a:stretch>
              </p:blipFill>
              <p:spPr>
                <a:xfrm>
                  <a:off x="9477831" y="0"/>
                  <a:ext cx="2714171" cy="6858000"/>
                </a:xfrm>
                <a:prstGeom prst="rect">
                  <a:avLst/>
                </a:prstGeom>
              </p:spPr>
            </p:pic>
          </p:grpSp>
          <p:sp>
            <p:nvSpPr>
              <p:cNvPr name="Freeform 7" id="7"/>
              <p:cNvSpPr/>
              <p:nvPr/>
            </p:nvSpPr>
            <p:spPr>
              <a:xfrm>
                <a:off x="16897" y="4724431"/>
                <a:ext cx="2583556" cy="1512790"/>
              </a:xfrm>
              <a:custGeom>
                <a:avLst/>
                <a:gdLst/>
                <a:ahLst/>
                <a:cxnLst/>
                <a:rect r="r" b="b" t="t" l="l"/>
                <a:pathLst>
                  <a:path w="2583556" h="1512790" stroke="true" fill="norm" extrusionOk="true">
                    <a:moveTo>
                      <a:pt x="0" y="0"/>
                    </a:moveTo>
                    <a:lnTo>
                      <a:pt x="1827161" y="0"/>
                    </a:lnTo>
                    <a:cubicBezTo>
                      <a:pt x="2244906" y="0"/>
                      <a:pt x="2583556" y="338650"/>
                      <a:pt x="2583556" y="756395"/>
                    </a:cubicBezTo>
                    <a:lnTo>
                      <a:pt x="2583555" y="756395"/>
                    </a:lnTo>
                    <a:cubicBezTo>
                      <a:pt x="2583555" y="1174140"/>
                      <a:pt x="2244905" y="1512790"/>
                      <a:pt x="1827160" y="1512790"/>
                    </a:cubicBezTo>
                    <a:lnTo>
                      <a:pt x="0" y="1512790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cap="flat" cmpd="sng">
                <a:prstDash val="solid"/>
              </a:ln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AutoShape 8" id="8"/>
              <p:cNvSpPr/>
              <p:nvPr/>
            </p:nvSpPr>
            <p:spPr>
              <a:xfrm rot="16200000">
                <a:off x="8435975" y="3101975"/>
                <a:ext cx="6858000" cy="65405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9" id="9"/>
              <p:cNvGrpSpPr/>
              <p:nvPr/>
            </p:nvGrpSpPr>
            <p:grpSpPr>
              <a:xfrm>
                <a:off x="1442086" y="5307957"/>
                <a:ext cx="424734" cy="424731"/>
                <a:chOff x="629590" y="4600086"/>
                <a:chExt cx="299830" cy="299832"/>
              </a:xfrm>
            </p:grpSpPr>
            <p:sp>
              <p:nvSpPr>
                <p:cNvPr name="AutoShape 10" id="10"/>
                <p:cNvSpPr/>
                <p:nvPr/>
              </p:nvSpPr>
              <p:spPr>
                <a:xfrm flipH="true" rot="16200000">
                  <a:off x="629589" y="4600087"/>
                  <a:ext cx="299832" cy="299830"/>
                </a:xfrm>
                <a:prstGeom prst="ellipse">
                  <a:avLst/>
                </a:prstGeom>
                <a:noFill/>
                <a:ln w="6350" cap="flat" cmpd="sng">
                  <a:solidFill>
                    <a:srgbClr val="FFFFFF">
                      <a:alpha val="60000"/>
                    </a:srgbClr>
                  </a:solidFill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11" id="11"/>
                <p:cNvSpPr/>
                <p:nvPr/>
              </p:nvSpPr>
              <p:spPr>
                <a:xfrm rot="5400000">
                  <a:off x="754213" y="4719991"/>
                  <a:ext cx="69629" cy="60026"/>
                </a:xfrm>
                <a:prstGeom prst="triangle">
                  <a:avLst/>
                </a:prstGeom>
                <a:solidFill>
                  <a:srgbClr val="FFFFFF"/>
                </a:solidFill>
                <a:ln cap="flat" cmpd="sng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ctr" marL="0"/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11791968" y="636924"/>
              <a:ext cx="117960" cy="70075"/>
              <a:chOff x="11820295" y="893108"/>
              <a:chExt cx="153032" cy="40571"/>
            </a:xfrm>
          </p:grpSpPr>
          <p:cxnSp>
            <p:nvCxnSpPr>
              <p:cNvPr name="Connector 13" id="13"/>
              <p:cNvCxnSpPr/>
              <p:nvPr/>
            </p:nvCxnSpPr>
            <p:spPr>
              <a:xfrm>
                <a:off x="11820295" y="893108"/>
                <a:ext cx="153009" cy="0"/>
              </a:xfrm>
              <a:prstGeom prst="line">
                <a:avLst/>
              </a:prstGeom>
              <a:ln w="15875" cap="rnd" cmpd="sng">
                <a:solidFill>
                  <a:srgbClr val="774A97"/>
                </a:solidFill>
                <a:prstDash val="solid"/>
              </a:ln>
            </p:spPr>
          </p:cxnSp>
          <p:cxnSp>
            <p:nvCxnSpPr>
              <p:cNvPr name="Connector 14" id="14"/>
              <p:cNvCxnSpPr/>
              <p:nvPr/>
            </p:nvCxnSpPr>
            <p:spPr>
              <a:xfrm>
                <a:off x="11902652" y="933679"/>
                <a:ext cx="70675" cy="0"/>
              </a:xfrm>
              <a:prstGeom prst="line">
                <a:avLst/>
              </a:prstGeom>
              <a:ln w="15875" cap="rnd" cmpd="sng">
                <a:solidFill>
                  <a:srgbClr val="774A97"/>
                </a:solidFill>
                <a:prstDash val="solid"/>
              </a:ln>
            </p:spPr>
          </p:cxnSp>
        </p:grpSp>
      </p:grpSp>
      <p:sp>
        <p:nvSpPr>
          <p:cNvPr name="AutoShape 15" id="15"/>
          <p:cNvSpPr/>
          <p:nvPr>
            <p:ph type="body" sz="quarter" idx="13"/>
          </p:nvPr>
        </p:nvSpPr>
        <p:spPr>
          <a:xfrm>
            <a:off x="660400" y="2124425"/>
            <a:ext cx="4185920" cy="1643062"/>
          </a:xfrm>
        </p:spPr>
        <p:txBody>
          <a:bodyPr vert="horz" anchor="b" tIns="45720" lIns="91440" bIns="45720" rIns="91440">
            <a:normAutofit/>
          </a:bodyPr>
          <a:p>
            <a:pPr algn="l" indent="-228600" marL="0">
              <a:lnSpc>
                <a:spcPct val="100000"/>
              </a:lnSpc>
              <a:spcBef>
                <a:spcPct val="0"/>
              </a:spcBef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</p:txBody>
      </p:sp>
      <p:sp>
        <p:nvSpPr>
          <p:cNvPr name="AutoShape 16" id="16"/>
          <p:cNvSpPr/>
          <p:nvPr>
            <p:ph type="subTitle" idx="1"/>
          </p:nvPr>
        </p:nvSpPr>
        <p:spPr>
          <a:xfrm>
            <a:off x="2050161" y="5421065"/>
            <a:ext cx="4789424" cy="535853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ct val="0"/>
              </a:spcBef>
            </a:pPr>
            <a:r>
              <a:rPr lang="en-US" b="false" i="false" sz="14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1800" baseline="0" u="none" altLang="en-US">
                <a:solidFill>
                  <a:srgbClr val="2F2F2F"/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hf sldNum="true" dt="false" ftr="false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571709" y="3632716"/>
            <a:ext cx="4789424" cy="523220"/>
          </a:xfrm>
        </p:spPr>
        <p:txBody>
          <a:bodyPr vert="horz" anchor="b" tIns="45720" lIns="91440" bIns="45720" rIns="91440">
            <a:spAutoFit/>
          </a:bodyPr>
          <a:p>
            <a:pPr algn="l" marL="0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58835" y="1623299"/>
            <a:ext cx="8833187" cy="1015663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6000" spc="-380" baseline="0" u="none" altLang="en-US">
                <a:ln w="19050"/>
                <a:solidFill>
                  <a:srgbClr val="FFFFFF"/>
                </a:solidFill>
                <a:latin typeface="微软雅黑"/>
                <a:ea typeface="微软雅黑"/>
              </a:rPr>
              <a:t>AI智能生成PPT演示文稿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74688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6480" baseline="0" u="none">
                <a:solidFill>
                  <a:srgbClr val="FFFFFF"/>
                </a:solidFill>
                <a:latin typeface="Arial"/>
                <a:ea typeface="Arial"/>
              </a:rPr>
              <a:t>Contens</a:t>
            </a:r>
          </a:p>
        </p:txBody>
      </p:sp>
      <p:cxnSp>
        <p:nvCxnSpPr>
          <p:cNvPr name="Connector 3" id="3"/>
          <p:cNvCxnSpPr/>
          <p:nvPr/>
        </p:nvCxnSpPr>
        <p:spPr>
          <a:xfrm>
            <a:off x="653960" y="3905911"/>
            <a:ext cx="10872788" cy="0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cxnSp>
        <p:nvCxnSpPr>
          <p:cNvPr name="Connector 4" id="4"/>
          <p:cNvCxnSpPr/>
          <p:nvPr/>
        </p:nvCxnSpPr>
        <p:spPr>
          <a:xfrm>
            <a:off x="1150940" y="1962334"/>
            <a:ext cx="0" cy="1948772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AutoShape 5" id="5"/>
          <p:cNvSpPr/>
          <p:nvPr/>
        </p:nvSpPr>
        <p:spPr>
          <a:xfrm>
            <a:off x="1051911" y="1764275"/>
            <a:ext cx="198059" cy="198059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1303713" y="2325057"/>
            <a:ext cx="2130820" cy="6248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AI智能生成PPT概述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303713" y="1562638"/>
            <a:ext cx="2130820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>
            <a:off x="3800648" y="1959737"/>
            <a:ext cx="0" cy="1948772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AutoShape 9" id="9"/>
          <p:cNvSpPr/>
          <p:nvPr/>
        </p:nvSpPr>
        <p:spPr>
          <a:xfrm>
            <a:off x="3701619" y="1761678"/>
            <a:ext cx="198059" cy="198059"/>
          </a:xfrm>
          <a:prstGeom prst="ellipse">
            <a:avLst/>
          </a:prstGeom>
          <a:solidFill>
            <a:srgbClr val="FFFFFF">
              <a:alpha val="3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3965262" y="2327655"/>
            <a:ext cx="2130820" cy="6248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AI智能生成PPT的技术原理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3965262" y="1565236"/>
            <a:ext cx="2130820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>
            <a:off x="6462197" y="1957139"/>
            <a:ext cx="0" cy="1948772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AutoShape 13" id="13"/>
          <p:cNvSpPr/>
          <p:nvPr/>
        </p:nvSpPr>
        <p:spPr>
          <a:xfrm>
            <a:off x="6363168" y="1759080"/>
            <a:ext cx="198059" cy="198059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6638654" y="2330252"/>
            <a:ext cx="2130820" cy="6248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AI智能生成PPT的应用案例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638654" y="1567833"/>
            <a:ext cx="2130820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>
            <a:off x="9135588" y="1954542"/>
            <a:ext cx="0" cy="1948772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AutoShape 17" id="17"/>
          <p:cNvSpPr/>
          <p:nvPr/>
        </p:nvSpPr>
        <p:spPr>
          <a:xfrm>
            <a:off x="9036559" y="1756483"/>
            <a:ext cx="198059" cy="198059"/>
          </a:xfrm>
          <a:prstGeom prst="ellipse">
            <a:avLst/>
          </a:prstGeom>
          <a:solidFill>
            <a:srgbClr val="FFFFFF">
              <a:alpha val="3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8" id="18"/>
          <p:cNvSpPr txBox="true"/>
          <p:nvPr/>
        </p:nvSpPr>
        <p:spPr>
          <a:xfrm>
            <a:off x="9323885" y="2332850"/>
            <a:ext cx="2130820" cy="6248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AI智能生成PPT的挑战与解决方案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9323885" y="1570431"/>
            <a:ext cx="2130820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flipV="true">
            <a:off x="3800648" y="3911106"/>
            <a:ext cx="0" cy="2324594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AutoShape 21" id="21"/>
          <p:cNvSpPr/>
          <p:nvPr/>
        </p:nvSpPr>
        <p:spPr>
          <a:xfrm>
            <a:off x="3701618" y="6235700"/>
            <a:ext cx="198059" cy="198059"/>
          </a:xfrm>
          <a:prstGeom prst="ellipse">
            <a:avLst/>
          </a:prstGeom>
          <a:solidFill>
            <a:srgbClr val="FFFFFF">
              <a:alpha val="3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22" id="22"/>
          <p:cNvSpPr txBox="true"/>
          <p:nvPr/>
        </p:nvSpPr>
        <p:spPr>
          <a:xfrm>
            <a:off x="3973118" y="6011563"/>
            <a:ext cx="2130820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>
            <a:off x="6462197" y="3903314"/>
            <a:ext cx="0" cy="2431414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AutoShape 24" id="24"/>
          <p:cNvSpPr/>
          <p:nvPr/>
        </p:nvSpPr>
        <p:spPr>
          <a:xfrm>
            <a:off x="6363168" y="6280504"/>
            <a:ext cx="198059" cy="198059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25" id="25"/>
          <p:cNvSpPr txBox="true"/>
          <p:nvPr/>
        </p:nvSpPr>
        <p:spPr>
          <a:xfrm>
            <a:off x="6816515" y="6011563"/>
            <a:ext cx="2130820" cy="64633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3965180" y="4208771"/>
            <a:ext cx="2130820" cy="6248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AI智能生成PPT的未来发展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638572" y="4211368"/>
            <a:ext cx="2130820" cy="499111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true" i="false" sz="20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802739" y="3328634"/>
            <a:ext cx="4572397" cy="6463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AI智能生成PPT概述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777349" y="1956428"/>
            <a:ext cx="1594026" cy="144655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8800" spc="-380" baseline="0" u="none">
                <a:ln w="19050"/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什么是AI智能生成PPT</a:t>
            </a:r>
          </a:p>
        </p:txBody>
      </p:sp>
      <p:sp>
        <p:nvSpPr>
          <p:cNvPr name="AutoShape 3" id="3"/>
          <p:cNvSpPr/>
          <p:nvPr/>
        </p:nvSpPr>
        <p:spPr>
          <a:xfrm>
            <a:off x="5180819" y="1713721"/>
            <a:ext cx="1988458" cy="1988458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rot="21439082">
            <a:off x="2988626" y="2129769"/>
            <a:ext cx="6496671" cy="1692976"/>
          </a:xfrm>
          <a:custGeom>
            <a:avLst/>
            <a:gdLst/>
            <a:ahLst/>
            <a:cxnLst/>
            <a:rect r="r" b="b" t="t" l="l"/>
            <a:pathLst>
              <a:path w="5746" h="1503" stroke="true" fill="norm" extrusionOk="true">
                <a:moveTo>
                  <a:pt x="3663" y="153"/>
                </a:moveTo>
                <a:cubicBezTo>
                  <a:pt x="4811" y="0"/>
                  <a:pt x="5665" y="14"/>
                  <a:pt x="5701" y="211"/>
                </a:cubicBezTo>
                <a:cubicBezTo>
                  <a:pt x="5746" y="456"/>
                  <a:pt x="4515" y="888"/>
                  <a:pt x="2951" y="1177"/>
                </a:cubicBezTo>
                <a:cubicBezTo>
                  <a:pt x="1387" y="1467"/>
                  <a:pt x="82" y="1503"/>
                  <a:pt x="37" y="1259"/>
                </a:cubicBezTo>
                <a:cubicBezTo>
                  <a:pt x="0" y="1061"/>
                  <a:pt x="800" y="740"/>
                  <a:pt x="1935" y="471"/>
                </a:cubicBezTo>
              </a:path>
            </a:pathLst>
          </a:cu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  <a:tailEnd type="triangle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3240138" y="2936052"/>
            <a:ext cx="654116" cy="654117"/>
          </a:xfrm>
          <a:prstGeom prst="ellipse">
            <a:avLst/>
          </a:prstGeom>
          <a:solidFill>
            <a:schemeClr val="accent1"/>
          </a:solidFill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>
              <a:lnSpc>
                <a:spcPct val="150000"/>
              </a:lnSpc>
            </a:pPr>
            <a:r>
              <a:rPr lang="en-US" b="true" i="false" sz="16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>
            <a:off x="8377490" y="2254379"/>
            <a:ext cx="834641" cy="834642"/>
          </a:xfrm>
          <a:prstGeom prst="ellipse">
            <a:avLst/>
          </a:prstGeom>
          <a:solidFill>
            <a:schemeClr val="accent1"/>
          </a:solidFill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>
              <a:lnSpc>
                <a:spcPct val="150000"/>
              </a:lnSpc>
            </a:pPr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7" id="7"/>
          <p:cNvSpPr/>
          <p:nvPr/>
        </p:nvSpPr>
        <p:spPr>
          <a:xfrm>
            <a:off x="7769843" y="2001936"/>
            <a:ext cx="383646" cy="383646"/>
          </a:xfrm>
          <a:prstGeom prst="ellipse">
            <a:avLst/>
          </a:prstGeom>
          <a:solidFill>
            <a:srgbClr val="778495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8318974" y="3742465"/>
            <a:ext cx="3199925" cy="1669688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AI智能生成PPT广泛应用于企业、教育和个人领域。企业可用于市场分析、产品介绍等；教育领域可用于教学课件、学术报告；个人可用于简历制作、活动策划等。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318974" y="3210812"/>
            <a:ext cx="319992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应用场景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720226" y="3466785"/>
            <a:ext cx="2209235" cy="2639184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AI智能生成PPT是指利用人工智能技术，通过自然语言处理、机器学习等技术，自动生成符合用户需求的演示文稿。它能够根据用户输入的关键词或主题，快速生成结构化的PPT内容。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720226" y="2935132"/>
            <a:ext cx="223234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定义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4373196" y="3466785"/>
            <a:ext cx="727727" cy="727728"/>
          </a:xfrm>
          <a:prstGeom prst="ellipse">
            <a:avLst/>
          </a:prstGeom>
          <a:solidFill>
            <a:srgbClr val="FFFFFF">
              <a:alpha val="16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>
              <a:lnSpc>
                <a:spcPct val="150000"/>
              </a:lnSpc>
            </a:pPr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5234186" y="4310830"/>
            <a:ext cx="2818263" cy="1992853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AI智能生成PPT的技术背景包括自然语言处理、深度学习、图像处理等。这些技术的结合使得系统能够理解用户需求，自动生成高质量的演示文稿，并优化排版和设计。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5234186" y="3779177"/>
            <a:ext cx="281826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技术背景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AI智能生成PPT的优势</a:t>
            </a:r>
          </a:p>
        </p:txBody>
      </p:sp>
      <p:sp>
        <p:nvSpPr>
          <p:cNvPr name="AutoShape 3" id="3"/>
          <p:cNvSpPr/>
          <p:nvPr/>
        </p:nvSpPr>
        <p:spPr>
          <a:xfrm>
            <a:off x="812746" y="1678071"/>
            <a:ext cx="4892096" cy="196648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rnd" cmpd="sng">
            <a:prstDash val="solid"/>
          </a:ln>
          <a:effectLst>
            <a:outerShdw algn="ctr" blurRad="254000" dist="127000" rotWithShape="false">
              <a:srgbClr val="2F2F2F">
                <a:alpha val="20000"/>
                <a:lumMod val="65000"/>
              </a:srgb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811032" y="2259894"/>
            <a:ext cx="3518832" cy="65710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AI智能生成PPT能够在短时间内完成复杂的演示文稿制作，大大节省了用户的时间和精力，尤其适用于紧急任务或大规模需求。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811032" y="1899791"/>
            <a:ext cx="3518832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高效性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016861" y="1770921"/>
            <a:ext cx="697628" cy="646331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true" sz="3600" baseline="0" u="none">
                <a:solidFill>
                  <a:schemeClr val="accent3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5418194" y="1454994"/>
            <a:ext cx="537451" cy="537449"/>
            <a:chOff x="5473911" y="1589537"/>
            <a:chExt cx="537451" cy="537449"/>
          </a:xfrm>
        </p:grpSpPr>
        <p:sp>
          <p:nvSpPr>
            <p:cNvPr name="AutoShape 8" id="8"/>
            <p:cNvSpPr/>
            <p:nvPr/>
          </p:nvSpPr>
          <p:spPr>
            <a:xfrm>
              <a:off x="5473911" y="1589537"/>
              <a:ext cx="537451" cy="537449"/>
            </a:xfrm>
            <a:prstGeom prst="ellipse">
              <a:avLst/>
            </a:prstGeom>
            <a:solidFill>
              <a:schemeClr val="accent3"/>
            </a:solidFill>
            <a:ln cap="rnd" cmpd="sng">
              <a:prstDash val="solid"/>
            </a:ln>
            <a:effectLst>
              <a:outerShdw algn="ctr" blurRad="254000" dist="127000" rotWithShape="false">
                <a:schemeClr val="accent3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5629847" y="1747042"/>
              <a:ext cx="223323" cy="203383"/>
            </a:xfrm>
            <a:custGeom>
              <a:avLst/>
              <a:gdLst/>
              <a:ahLst/>
              <a:cxnLst/>
              <a:rect r="r" b="b" t="t" l="l"/>
              <a:pathLst>
                <a:path w="533400" h="485775" stroke="true" fill="norm" extrusionOk="true">
                  <a:moveTo>
                    <a:pt x="125329" y="229221"/>
                  </a:moveTo>
                  <a:lnTo>
                    <a:pt x="125329" y="276846"/>
                  </a:lnTo>
                  <a:lnTo>
                    <a:pt x="144379" y="276846"/>
                  </a:lnTo>
                  <a:lnTo>
                    <a:pt x="144379" y="229221"/>
                  </a:lnTo>
                  <a:lnTo>
                    <a:pt x="392029" y="229221"/>
                  </a:lnTo>
                  <a:lnTo>
                    <a:pt x="392029" y="276846"/>
                  </a:lnTo>
                  <a:lnTo>
                    <a:pt x="411079" y="276846"/>
                  </a:lnTo>
                  <a:lnTo>
                    <a:pt x="411079" y="229221"/>
                  </a:lnTo>
                  <a:lnTo>
                    <a:pt x="534904" y="229221"/>
                  </a:lnTo>
                  <a:lnTo>
                    <a:pt x="534904" y="486396"/>
                  </a:lnTo>
                  <a:lnTo>
                    <a:pt x="1504" y="486396"/>
                  </a:lnTo>
                  <a:lnTo>
                    <a:pt x="1504" y="229221"/>
                  </a:lnTo>
                  <a:lnTo>
                    <a:pt x="125329" y="229221"/>
                  </a:lnTo>
                  <a:close/>
                  <a:moveTo>
                    <a:pt x="411079" y="621"/>
                  </a:moveTo>
                  <a:lnTo>
                    <a:pt x="411079" y="114921"/>
                  </a:lnTo>
                  <a:lnTo>
                    <a:pt x="534904" y="114921"/>
                  </a:lnTo>
                  <a:lnTo>
                    <a:pt x="534904" y="210171"/>
                  </a:lnTo>
                  <a:lnTo>
                    <a:pt x="1504" y="210171"/>
                  </a:lnTo>
                  <a:lnTo>
                    <a:pt x="1504" y="114921"/>
                  </a:lnTo>
                  <a:lnTo>
                    <a:pt x="125329" y="114921"/>
                  </a:lnTo>
                  <a:lnTo>
                    <a:pt x="125329" y="621"/>
                  </a:lnTo>
                  <a:lnTo>
                    <a:pt x="411079" y="621"/>
                  </a:lnTo>
                  <a:close/>
                  <a:moveTo>
                    <a:pt x="392029" y="19671"/>
                  </a:moveTo>
                  <a:lnTo>
                    <a:pt x="144379" y="19671"/>
                  </a:lnTo>
                  <a:lnTo>
                    <a:pt x="144379" y="114921"/>
                  </a:lnTo>
                  <a:lnTo>
                    <a:pt x="392029" y="114921"/>
                  </a:lnTo>
                  <a:lnTo>
                    <a:pt x="392029" y="19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0" id="10"/>
          <p:cNvSpPr/>
          <p:nvPr/>
        </p:nvSpPr>
        <p:spPr>
          <a:xfrm>
            <a:off x="6131602" y="1680570"/>
            <a:ext cx="4892096" cy="196648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rnd" cmpd="sng">
            <a:prstDash val="solid"/>
          </a:ln>
          <a:effectLst>
            <a:outerShdw algn="ctr" blurRad="254000" dist="127000" rotWithShape="false">
              <a:srgbClr val="2F2F2F">
                <a:alpha val="20000"/>
                <a:lumMod val="65000"/>
              </a:srgb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>
            <a:off x="7138099" y="2262393"/>
            <a:ext cx="3502410" cy="65710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系统能够根据用户的个性化需求，生成符合其风格和偏好的PPT内容，提供多样化的模板和设计选项，满足不同用户的审美需求。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7138098" y="1902290"/>
            <a:ext cx="3502410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个性化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335717" y="1773420"/>
            <a:ext cx="697628" cy="646331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true" sz="36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grpSp>
        <p:nvGrpSpPr>
          <p:cNvPr name="Group 14" id="14"/>
          <p:cNvGrpSpPr/>
          <p:nvPr/>
        </p:nvGrpSpPr>
        <p:grpSpPr>
          <a:xfrm>
            <a:off x="10737050" y="1457493"/>
            <a:ext cx="537451" cy="537449"/>
            <a:chOff x="10792767" y="1592036"/>
            <a:chExt cx="537451" cy="537449"/>
          </a:xfrm>
        </p:grpSpPr>
        <p:sp>
          <p:nvSpPr>
            <p:cNvPr name="AutoShape 15" id="15"/>
            <p:cNvSpPr/>
            <p:nvPr/>
          </p:nvSpPr>
          <p:spPr>
            <a:xfrm>
              <a:off x="10792767" y="1592036"/>
              <a:ext cx="537451" cy="537449"/>
            </a:xfrm>
            <a:prstGeom prst="ellipse">
              <a:avLst/>
            </a:prstGeom>
            <a:solidFill>
              <a:schemeClr val="accent5"/>
            </a:solidFill>
            <a:ln cap="rnd" cmpd="sng">
              <a:prstDash val="solid"/>
            </a:ln>
            <a:effectLst>
              <a:outerShdw algn="ctr" blurRad="254000" dist="127000" rotWithShape="false">
                <a:schemeClr val="accent5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10934221" y="1723787"/>
              <a:ext cx="249947" cy="273981"/>
            </a:xfrm>
            <a:custGeom>
              <a:avLst/>
              <a:gdLst/>
              <a:ahLst/>
              <a:cxnLst/>
              <a:rect r="r" b="b" t="t" l="l"/>
              <a:pathLst>
                <a:path w="495300" h="542925" stroke="true" fill="norm" extrusionOk="true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7" id="17"/>
          <p:cNvSpPr/>
          <p:nvPr/>
        </p:nvSpPr>
        <p:spPr>
          <a:xfrm>
            <a:off x="850824" y="3996170"/>
            <a:ext cx="4892096" cy="196648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rnd" cmpd="sng">
            <a:prstDash val="solid"/>
          </a:ln>
          <a:effectLst>
            <a:outerShdw algn="ctr" blurRad="254000" dist="127000" rotWithShape="false">
              <a:srgbClr val="2F2F2F">
                <a:alpha val="20000"/>
                <a:lumMod val="65000"/>
              </a:srgb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8" id="18"/>
          <p:cNvSpPr txBox="true"/>
          <p:nvPr/>
        </p:nvSpPr>
        <p:spPr>
          <a:xfrm>
            <a:off x="1744357" y="4577993"/>
            <a:ext cx="3518832" cy="65710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通过自动化生成PPT，企业可以减少对专业设计师的依赖，降低制作成本，同时提高工作效率，实现资源的最优配置。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744357" y="4217890"/>
            <a:ext cx="3518832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成本效益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054939" y="4089020"/>
            <a:ext cx="697628" cy="646331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true" sz="36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grpSp>
        <p:nvGrpSpPr>
          <p:cNvPr name="Group 21" id="21"/>
          <p:cNvGrpSpPr/>
          <p:nvPr/>
        </p:nvGrpSpPr>
        <p:grpSpPr>
          <a:xfrm>
            <a:off x="5456272" y="3773093"/>
            <a:ext cx="537451" cy="537449"/>
            <a:chOff x="5578664" y="3698086"/>
            <a:chExt cx="537451" cy="537449"/>
          </a:xfrm>
        </p:grpSpPr>
        <p:sp>
          <p:nvSpPr>
            <p:cNvPr name="AutoShape 22" id="22"/>
            <p:cNvSpPr/>
            <p:nvPr/>
          </p:nvSpPr>
          <p:spPr>
            <a:xfrm>
              <a:off x="5578664" y="3698086"/>
              <a:ext cx="537451" cy="537449"/>
            </a:xfrm>
            <a:prstGeom prst="ellipse">
              <a:avLst/>
            </a:prstGeom>
            <a:solidFill>
              <a:schemeClr val="accent4"/>
            </a:solidFill>
            <a:ln cap="rnd" cmpd="sng">
              <a:prstDash val="solid"/>
            </a:ln>
            <a:effectLst>
              <a:outerShdw algn="ctr" blurRad="254000" dist="127000" rotWithShape="false">
                <a:schemeClr val="accent4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5722493" y="3867356"/>
              <a:ext cx="249792" cy="198908"/>
            </a:xfrm>
            <a:custGeom>
              <a:avLst/>
              <a:gdLst/>
              <a:ahLst/>
              <a:cxnLst/>
              <a:rect r="r" b="b" t="t" l="l"/>
              <a:pathLst>
                <a:path w="514350" h="409575" stroke="true" fill="norm" extrusionOk="true">
                  <a:moveTo>
                    <a:pt x="515342" y="621"/>
                  </a:moveTo>
                  <a:lnTo>
                    <a:pt x="515342" y="353046"/>
                  </a:ln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992" y="353046"/>
                  </a:lnTo>
                  <a:lnTo>
                    <a:pt x="992" y="621"/>
                  </a:lnTo>
                  <a:lnTo>
                    <a:pt x="515342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24" id="24"/>
          <p:cNvSpPr/>
          <p:nvPr/>
        </p:nvSpPr>
        <p:spPr>
          <a:xfrm>
            <a:off x="6169680" y="3998669"/>
            <a:ext cx="4892096" cy="196648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rnd" cmpd="sng">
            <a:prstDash val="solid"/>
          </a:ln>
          <a:effectLst>
            <a:outerShdw algn="ctr" blurRad="254000" dist="127000" rotWithShape="false">
              <a:srgbClr val="2F2F2F">
                <a:alpha val="20000"/>
                <a:lumMod val="65000"/>
              </a:srgb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25" id="25"/>
          <p:cNvSpPr txBox="true"/>
          <p:nvPr/>
        </p:nvSpPr>
        <p:spPr>
          <a:xfrm>
            <a:off x="7071424" y="4580492"/>
            <a:ext cx="3502410" cy="65710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AI智能生成PPT提供友好的用户界面和交互体验，用户只需输入简单的指令即可获得高质量的演示文稿，操作简便，易于上手。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7071424" y="4220389"/>
            <a:ext cx="3502410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用户体验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373795" y="4091519"/>
            <a:ext cx="697628" cy="646331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true" sz="36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grpSp>
        <p:nvGrpSpPr>
          <p:cNvPr name="Group 28" id="28"/>
          <p:cNvGrpSpPr/>
          <p:nvPr/>
        </p:nvGrpSpPr>
        <p:grpSpPr>
          <a:xfrm>
            <a:off x="10775128" y="3775592"/>
            <a:ext cx="537451" cy="537449"/>
            <a:chOff x="10897520" y="3700585"/>
            <a:chExt cx="537451" cy="537449"/>
          </a:xfrm>
        </p:grpSpPr>
        <p:sp>
          <p:nvSpPr>
            <p:cNvPr name="AutoShape 29" id="29"/>
            <p:cNvSpPr/>
            <p:nvPr/>
          </p:nvSpPr>
          <p:spPr>
            <a:xfrm>
              <a:off x="10897520" y="3700585"/>
              <a:ext cx="537451" cy="537449"/>
            </a:xfrm>
            <a:prstGeom prst="ellipse">
              <a:avLst/>
            </a:prstGeom>
            <a:solidFill>
              <a:schemeClr val="accent4"/>
            </a:solidFill>
            <a:ln cap="rnd" cmpd="sng">
              <a:prstDash val="solid"/>
            </a:ln>
            <a:effectLst>
              <a:outerShdw algn="ctr" blurRad="254000" dist="127000" rotWithShape="false">
                <a:schemeClr val="accent4">
                  <a:alpha val="32000"/>
                </a:schemeClr>
              </a:outerShdw>
            </a:effectLst>
          </p:spPr>
          <p:txBody>
            <a:bodyPr vert="horz" rot="0" anchor="ctr" wrap="square" tIns="45720" lIns="91440" bIns="45720" rIns="91440">
              <a:noAutofit/>
            </a:bodyPr>
            <a:p>
              <a:pPr algn="ctr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11056040" y="3832647"/>
              <a:ext cx="220410" cy="268326"/>
            </a:xfrm>
            <a:custGeom>
              <a:avLst/>
              <a:gdLst/>
              <a:ahLst/>
              <a:cxnLst/>
              <a:rect r="r" b="b" t="t" l="l"/>
              <a:pathLst>
                <a:path w="438150" h="533400" stroke="true" fill="norm" extrusionOk="true">
                  <a:moveTo>
                    <a:pt x="286102" y="621"/>
                  </a:moveTo>
                  <a:lnTo>
                    <a:pt x="286102" y="153021"/>
                  </a:lnTo>
                  <a:lnTo>
                    <a:pt x="438502" y="153021"/>
                  </a:lnTo>
                  <a:lnTo>
                    <a:pt x="438502" y="534021"/>
                  </a:lnTo>
                  <a:lnTo>
                    <a:pt x="352" y="534021"/>
                  </a:lnTo>
                  <a:lnTo>
                    <a:pt x="352" y="621"/>
                  </a:lnTo>
                  <a:lnTo>
                    <a:pt x="286102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05152" y="133971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t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802739" y="3328634"/>
            <a:ext cx="4572397" cy="713740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AI智能生成PPT的技术原理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777349" y="1956428"/>
            <a:ext cx="1594026" cy="144655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8800" spc="-380" baseline="0" u="none">
                <a:ln w="19050"/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736" y="1550157"/>
            <a:ext cx="2937967" cy="3857866"/>
          </a:xfrm>
          <a:prstGeom prst="roundRect">
            <a:avLst>
              <a:gd name="adj" fmla="val 4070"/>
            </a:avLst>
          </a:prstGeom>
          <a:solidFill>
            <a:schemeClr val="accent1">
              <a:alpha val="15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543995" y="2699804"/>
            <a:ext cx="2309708" cy="231601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文本分析技术用于提取用户输入的关键信息，识别主题、关键词和结构，为后续的PPT生成提供基础数据支持。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068544" y="2783772"/>
            <a:ext cx="444222" cy="444220"/>
          </a:xfrm>
          <a:prstGeom prst="ellipse">
            <a:avLst/>
          </a:prstGeom>
          <a:gradFill>
            <a:gsLst>
              <a:gs pos="0">
                <a:srgbClr val="9756BD">
                  <a:lumMod val="60000"/>
                  <a:lumOff val="40000"/>
                </a:srgbClr>
              </a:gs>
              <a:gs pos="50000">
                <a:srgbClr val="9756BD"/>
              </a:gs>
            </a:gsLst>
            <a:lin ang="2700000"/>
          </a:gradFill>
          <a:ln cap="flat">
            <a:prstDash val="solid"/>
          </a:ln>
        </p:spPr>
        <p:txBody>
          <a:bodyPr vert="horz" anchor="ctr" tIns="108000" lIns="108000" bIns="108000" rIns="108000">
            <a:normAutofit/>
          </a:bodyPr>
          <a:p>
            <a:pPr algn="l" marL="0"/>
          </a:p>
        </p:txBody>
      </p:sp>
      <p:sp>
        <p:nvSpPr>
          <p:cNvPr name="Freeform 6" id="6"/>
          <p:cNvSpPr/>
          <p:nvPr/>
        </p:nvSpPr>
        <p:spPr>
          <a:xfrm>
            <a:off x="1187875" y="2928797"/>
            <a:ext cx="205561" cy="154170"/>
          </a:xfrm>
          <a:custGeom>
            <a:avLst/>
            <a:gdLst/>
            <a:ahLst/>
            <a:cxnLst/>
            <a:rect r="r" b="b" t="t" l="l"/>
            <a:pathLst>
              <a:path w="533400" h="400050" stroke="true" fill="norm" extrusionOk="true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TextBox 7" id="7"/>
          <p:cNvSpPr txBox="true"/>
          <p:nvPr/>
        </p:nvSpPr>
        <p:spPr>
          <a:xfrm>
            <a:off x="1068544" y="2235684"/>
            <a:ext cx="2658868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文本分析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4635123" y="1550157"/>
            <a:ext cx="2937967" cy="3857866"/>
          </a:xfrm>
          <a:prstGeom prst="roundRect">
            <a:avLst>
              <a:gd name="adj" fmla="val 4070"/>
            </a:avLst>
          </a:prstGeom>
          <a:solidFill>
            <a:schemeClr val="accent2">
              <a:alpha val="15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4787931" y="2235684"/>
            <a:ext cx="2658868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语义理解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787931" y="2783772"/>
            <a:ext cx="444222" cy="444220"/>
          </a:xfrm>
          <a:prstGeom prst="ellipse">
            <a:avLst/>
          </a:prstGeom>
          <a:gradFill>
            <a:gsLst>
              <a:gs pos="0">
                <a:srgbClr val="E384D5">
                  <a:lumMod val="60000"/>
                  <a:lumOff val="40000"/>
                </a:srgbClr>
              </a:gs>
              <a:gs pos="50000">
                <a:srgbClr val="E384D5"/>
              </a:gs>
            </a:gsLst>
            <a:lin ang="2700000"/>
          </a:gradFill>
          <a:ln cap="flat">
            <a:prstDash val="solid"/>
          </a:ln>
        </p:spPr>
        <p:txBody>
          <a:bodyPr vert="horz" anchor="ctr" tIns="108000" lIns="108000" bIns="108000" rIns="108000">
            <a:normAutofit/>
          </a:bodyPr>
          <a:p>
            <a:pPr algn="l" marL="0"/>
          </a:p>
        </p:txBody>
      </p:sp>
      <p:sp>
        <p:nvSpPr>
          <p:cNvPr name="Freeform 11" id="11"/>
          <p:cNvSpPr/>
          <p:nvPr/>
        </p:nvSpPr>
        <p:spPr>
          <a:xfrm>
            <a:off x="4907261" y="2935799"/>
            <a:ext cx="205561" cy="163687"/>
          </a:xfrm>
          <a:custGeom>
            <a:avLst/>
            <a:gdLst/>
            <a:ahLst/>
            <a:cxnLst/>
            <a:rect r="r" b="b" t="t" l="l"/>
            <a:pathLst>
              <a:path w="514350" h="409575" stroke="true" fill="norm" extrusionOk="true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TextBox 12" id="12"/>
          <p:cNvSpPr txBox="true"/>
          <p:nvPr/>
        </p:nvSpPr>
        <p:spPr>
          <a:xfrm>
            <a:off x="5263382" y="2699804"/>
            <a:ext cx="2309708" cy="231601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语义理解技术帮助系统深入理解用户的需求和意图，确保生成的PPT内容与用户期望一致，避免信息偏差或误解。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8354510" y="1550157"/>
            <a:ext cx="2937967" cy="3857866"/>
          </a:xfrm>
          <a:prstGeom prst="roundRect">
            <a:avLst>
              <a:gd name="adj" fmla="val 4070"/>
            </a:avLst>
          </a:prstGeom>
          <a:solidFill>
            <a:schemeClr val="accent1">
              <a:alpha val="15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8982769" y="2699804"/>
            <a:ext cx="2309708" cy="231601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文本生成技术基于用户输入的主题和关键词，自动生成符合逻辑和语法的PPT内容，确保信息的连贯性和完整性。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507318" y="2235684"/>
            <a:ext cx="2658868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文本生成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8507318" y="2783772"/>
            <a:ext cx="444222" cy="444220"/>
          </a:xfrm>
          <a:prstGeom prst="ellipse">
            <a:avLst/>
          </a:prstGeom>
          <a:gradFill>
            <a:gsLst>
              <a:gs pos="0">
                <a:srgbClr val="9756BD">
                  <a:lumMod val="60000"/>
                  <a:lumOff val="40000"/>
                </a:srgbClr>
              </a:gs>
              <a:gs pos="50000">
                <a:srgbClr val="9756BD"/>
              </a:gs>
            </a:gsLst>
            <a:lin ang="2700000"/>
          </a:gradFill>
          <a:ln cap="flat">
            <a:prstDash val="solid"/>
          </a:ln>
        </p:spPr>
        <p:txBody>
          <a:bodyPr vert="horz" anchor="ctr" tIns="108000" lIns="108000" bIns="108000" rIns="10800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>
            <a:off x="8645002" y="2903102"/>
            <a:ext cx="168853" cy="205561"/>
          </a:xfrm>
          <a:custGeom>
            <a:avLst/>
            <a:gdLst/>
            <a:ahLst/>
            <a:cxnLst/>
            <a:rect r="r" b="b" t="t" l="l"/>
            <a:pathLst>
              <a:path w="438150" h="533400" stroke="true" fill="norm" extrusionOk="true">
                <a:moveTo>
                  <a:pt x="283816" y="621"/>
                </a:moveTo>
                <a:cubicBezTo>
                  <a:pt x="284578" y="621"/>
                  <a:pt x="285340" y="621"/>
                  <a:pt x="286102" y="716"/>
                </a:cubicBezTo>
                <a:lnTo>
                  <a:pt x="286102" y="124446"/>
                </a:lnTo>
                <a:lnTo>
                  <a:pt x="286197" y="126160"/>
                </a:lnTo>
                <a:cubicBezTo>
                  <a:pt x="287055" y="141115"/>
                  <a:pt x="299532" y="153021"/>
                  <a:pt x="314677" y="153021"/>
                </a:cubicBezTo>
                <a:lnTo>
                  <a:pt x="314677" y="153021"/>
                </a:lnTo>
                <a:lnTo>
                  <a:pt x="438407" y="153021"/>
                </a:lnTo>
                <a:cubicBezTo>
                  <a:pt x="438502" y="153783"/>
                  <a:pt x="438502" y="154545"/>
                  <a:pt x="438502" y="155307"/>
                </a:cubicBezTo>
                <a:lnTo>
                  <a:pt x="438502" y="505446"/>
                </a:lnTo>
                <a:cubicBezTo>
                  <a:pt x="438502" y="521257"/>
                  <a:pt x="425739" y="534021"/>
                  <a:pt x="409927" y="534021"/>
                </a:cubicBezTo>
                <a:lnTo>
                  <a:pt x="28927" y="534021"/>
                </a:lnTo>
                <a:cubicBezTo>
                  <a:pt x="13115" y="534021"/>
                  <a:pt x="352" y="521257"/>
                  <a:pt x="352" y="505446"/>
                </a:cubicBezTo>
                <a:lnTo>
                  <a:pt x="352" y="29196"/>
                </a:lnTo>
                <a:cubicBezTo>
                  <a:pt x="352" y="13385"/>
                  <a:pt x="13115" y="621"/>
                  <a:pt x="28927" y="621"/>
                </a:cubicBezTo>
                <a:lnTo>
                  <a:pt x="283816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50098" y="314946"/>
                </a:lnTo>
                <a:cubicBezTo>
                  <a:pt x="280673" y="313803"/>
                  <a:pt x="305152" y="288657"/>
                  <a:pt x="305152" y="257796"/>
                </a:cubicBezTo>
                <a:cubicBezTo>
                  <a:pt x="305152" y="226268"/>
                  <a:pt x="279530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9052" y="219696"/>
                  <a:pt x="286102" y="236746"/>
                  <a:pt x="286102" y="257796"/>
                </a:cubicBezTo>
                <a:cubicBezTo>
                  <a:pt x="286102" y="278846"/>
                  <a:pt x="269052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534" y="133876"/>
                </a:lnTo>
                <a:cubicBezTo>
                  <a:pt x="308772" y="133304"/>
                  <a:pt x="305152" y="129304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机器学习与深度学习</a:t>
            </a:r>
          </a:p>
        </p:txBody>
      </p:sp>
      <p:cxnSp>
        <p:nvCxnSpPr>
          <p:cNvPr name="Connector 3" id="3"/>
          <p:cNvCxnSpPr/>
          <p:nvPr/>
        </p:nvCxnSpPr>
        <p:spPr>
          <a:xfrm>
            <a:off x="1075272" y="2722562"/>
            <a:ext cx="10443628" cy="0"/>
          </a:xfrm>
          <a:prstGeom prst="line">
            <a:avLst/>
          </a:prstGeom>
          <a:ln w="6350" cap="flat" cmpd="sng">
            <a:solidFill>
              <a:srgbClr val="F0F0F0"/>
            </a:solidFill>
            <a:prstDash val="solid"/>
          </a:ln>
        </p:spPr>
      </p:cxnSp>
      <p:sp>
        <p:nvSpPr>
          <p:cNvPr name="AutoShape 4" id="4"/>
          <p:cNvSpPr/>
          <p:nvPr/>
        </p:nvSpPr>
        <p:spPr>
          <a:xfrm>
            <a:off x="868735" y="2614532"/>
            <a:ext cx="216062" cy="21606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868735" y="2026802"/>
            <a:ext cx="1330487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0000" bIns="45720" rIns="90000">
            <a:spAutoFit/>
          </a:bodyPr>
          <a:p>
            <a:pPr algn="l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>
            <a:off x="1234874" y="2932803"/>
            <a:ext cx="2884675" cy="199323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通过大量的PPT样本数据，训练机器学习模型，使其能够识别不同场景下的PPT结构和设计风格，提高生成质量。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4540443" y="2614532"/>
            <a:ext cx="216062" cy="21606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4540443" y="2026802"/>
            <a:ext cx="1330487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0000" bIns="45720" rIns="90000">
            <a:spAutoFit/>
          </a:bodyPr>
          <a:p>
            <a:pPr algn="l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9" id="9"/>
          <p:cNvSpPr/>
          <p:nvPr/>
        </p:nvSpPr>
        <p:spPr>
          <a:xfrm>
            <a:off x="4852196" y="2933536"/>
            <a:ext cx="3359953" cy="167007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数据驱动技术使得系统能够根据用户的历史数据和反馈，不断优化生成算法，提供更加精准和个性化的PPT生成服务。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212149" y="2614532"/>
            <a:ext cx="216062" cy="21606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8212149" y="2026802"/>
            <a:ext cx="1330487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0000" bIns="45720" rIns="90000">
            <a:spAutoFit/>
          </a:bodyPr>
          <a:p>
            <a:pPr algn="l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635751" y="2933536"/>
            <a:ext cx="2883148" cy="199323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模型优化技术通过调整参数和算法，提升系统的生成效率和准确性，确保在不同场景下都能生成高质量的演示文稿。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1234873" y="2045645"/>
            <a:ext cx="3305567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模型训练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922045" y="2045645"/>
            <a:ext cx="3290104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数据驱动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635752" y="2042191"/>
            <a:ext cx="2883147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模型优化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图像处理与设计</a:t>
            </a:r>
          </a:p>
        </p:txBody>
      </p:sp>
      <p:sp>
        <p:nvSpPr>
          <p:cNvPr name="AutoShape 3" id="3"/>
          <p:cNvSpPr/>
          <p:nvPr/>
        </p:nvSpPr>
        <p:spPr>
          <a:xfrm rot="10800000">
            <a:off x="4656440" y="2047310"/>
            <a:ext cx="2748870" cy="2369715"/>
          </a:xfrm>
          <a:prstGeom prst="triangle">
            <a:avLst/>
          </a:prstGeom>
          <a:solidFill>
            <a:schemeClr val="accent2">
              <a:alpha val="50000"/>
              <a:lumMod val="20000"/>
              <a:lumOff val="8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 flipV="true" rot="10800000">
            <a:off x="5343658" y="2047311"/>
            <a:ext cx="1374434" cy="1184857"/>
          </a:xfrm>
          <a:prstGeom prst="triangl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non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5123062" y="2213303"/>
            <a:ext cx="4411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495905" y="2213303"/>
            <a:ext cx="4411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/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5797749" y="3465952"/>
            <a:ext cx="4411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7405309" y="2406343"/>
            <a:ext cx="374447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自动排版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7405309" y="2914630"/>
            <a:ext cx="3744471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自动排版技术根据PPT内容的结构和逻辑，自动调整文字、图片和图表的位置，确保整体布局的美观和协调。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95731" y="2381732"/>
            <a:ext cx="34642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图像识别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95731" y="2890019"/>
            <a:ext cx="3464278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图像识别技术用于自动识别和提取用户上传的图片或图表，并将其合理地嵌入到PPT中，增强演示文稿的视觉效果。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4289248" y="4436111"/>
            <a:ext cx="34642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视觉设计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4289248" y="4944398"/>
            <a:ext cx="3464278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视觉设计技术通过分析用户偏好和设计趋势，自动生成符合现代审美的PPT模板和配色方案，提升演示文稿的视觉吸引力。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802739" y="3328634"/>
            <a:ext cx="4572397" cy="713740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AI智能生成PPT的应用案例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777349" y="1956428"/>
            <a:ext cx="1594026" cy="144655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8800" spc="-380" baseline="0" u="none">
                <a:ln w="19050"/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58637" y="2593520"/>
            <a:ext cx="3139277" cy="3311979"/>
          </a:xfrm>
          <a:prstGeom prst="roundRect">
            <a:avLst>
              <a:gd name="adj" fmla="val 48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4587595" y="2593520"/>
            <a:ext cx="3139277" cy="3311979"/>
          </a:xfrm>
          <a:prstGeom prst="roundRect">
            <a:avLst>
              <a:gd name="adj" fmla="val 48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8116552" y="2593520"/>
            <a:ext cx="3139277" cy="3311979"/>
          </a:xfrm>
          <a:prstGeom prst="roundRect">
            <a:avLst>
              <a:gd name="adj" fmla="val 48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2326744" y="2907396"/>
            <a:ext cx="571723" cy="571720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2480325" y="3083131"/>
            <a:ext cx="264561" cy="220250"/>
          </a:xfrm>
          <a:custGeom>
            <a:avLst/>
            <a:gdLst/>
            <a:ahLst/>
            <a:cxnLst/>
            <a:rect r="r" b="b" t="t" l="l"/>
            <a:pathLst>
              <a:path w="526297" h="438150" stroke="true" fill="norm" extrusionOk="true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7" id="7"/>
          <p:cNvSpPr/>
          <p:nvPr/>
        </p:nvSpPr>
        <p:spPr>
          <a:xfrm>
            <a:off x="5876279" y="2907396"/>
            <a:ext cx="571723" cy="571720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>
            <a:off x="6041463" y="3060976"/>
            <a:ext cx="241354" cy="264561"/>
          </a:xfrm>
          <a:custGeom>
            <a:avLst/>
            <a:gdLst/>
            <a:ahLst/>
            <a:cxnLst/>
            <a:rect r="r" b="b" t="t" l="l"/>
            <a:pathLst>
              <a:path w="495300" h="542925" stroke="true" fill="norm" extrusionOk="true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9" id="9"/>
          <p:cNvSpPr/>
          <p:nvPr/>
        </p:nvSpPr>
        <p:spPr>
          <a:xfrm>
            <a:off x="9425813" y="2907396"/>
            <a:ext cx="571723" cy="571720"/>
          </a:xfrm>
          <a:prstGeom prst="ellips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9603015" y="3060976"/>
            <a:ext cx="217317" cy="264561"/>
          </a:xfrm>
          <a:custGeom>
            <a:avLst/>
            <a:gdLst/>
            <a:ahLst/>
            <a:cxnLst/>
            <a:rect r="r" b="b" t="t" l="l"/>
            <a:pathLst>
              <a:path w="438150" h="533400" stroke="true" fill="norm" extrusionOk="true">
                <a:moveTo>
                  <a:pt x="283816" y="621"/>
                </a:moveTo>
                <a:cubicBezTo>
                  <a:pt x="284578" y="621"/>
                  <a:pt x="285340" y="621"/>
                  <a:pt x="286102" y="716"/>
                </a:cubicBezTo>
                <a:lnTo>
                  <a:pt x="286102" y="124446"/>
                </a:lnTo>
                <a:lnTo>
                  <a:pt x="286197" y="126160"/>
                </a:lnTo>
                <a:cubicBezTo>
                  <a:pt x="287055" y="141115"/>
                  <a:pt x="299532" y="153021"/>
                  <a:pt x="314677" y="153021"/>
                </a:cubicBezTo>
                <a:lnTo>
                  <a:pt x="314677" y="153021"/>
                </a:lnTo>
                <a:lnTo>
                  <a:pt x="438407" y="153021"/>
                </a:lnTo>
                <a:cubicBezTo>
                  <a:pt x="438502" y="153783"/>
                  <a:pt x="438502" y="154545"/>
                  <a:pt x="438502" y="155307"/>
                </a:cubicBezTo>
                <a:lnTo>
                  <a:pt x="438502" y="505446"/>
                </a:lnTo>
                <a:cubicBezTo>
                  <a:pt x="438502" y="521257"/>
                  <a:pt x="425739" y="534021"/>
                  <a:pt x="409927" y="534021"/>
                </a:cubicBezTo>
                <a:lnTo>
                  <a:pt x="28927" y="534021"/>
                </a:lnTo>
                <a:cubicBezTo>
                  <a:pt x="13115" y="534021"/>
                  <a:pt x="352" y="521257"/>
                  <a:pt x="352" y="505446"/>
                </a:cubicBezTo>
                <a:lnTo>
                  <a:pt x="352" y="29196"/>
                </a:lnTo>
                <a:cubicBezTo>
                  <a:pt x="352" y="13385"/>
                  <a:pt x="13115" y="621"/>
                  <a:pt x="28927" y="621"/>
                </a:cubicBezTo>
                <a:lnTo>
                  <a:pt x="283816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50098" y="314946"/>
                </a:lnTo>
                <a:cubicBezTo>
                  <a:pt x="280673" y="313803"/>
                  <a:pt x="305152" y="288657"/>
                  <a:pt x="305152" y="257796"/>
                </a:cubicBezTo>
                <a:cubicBezTo>
                  <a:pt x="305152" y="226268"/>
                  <a:pt x="279530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9052" y="219696"/>
                  <a:pt x="286102" y="236746"/>
                  <a:pt x="286102" y="257796"/>
                </a:cubicBezTo>
                <a:cubicBezTo>
                  <a:pt x="286102" y="278846"/>
                  <a:pt x="269052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534" y="133876"/>
                </a:lnTo>
                <a:cubicBezTo>
                  <a:pt x="308772" y="133304"/>
                  <a:pt x="305152" y="129304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1" id="11"/>
          <p:cNvSpPr/>
          <p:nvPr/>
        </p:nvSpPr>
        <p:spPr>
          <a:xfrm>
            <a:off x="1036262" y="1570703"/>
            <a:ext cx="3361361" cy="667814"/>
          </a:xfrm>
          <a:prstGeom prst="homePlat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市场分析报告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502558" y="1570703"/>
            <a:ext cx="3361361" cy="667814"/>
          </a:xfrm>
          <a:prstGeom prst="chevron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产品介绍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968855" y="1570703"/>
            <a:ext cx="3361361" cy="667814"/>
          </a:xfrm>
          <a:prstGeom prst="chevron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zh-CN" b="true" i="false" sz="16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财务报告</a:t>
            </a:r>
          </a:p>
        </p:txBody>
      </p:sp>
      <p:sp>
        <p:nvSpPr>
          <p:cNvPr name="AutoShape 14" id="14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企业演示文稿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1168804" y="3560650"/>
            <a:ext cx="2906645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AI智能生成PPT能够快速生成详细的市场分析报告，帮助企业分析市场趋势、竞争对手和消费者行为，为决策提供数据支持。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715167" y="3571855"/>
            <a:ext cx="2906645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系统能够根据产品特点和用户需求，自动生成专业的产品介绍PPT，展示产品的核心优势和应用场景，提升客户对产品的认知。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258350" y="3632696"/>
            <a:ext cx="2906645" cy="166968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AI智能生成PPT能够自动整理财务数据，生成结构化的财务报告，帮助企业清晰地展示财务状况和经营成果，便于内部和外部沟通。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教育领域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1165020" y="1654716"/>
            <a:ext cx="5157403" cy="114913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lt1"/>
                </a:solidFill>
                <a:latin typeface="微软雅黑"/>
                <a:ea typeface="微软雅黑"/>
              </a:rPr>
              <a:t>AI智能生成PPT能够根据教学大纲和课程内容，自动生成结构清晰、内容丰富的教学课件，帮助教师提高教学效率。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165019" y="1304784"/>
            <a:ext cx="5157403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教学课件</a:t>
            </a:r>
          </a:p>
        </p:txBody>
      </p:sp>
      <p:sp>
        <p:nvSpPr>
          <p:cNvPr name="AutoShape 5" id="5"/>
          <p:cNvSpPr/>
          <p:nvPr/>
        </p:nvSpPr>
        <p:spPr>
          <a:xfrm>
            <a:off x="546825" y="1512562"/>
            <a:ext cx="406400" cy="406400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12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165020" y="3295589"/>
            <a:ext cx="5157403" cy="114913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lt1"/>
                </a:solidFill>
                <a:latin typeface="微软雅黑"/>
                <a:ea typeface="微软雅黑"/>
              </a:rPr>
              <a:t>系统能够根据学术论文或研究数据，自动生成符合学术规范的PPT，帮助研究人员展示研究成果，提升学术交流的效果。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165019" y="2945657"/>
            <a:ext cx="5157403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学术报告</a:t>
            </a:r>
          </a:p>
        </p:txBody>
      </p:sp>
      <p:sp>
        <p:nvSpPr>
          <p:cNvPr name="AutoShape 8" id="8"/>
          <p:cNvSpPr/>
          <p:nvPr/>
        </p:nvSpPr>
        <p:spPr>
          <a:xfrm>
            <a:off x="546825" y="3153435"/>
            <a:ext cx="406400" cy="406400"/>
          </a:xfrm>
          <a:prstGeom prst="roundRect">
            <a:avLst/>
          </a:prstGeom>
          <a:solidFill>
            <a:srgbClr val="9112E7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12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1165020" y="4850737"/>
            <a:ext cx="5157403" cy="114913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lt1"/>
                </a:solidFill>
                <a:latin typeface="微软雅黑"/>
                <a:ea typeface="微软雅黑"/>
              </a:rPr>
              <a:t>AI智能生成PPT能够帮助学生快速完成作业演示文稿，提供多样化的模板和设计选项，提升作业的完成质量和视觉效果。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165019" y="4500805"/>
            <a:ext cx="5157403" cy="42797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90000" lIns="91440" bIns="9000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学生作业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46825" y="4708583"/>
            <a:ext cx="406400" cy="406400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en-US" b="true" i="false" sz="12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Freeform 12" id="12"/>
          <p:cNvSpPr/>
          <p:nvPr/>
        </p:nvSpPr>
        <p:spPr>
          <a:xfrm flipH="true">
            <a:off x="6604000" y="10239"/>
            <a:ext cx="5588000" cy="6857999"/>
          </a:xfrm>
          <a:custGeom>
            <a:avLst/>
            <a:gdLst/>
            <a:ahLst/>
            <a:cxnLst/>
            <a:rect r="r" b="b" t="t" l="l"/>
            <a:pathLst>
              <a:path w="5588000" h="6857999" stroke="true" fill="norm" extrusionOk="true">
                <a:moveTo>
                  <a:pt x="4339477" y="0"/>
                </a:moveTo>
                <a:lnTo>
                  <a:pt x="0" y="0"/>
                </a:lnTo>
                <a:lnTo>
                  <a:pt x="0" y="6857999"/>
                </a:lnTo>
                <a:lnTo>
                  <a:pt x="4339478" y="6857999"/>
                </a:lnTo>
                <a:lnTo>
                  <a:pt x="4369438" y="6823412"/>
                </a:lnTo>
                <a:cubicBezTo>
                  <a:pt x="5130699" y="5900977"/>
                  <a:pt x="5588000" y="4718393"/>
                  <a:pt x="5588000" y="3429000"/>
                </a:cubicBezTo>
                <a:cubicBezTo>
                  <a:pt x="5588000" y="2139608"/>
                  <a:pt x="5130699" y="957024"/>
                  <a:pt x="4369438" y="34588"/>
                </a:cubicBezTo>
                <a:close/>
              </a:path>
            </a:pathLst>
          </a:cu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个人使用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379129" y="2263705"/>
            <a:ext cx="27449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简历制作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1397935" y="2764073"/>
            <a:ext cx="2714224" cy="1177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AI智能生成PPT能够根据用户的个人信息和职业经历，自动生成专业且个性化的简历PPT，帮助求职者更好地展示自己。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379129" y="1413581"/>
            <a:ext cx="88053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833262" y="2263705"/>
            <a:ext cx="27449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ln/>
                <a:solidFill>
                  <a:srgbClr val="C7AAE4"/>
                </a:solidFill>
                <a:latin typeface="微软雅黑"/>
                <a:ea typeface="微软雅黑"/>
              </a:rPr>
              <a:t>个人展示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4852068" y="2764073"/>
            <a:ext cx="2714224" cy="1669688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C7AAE4"/>
                </a:solidFill>
                <a:latin typeface="微软雅黑"/>
                <a:ea typeface="微软雅黑"/>
              </a:rPr>
              <a:t>系统能够根据用户的需求，自动生成用于个人展示的PPT，帮助用户在社交活动或演讲中更好地表达自己的观点和想法。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833262" y="1413581"/>
            <a:ext cx="88053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rgbClr val="C7AAE4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287395" y="2263705"/>
            <a:ext cx="27449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活动策划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8306201" y="2764073"/>
            <a:ext cx="2714224" cy="1346522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AI智能生成PPT能够根据活动主题和流程，自动生成详细的活动策划PPT，帮助组织者更好地规划和执行活动。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8287395" y="1413581"/>
            <a:ext cx="88053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802739" y="3328634"/>
            <a:ext cx="4572397" cy="713740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AI智能生成PPT的挑战与解决方案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777349" y="1956428"/>
            <a:ext cx="1594026" cy="144655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8800" spc="-380" baseline="0" u="none">
                <a:ln w="19050"/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技术挑战</a:t>
            </a:r>
          </a:p>
        </p:txBody>
      </p:sp>
      <p:grpSp>
        <p:nvGrpSpPr>
          <p:cNvPr name="Group 3" id="3"/>
          <p:cNvGrpSpPr/>
          <p:nvPr/>
        </p:nvGrpSpPr>
        <p:grpSpPr>
          <a:xfrm rot="697731">
            <a:off x="1437898" y="3074122"/>
            <a:ext cx="8929531" cy="3610665"/>
            <a:chOff x="1785483" y="1336696"/>
            <a:chExt cx="7702756" cy="3929491"/>
          </a:xfrm>
        </p:grpSpPr>
        <p:sp>
          <p:nvSpPr>
            <p:cNvPr name="Freeform 4" id="4"/>
            <p:cNvSpPr/>
            <p:nvPr/>
          </p:nvSpPr>
          <p:spPr>
            <a:xfrm>
              <a:off x="1785483" y="1614094"/>
              <a:ext cx="7550848" cy="3652093"/>
            </a:xfrm>
            <a:custGeom>
              <a:avLst/>
              <a:gdLst/>
              <a:ahLst/>
              <a:cxnLst/>
              <a:rect r="r" b="b" t="t" l="l"/>
              <a:pathLst>
                <a:path w="7550848" h="3652093" stroke="true" fill="norm" extrusionOk="true">
                  <a:moveTo>
                    <a:pt x="1424" y="3618319"/>
                  </a:moveTo>
                  <a:cubicBezTo>
                    <a:pt x="179089" y="3630541"/>
                    <a:pt x="357295" y="3632900"/>
                    <a:pt x="535220" y="3625383"/>
                  </a:cubicBezTo>
                  <a:cubicBezTo>
                    <a:pt x="2850736" y="3533018"/>
                    <a:pt x="5062424" y="2437037"/>
                    <a:pt x="6669143" y="790200"/>
                  </a:cubicBezTo>
                  <a:cubicBezTo>
                    <a:pt x="6917315" y="538296"/>
                    <a:pt x="7153225" y="275103"/>
                    <a:pt x="7376873" y="635"/>
                  </a:cubicBezTo>
                  <a:lnTo>
                    <a:pt x="7550807" y="145912"/>
                  </a:lnTo>
                  <a:cubicBezTo>
                    <a:pt x="7316136" y="419408"/>
                    <a:pt x="7069164" y="681534"/>
                    <a:pt x="6809889" y="932278"/>
                  </a:cubicBezTo>
                  <a:cubicBezTo>
                    <a:pt x="5142394" y="2558191"/>
                    <a:pt x="2879658" y="3616586"/>
                    <a:pt x="535887" y="3652040"/>
                  </a:cubicBezTo>
                  <a:cubicBezTo>
                    <a:pt x="357006" y="3655038"/>
                    <a:pt x="178094" y="3648241"/>
                    <a:pt x="-42" y="3631647"/>
                  </a:cubicBezTo>
                  <a:lnTo>
                    <a:pt x="1424" y="3618319"/>
                  </a:lnTo>
                  <a:close/>
                </a:path>
              </a:pathLst>
            </a:custGeom>
            <a:gradFill>
              <a:gsLst>
                <a:gs pos="0">
                  <a:srgbClr val="E384D5">
                    <a:alpha val="0"/>
                  </a:srgbClr>
                </a:gs>
                <a:gs pos="77000">
                  <a:srgbClr val="E384D5"/>
                </a:gs>
              </a:gsLst>
              <a:lin ang="12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 rot="698765">
              <a:off x="9002135" y="1336696"/>
              <a:ext cx="486104" cy="570182"/>
            </a:xfrm>
            <a:custGeom>
              <a:avLst/>
              <a:gdLst/>
              <a:ahLst/>
              <a:cxnLst/>
              <a:rect r="r" b="b" t="t" l="l"/>
              <a:pathLst>
                <a:path w="486104" h="570182" stroke="true" fill="norm" extrusionOk="true">
                  <a:moveTo>
                    <a:pt x="0" y="223733"/>
                  </a:moveTo>
                  <a:lnTo>
                    <a:pt x="486104" y="570182"/>
                  </a:lnTo>
                  <a:lnTo>
                    <a:pt x="486104" y="0"/>
                  </a:lnTo>
                  <a:lnTo>
                    <a:pt x="0" y="223733"/>
                  </a:lnTo>
                  <a:close/>
                </a:path>
              </a:pathLst>
            </a:custGeom>
            <a:solidFill>
              <a:schemeClr val="accent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6" id="6"/>
          <p:cNvSpPr/>
          <p:nvPr/>
        </p:nvSpPr>
        <p:spPr>
          <a:xfrm>
            <a:off x="2147658" y="2495914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7" id="7"/>
          <p:cNvSpPr/>
          <p:nvPr/>
        </p:nvSpPr>
        <p:spPr>
          <a:xfrm>
            <a:off x="1914790" y="3684283"/>
            <a:ext cx="2571835" cy="130185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数据质量直接影响AI生成PPT的准确性，解决方案包括数据清洗、数据增强等技术，确保输入数据的准确性和完整性。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1713106" y="2897849"/>
            <a:ext cx="139700" cy="139700"/>
            <a:chOff x="1886293" y="4670068"/>
            <a:chExt cx="139700" cy="139700"/>
          </a:xfrm>
        </p:grpSpPr>
        <p:sp>
          <p:nvSpPr>
            <p:cNvPr name="AutoShape 9" id="9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  <a:effectLst>
              <a:outerShdw algn="ctr" blurRad="127000" dir="2700000" dist="63500" rotWithShape="false">
                <a:schemeClr val="accent2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cxnSp>
        <p:nvCxnSpPr>
          <p:cNvPr name="Connector 11" id="11"/>
          <p:cNvCxnSpPr/>
          <p:nvPr/>
        </p:nvCxnSpPr>
        <p:spPr>
          <a:xfrm>
            <a:off x="1778311" y="2896010"/>
            <a:ext cx="1" cy="2952780"/>
          </a:xfrm>
          <a:prstGeom prst="line">
            <a:avLst/>
          </a:prstGeom>
          <a:ln w="6350" cap="flat" cmpd="sng">
            <a:solidFill>
              <a:schemeClr val="accent1">
                <a:alpha val="50000"/>
              </a:schemeClr>
            </a:solidFill>
            <a:prstDash val="sysDash"/>
          </a:ln>
        </p:spPr>
      </p:cxnSp>
      <p:cxnSp>
        <p:nvCxnSpPr>
          <p:cNvPr name="Connector 12" id="12"/>
          <p:cNvCxnSpPr/>
          <p:nvPr/>
        </p:nvCxnSpPr>
        <p:spPr>
          <a:xfrm>
            <a:off x="4687799" y="2370966"/>
            <a:ext cx="0" cy="3584540"/>
          </a:xfrm>
          <a:prstGeom prst="line">
            <a:avLst/>
          </a:prstGeom>
          <a:ln w="6350" cap="flat" cmpd="sng">
            <a:solidFill>
              <a:schemeClr val="accent2">
                <a:alpha val="50000"/>
              </a:schemeClr>
            </a:solidFill>
            <a:prstDash val="sysDash"/>
          </a:ln>
        </p:spPr>
      </p:cxnSp>
      <p:sp>
        <p:nvSpPr>
          <p:cNvPr name="AutoShape 13" id="13"/>
          <p:cNvSpPr/>
          <p:nvPr/>
        </p:nvSpPr>
        <p:spPr>
          <a:xfrm>
            <a:off x="5066289" y="1767520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>
            <a:off x="4631737" y="2374169"/>
            <a:ext cx="139700" cy="139700"/>
            <a:chOff x="1886293" y="4670068"/>
            <a:chExt cx="139700" cy="139700"/>
          </a:xfrm>
        </p:grpSpPr>
        <p:sp>
          <p:nvSpPr>
            <p:cNvPr name="AutoShape 15" id="15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6" id="16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2"/>
            </a:solidFill>
            <a:ln cap="flat" cmpd="sng">
              <a:prstDash val="solid"/>
            </a:ln>
            <a:effectLst>
              <a:outerShdw algn="ctr" blurRad="127000" dir="2700000" dist="63500" rotWithShape="false">
                <a:schemeClr val="accent4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17" id="17"/>
          <p:cNvSpPr/>
          <p:nvPr/>
        </p:nvSpPr>
        <p:spPr>
          <a:xfrm>
            <a:off x="8022157" y="1130299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90000" lIns="91440" bIns="90000" rIns="91440">
            <a:no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>
            <a:off x="7550368" y="1568774"/>
            <a:ext cx="139700" cy="139700"/>
            <a:chOff x="1886293" y="4670068"/>
            <a:chExt cx="139700" cy="139700"/>
          </a:xfrm>
        </p:grpSpPr>
        <p:sp>
          <p:nvSpPr>
            <p:cNvPr name="AutoShape 19" id="19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20" id="20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3"/>
            </a:solidFill>
            <a:ln cap="flat" cmpd="sng">
              <a:prstDash val="solid"/>
            </a:ln>
            <a:effectLst>
              <a:outerShdw algn="ctr" blurRad="127000" dir="2700000" dist="63500" rotWithShape="false">
                <a:schemeClr val="accent6">
                  <a:alpha val="40000"/>
                </a:schemeClr>
              </a:outerShdw>
            </a:effectLst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cxnSp>
        <p:nvCxnSpPr>
          <p:cNvPr name="Connector 21" id="21"/>
          <p:cNvCxnSpPr/>
          <p:nvPr/>
        </p:nvCxnSpPr>
        <p:spPr>
          <a:xfrm>
            <a:off x="7603293" y="1596788"/>
            <a:ext cx="0" cy="3778487"/>
          </a:xfrm>
          <a:prstGeom prst="line">
            <a:avLst/>
          </a:prstGeom>
          <a:ln w="6350" cap="flat" cmpd="sng">
            <a:solidFill>
              <a:schemeClr val="accent1">
                <a:alpha val="50000"/>
              </a:schemeClr>
            </a:solidFill>
            <a:prstDash val="sysDash"/>
          </a:ln>
        </p:spPr>
      </p:cxnSp>
      <p:sp>
        <p:nvSpPr>
          <p:cNvPr name="TextBox 22" id="22"/>
          <p:cNvSpPr txBox="true"/>
          <p:nvPr/>
        </p:nvSpPr>
        <p:spPr>
          <a:xfrm>
            <a:off x="1914790" y="3167901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数据质量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4797637" y="2973856"/>
            <a:ext cx="2571835" cy="130185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模型泛化能力不足可能导致生成PPT的适用性受限，解决方案包括多场景训练、模型优化等，提升模型在不同场景下的表现。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4797637" y="2457474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模型泛化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>
            <a:off x="7723639" y="2311556"/>
            <a:ext cx="2571835" cy="130185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实时性要求系统能够快速响应用户需求，解决方案包括算法优化、硬件加速等，确保系统在高并发情况下的稳定性和效率。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7723639" y="1795174"/>
            <a:ext cx="257183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实时性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用户体验挑战</a:t>
            </a:r>
          </a:p>
        </p:txBody>
      </p:sp>
      <p:cxnSp>
        <p:nvCxnSpPr>
          <p:cNvPr name="Connector 3" id="3"/>
          <p:cNvCxnSpPr/>
          <p:nvPr/>
        </p:nvCxnSpPr>
        <p:spPr>
          <a:xfrm>
            <a:off x="3285130" y="3702065"/>
            <a:ext cx="512066" cy="262"/>
          </a:xfrm>
          <a:prstGeom prst="line">
            <a:avLst/>
          </a:prstGeom>
          <a:ln w="952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w="lg" type="arrow"/>
          </a:ln>
        </p:spPr>
      </p:cxnSp>
      <p:sp>
        <p:nvSpPr>
          <p:cNvPr name="AutoShape 4" id="4"/>
          <p:cNvSpPr/>
          <p:nvPr/>
        </p:nvSpPr>
        <p:spPr>
          <a:xfrm>
            <a:off x="1739019" y="3002872"/>
            <a:ext cx="1332457" cy="1349297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1513272" y="2774272"/>
            <a:ext cx="1783951" cy="1806497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3972417" y="1212017"/>
            <a:ext cx="6913877" cy="1528284"/>
          </a:xfrm>
          <a:prstGeom prst="rect">
            <a:avLst/>
          </a:prstGeom>
          <a:solidFill>
            <a:srgbClr val="9112E7">
              <a:alpha val="20000"/>
            </a:srgbClr>
          </a:solidFill>
          <a:ln cap="flat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4713832" y="1256603"/>
            <a:ext cx="5997246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用户需求多样性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flipH="true">
            <a:off x="4713827" y="1567876"/>
            <a:ext cx="5997246" cy="415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auto" algn="l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用户需求的多样性要求系统具备高度的灵活性，解决方案包括个性化定制、多模态输入等，满足不同用户的需求。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057515" y="1748823"/>
            <a:ext cx="571209" cy="40011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20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01.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3972417" y="2913379"/>
            <a:ext cx="6913877" cy="1528284"/>
          </a:xfrm>
          <a:prstGeom prst="rect">
            <a:avLst/>
          </a:prstGeom>
          <a:solidFill>
            <a:srgbClr val="9112E7">
              <a:alpha val="20000"/>
            </a:srgbClr>
          </a:solidFill>
          <a:ln cap="flat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>
            <a:off x="4713832" y="2957965"/>
            <a:ext cx="5997246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界面友好性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flipH="true">
            <a:off x="4713827" y="3269238"/>
            <a:ext cx="5997246" cy="415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auto" algn="l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界面友好性直接影响用户的使用体验，解决方案包括用户界面优化、交互设计等，确保用户能够轻松上手并高效使用系统。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067664" y="3520052"/>
            <a:ext cx="571209" cy="40011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20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02.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3972417" y="4614741"/>
            <a:ext cx="6913877" cy="1528284"/>
          </a:xfrm>
          <a:prstGeom prst="rect">
            <a:avLst/>
          </a:prstGeom>
          <a:solidFill>
            <a:srgbClr val="9112E7">
              <a:alpha val="20000"/>
            </a:srgbClr>
          </a:solidFill>
          <a:ln cap="flat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5" id="15"/>
          <p:cNvSpPr txBox="true"/>
          <p:nvPr/>
        </p:nvSpPr>
        <p:spPr>
          <a:xfrm>
            <a:off x="4713832" y="4659327"/>
            <a:ext cx="5997246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fontAlgn="auto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反馈机制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flipH="true">
            <a:off x="4713827" y="4970600"/>
            <a:ext cx="5997246" cy="415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fontAlgn="auto" algn="l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b="false" i="false" sz="1400" baseline="0" u="none" altLang="en-US">
                <a:ln/>
                <a:solidFill>
                  <a:srgbClr val="FFFFFF"/>
                </a:solidFill>
                <a:latin typeface="+mn-ea"/>
                <a:ea typeface="+mn-ea"/>
              </a:rPr>
              <a:t>反馈机制能够帮助系统不断优化生成效果，解决方案包括用户反馈收集、实时调整等，确保系统能够根据用户反馈进行持续改进。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3979491" y="5151283"/>
            <a:ext cx="571209" cy="40011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true" i="false" sz="20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03.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>
            <a:off x="2664036" y="1984917"/>
            <a:ext cx="1145254" cy="646771"/>
          </a:xfrm>
          <a:custGeom>
            <a:avLst/>
            <a:gdLst/>
            <a:ahLst/>
            <a:cxnLst/>
            <a:rect r="r" b="b" t="t" l="l"/>
            <a:pathLst>
              <a:path w="1996068" h="646771" stroke="true" fill="norm" extrusionOk="true">
                <a:moveTo>
                  <a:pt x="0" y="646771"/>
                </a:moveTo>
                <a:lnTo>
                  <a:pt x="490654" y="0"/>
                </a:lnTo>
                <a:lnTo>
                  <a:pt x="1996068" y="0"/>
                </a:lnTo>
              </a:path>
            </a:pathLst>
          </a:custGeom>
          <a:ln w="952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w="lg" type="arrow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9" id="19"/>
          <p:cNvSpPr/>
          <p:nvPr/>
        </p:nvSpPr>
        <p:spPr>
          <a:xfrm flipV="true">
            <a:off x="2664036" y="4367030"/>
            <a:ext cx="1145254" cy="984308"/>
          </a:xfrm>
          <a:custGeom>
            <a:avLst/>
            <a:gdLst/>
            <a:ahLst/>
            <a:cxnLst/>
            <a:rect r="r" b="b" t="t" l="l"/>
            <a:pathLst>
              <a:path w="1996068" h="646771" stroke="true" fill="norm" extrusionOk="true">
                <a:moveTo>
                  <a:pt x="0" y="646771"/>
                </a:moveTo>
                <a:lnTo>
                  <a:pt x="490654" y="0"/>
                </a:lnTo>
                <a:lnTo>
                  <a:pt x="1996068" y="0"/>
                </a:lnTo>
              </a:path>
            </a:pathLst>
          </a:custGeom>
          <a:ln w="9525" cap="flat" cmpd="sng">
            <a:solidFill>
              <a:srgbClr val="FFFFFF">
                <a:alpha val="40000"/>
                <a:lumMod val="50000"/>
                <a:lumOff val="50000"/>
              </a:srgbClr>
            </a:solidFill>
            <a:prstDash val="solid"/>
            <a:tailEnd w="lg" type="arrow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解决方案</a:t>
            </a:r>
          </a:p>
        </p:txBody>
      </p:sp>
      <p:sp>
        <p:nvSpPr>
          <p:cNvPr name="AutoShape 3" id="3"/>
          <p:cNvSpPr/>
          <p:nvPr/>
        </p:nvSpPr>
        <p:spPr>
          <a:xfrm>
            <a:off x="5029200" y="1729743"/>
            <a:ext cx="2133600" cy="2133600"/>
          </a:xfrm>
          <a:prstGeom prst="ellipse">
            <a:avLst/>
          </a:prstGeom>
          <a:solidFill>
            <a:schemeClr val="accent1">
              <a:alpha val="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5391150" y="2091693"/>
            <a:ext cx="1409700" cy="14097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5" id="5"/>
          <p:cNvCxnSpPr/>
          <p:nvPr/>
        </p:nvCxnSpPr>
        <p:spPr>
          <a:xfrm>
            <a:off x="3152775" y="2796543"/>
            <a:ext cx="1355725" cy="0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  <a:tailEnd type="triangle"/>
          </a:ln>
        </p:spPr>
      </p:cxnSp>
      <p:cxnSp>
        <p:nvCxnSpPr>
          <p:cNvPr name="Connector 6" id="6"/>
          <p:cNvCxnSpPr/>
          <p:nvPr/>
        </p:nvCxnSpPr>
        <p:spPr>
          <a:xfrm>
            <a:off x="7683500" y="2796543"/>
            <a:ext cx="1355725" cy="0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  <a:tailEnd type="triangle"/>
          </a:ln>
        </p:spPr>
      </p:cxnSp>
      <p:sp>
        <p:nvSpPr>
          <p:cNvPr name="AutoShape 7" id="7"/>
          <p:cNvSpPr/>
          <p:nvPr/>
        </p:nvSpPr>
        <p:spPr>
          <a:xfrm>
            <a:off x="4508500" y="1209043"/>
            <a:ext cx="3175000" cy="3175000"/>
          </a:xfrm>
          <a:prstGeom prst="ellips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  <a:tailEnd type="triangle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1349374" y="1898018"/>
            <a:ext cx="1797050" cy="1797050"/>
          </a:xfrm>
          <a:prstGeom prst="ellipse">
            <a:avLst/>
          </a:prstGeom>
          <a:solidFill>
            <a:srgbClr val="FFFFFF">
              <a:alpha val="16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>
              <a:lnSpc>
                <a:spcPct val="150000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9039225" y="1898018"/>
            <a:ext cx="1797050" cy="1797050"/>
          </a:xfrm>
          <a:prstGeom prst="ellipse">
            <a:avLst/>
          </a:prstGeom>
          <a:solidFill>
            <a:srgbClr val="FFFFFF">
              <a:alpha val="16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>
              <a:lnSpc>
                <a:spcPct val="1500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>
            <a:off x="4508500" y="4491680"/>
            <a:ext cx="317499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多模态融合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508500" y="4999776"/>
            <a:ext cx="3174999" cy="1669688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多模态融合技术将文本、图像、音频等多种数据源结合，提升系统的生成能力和用户体验，确保生成的PPT更加丰富和多样化。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>
            <a:off x="10836275" y="2796543"/>
            <a:ext cx="1355725" cy="0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  <a:tailEnd type="triangle"/>
          </a:ln>
        </p:spPr>
      </p:cxnSp>
      <p:cxnSp>
        <p:nvCxnSpPr>
          <p:cNvPr name="Connector 13" id="13"/>
          <p:cNvCxnSpPr/>
          <p:nvPr/>
        </p:nvCxnSpPr>
        <p:spPr>
          <a:xfrm>
            <a:off x="0" y="2796543"/>
            <a:ext cx="1355725" cy="0"/>
          </a:xfrm>
          <a:prstGeom prst="line">
            <a:avLst/>
          </a:prstGeom>
          <a:ln w="12700" cap="flat" cmpd="sng">
            <a:solidFill>
              <a:srgbClr val="FFFFFF">
                <a:alpha val="20000"/>
                <a:lumMod val="50000"/>
                <a:lumOff val="50000"/>
              </a:srgbClr>
            </a:solidFill>
            <a:prstDash val="dash"/>
            <a:tailEnd type="triangle"/>
          </a:ln>
        </p:spPr>
      </p:cxnSp>
      <p:sp>
        <p:nvSpPr>
          <p:cNvPr name="TextBox 14" id="14"/>
          <p:cNvSpPr txBox="true"/>
          <p:nvPr/>
        </p:nvSpPr>
        <p:spPr>
          <a:xfrm>
            <a:off x="660400" y="4491680"/>
            <a:ext cx="317499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数据增强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60400" y="4999776"/>
            <a:ext cx="3174999" cy="1669688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数据增强技术通过生成更多的训练样本，提升模型的泛化能力，确保系统在不同场景下都能生成高质量的PPT。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356601" y="4491680"/>
            <a:ext cx="317499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用户参与设计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356601" y="4999776"/>
            <a:ext cx="3174999" cy="1669688"/>
          </a:xfrm>
          <a:prstGeom prst="rect">
            <a:avLst/>
          </a:prstGeom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+mn-ea"/>
                <a:ea typeface="+mn-ea"/>
              </a:rPr>
              <a:t>用户参与设计通过让用户参与到PPT生成的过程中，提升系统的个性化和用户满意度，确保生成的PPT更符合用户的需求和偏好。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767766" y="2319210"/>
            <a:ext cx="1260522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8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5648935" y="2342737"/>
            <a:ext cx="877226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9405449" y="2320614"/>
            <a:ext cx="1036411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4800" baseline="0" u="none">
                <a:solidFill>
                  <a:srgbClr val="9112E7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802739" y="3328634"/>
            <a:ext cx="4572397" cy="713740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AI智能生成PPT的未来发展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777349" y="1956428"/>
            <a:ext cx="1594026" cy="144655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8800" spc="-380" baseline="0" u="none">
                <a:ln w="19050"/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技术趋势</a:t>
            </a:r>
          </a:p>
        </p:txBody>
      </p:sp>
      <p:sp>
        <p:nvSpPr>
          <p:cNvPr name="AutoShape 3" id="3"/>
          <p:cNvSpPr/>
          <p:nvPr/>
        </p:nvSpPr>
        <p:spPr>
          <a:xfrm>
            <a:off x="832269" y="2285999"/>
            <a:ext cx="3468030" cy="346803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2522453" y="1359207"/>
            <a:ext cx="2211658" cy="2211658"/>
          </a:xfrm>
          <a:prstGeom prst="donut">
            <a:avLst>
              <a:gd name="adj" fmla="val 19662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4735922" y="3098662"/>
            <a:ext cx="6782978" cy="1632048"/>
          </a:xfrm>
          <a:prstGeom prst="roundRect">
            <a:avLst>
              <a:gd name="adj" fmla="val 100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/>
        </p:nvSpPr>
        <p:spPr>
          <a:xfrm>
            <a:off x="5535250" y="3275037"/>
            <a:ext cx="5765095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更智能的交互</a:t>
            </a:r>
          </a:p>
        </p:txBody>
      </p:sp>
      <p:sp>
        <p:nvSpPr>
          <p:cNvPr name="AutoShape 7" id="7"/>
          <p:cNvSpPr/>
          <p:nvPr/>
        </p:nvSpPr>
        <p:spPr>
          <a:xfrm>
            <a:off x="5535250" y="3700070"/>
            <a:ext cx="5765095" cy="10306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更智能的交互技术将使得用户与系统的沟通更加自然和高效，提升用户体验，确保用户能够轻松获得所需的PPT内容。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4951922" y="3472699"/>
            <a:ext cx="540000" cy="540000"/>
          </a:xfrm>
          <a:prstGeom prst="ellipse">
            <a:avLst/>
          </a:prstGeom>
          <a:solidFill>
            <a:srgbClr val="F0F0F0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735922" y="1168278"/>
            <a:ext cx="6782978" cy="1712137"/>
          </a:xfrm>
          <a:prstGeom prst="roundRect">
            <a:avLst>
              <a:gd name="adj" fmla="val 100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0" id="10"/>
          <p:cNvSpPr/>
          <p:nvPr/>
        </p:nvSpPr>
        <p:spPr>
          <a:xfrm>
            <a:off x="5535250" y="1344653"/>
            <a:ext cx="5765095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更强大的模型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535250" y="1769690"/>
            <a:ext cx="5765095" cy="10306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未来，AI智能生成PPT将采用更强大的模型，如GPT-4等，提升生成内容的准确性和多样性，满足更复杂的需求。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4951922" y="1542315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4735922" y="4947625"/>
            <a:ext cx="6782978" cy="1632047"/>
          </a:xfrm>
          <a:prstGeom prst="roundRect">
            <a:avLst>
              <a:gd name="adj" fmla="val 10000"/>
            </a:avLst>
          </a:prstGeom>
          <a:solidFill>
            <a:srgbClr val="F0F0F0">
              <a:alpha val="15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4" id="14"/>
          <p:cNvSpPr/>
          <p:nvPr/>
        </p:nvSpPr>
        <p:spPr>
          <a:xfrm>
            <a:off x="5535250" y="5124000"/>
            <a:ext cx="5765095" cy="46433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108000" lIns="108000" bIns="108000" rIns="10800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更广泛的应用</a:t>
            </a:r>
          </a:p>
        </p:txBody>
      </p:sp>
      <p:sp>
        <p:nvSpPr>
          <p:cNvPr name="AutoShape 15" id="15"/>
          <p:cNvSpPr/>
          <p:nvPr/>
        </p:nvSpPr>
        <p:spPr>
          <a:xfrm>
            <a:off x="5535250" y="5549032"/>
            <a:ext cx="5765095" cy="10306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lt1"/>
                </a:solidFill>
                <a:latin typeface="微软雅黑"/>
                <a:ea typeface="微软雅黑"/>
              </a:rPr>
              <a:t>AI智能生成PPT将在更多领域得到应用，如医疗、法律等，帮助不同行业的用户快速生成专业且高质量的演示文稿。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4951922" y="5321662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市场前景</a:t>
            </a:r>
          </a:p>
        </p:txBody>
      </p:sp>
      <p:sp>
        <p:nvSpPr>
          <p:cNvPr name="AutoShape 3" id="3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FFFFFF">
              <a:alpha val="5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9756BD">
                        <a:lumMod val="60000"/>
                        <a:lumOff val="40000"/>
                      </a:srgbClr>
                    </a:gs>
                    <a:gs pos="61062">
                      <a:srgbClr val="9756BD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813895" y="3668995"/>
            <a:ext cx="2742017" cy="1177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随着企业对自动化和效率的需求增加，AI智能生成PPT的市场规模将持续扩大，预计未来几年将保持高速增长。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15482" y="3035116"/>
            <a:ext cx="332102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市场规模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E384D5">
                        <a:lumMod val="60000"/>
                        <a:lumOff val="40000"/>
                      </a:srgbClr>
                    </a:gs>
                    <a:gs pos="60000">
                      <a:srgbClr val="E384D5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4724992" y="3668995"/>
            <a:ext cx="2742017" cy="117729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市场竞争将更加激烈，各大科技公司将加大对AI生成PPT技术的研发投入，推动技术的不断进步和应用的普及。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726579" y="3035116"/>
            <a:ext cx="332102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竞争格局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4000" baseline="0" u="none">
                <a:gradFill>
                  <a:gsLst>
                    <a:gs pos="0">
                      <a:srgbClr val="9756BD">
                        <a:lumMod val="60000"/>
                        <a:lumOff val="40000"/>
                      </a:srgbClr>
                    </a:gs>
                    <a:gs pos="61062">
                      <a:srgbClr val="9756BD"/>
                    </a:gs>
                  </a:gsLst>
                  <a:lin ang="2700000"/>
                </a:gradFill>
                <a:effectLst>
                  <a:outerShdw algn="ctr" blurRad="76200" dir="5400000" dist="50800" rotWithShape="false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636089" y="3668995"/>
            <a:ext cx="2742017" cy="815340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AI智能生成PPT领域将吸引大量投资，投资者将关注技术创新和市场应用，推动行业的快速发展。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投资机会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社会影响</a:t>
            </a:r>
          </a:p>
        </p:txBody>
      </p:sp>
      <p:sp>
        <p:nvSpPr>
          <p:cNvPr name="AutoShape 3" id="3"/>
          <p:cNvSpPr/>
          <p:nvPr/>
        </p:nvSpPr>
        <p:spPr>
          <a:xfrm>
            <a:off x="706741" y="2347266"/>
            <a:ext cx="3151114" cy="3151114"/>
          </a:xfrm>
          <a:prstGeom prst="ellipse">
            <a:avLst/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AI智能生成PPT将显著提升工作效率，帮助企业和个人节省时间和精力，专注于更具创造性和战略性的工作。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2020147" y="5308458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4522867" y="2347266"/>
            <a:ext cx="3151114" cy="3151114"/>
          </a:xfrm>
          <a:prstGeom prst="ellipse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AI智能生成PPT将推动创意产业的变革，设计师和内容创作者将更多地与AI合作，提升创作效率和作品质量。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836272" y="5308458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8230165" y="2347266"/>
            <a:ext cx="3151114" cy="3151114"/>
          </a:xfrm>
          <a:prstGeom prst="ellipse">
            <a:avLst/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50000"/>
              </a:lnSpc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AI智能生成PPT将在教育和培训领域发挥重要作用，帮助教师和学生更高效地完成教学和学习任务，提升教育质量。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62623" y="5308458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60400" y="1648172"/>
            <a:ext cx="3146265" cy="540001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660401" y="1748896"/>
            <a:ext cx="3072262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ctr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工作效率提升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522867" y="1648172"/>
            <a:ext cx="3146265" cy="540001"/>
          </a:xfrm>
          <a:prstGeom prst="roundRect">
            <a:avLst>
              <a:gd name="adj" fmla="val 50000"/>
            </a:avLst>
          </a:prstGeom>
          <a:solidFill>
            <a:srgbClr val="B3DBF9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4522868" y="1748896"/>
            <a:ext cx="3072262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ctr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创意产业变革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087207" y="1648172"/>
            <a:ext cx="3146265" cy="540001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8087208" y="1748896"/>
            <a:ext cx="3072262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ctr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教育与培训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802739" y="3328634"/>
            <a:ext cx="4572397" cy="646331"/>
          </a:xfrm>
        </p:spPr>
        <p:txBody>
          <a:bodyPr vert="horz" anchor="t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3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777349" y="1956428"/>
            <a:ext cx="1594026" cy="1446550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8800" spc="-380" baseline="0" u="none">
                <a:ln w="19050"/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name="AutoShape 3" id="3"/>
          <p:cNvSpPr/>
          <p:nvPr/>
        </p:nvSpPr>
        <p:spPr>
          <a:xfrm>
            <a:off x="4859675" y="1857622"/>
            <a:ext cx="410200" cy="2665367"/>
          </a:xfrm>
          <a:prstGeom prst="rect">
            <a:avLst/>
          </a:prstGeom>
          <a:solidFill>
            <a:srgbClr val="B3DBF9"/>
          </a:solidFill>
          <a:ln cap="rnd" cmpd="sng">
            <a:prstDash val="solid"/>
          </a:ln>
          <a:effectLst>
            <a:outerShdw algn="ctr" blurRad="254000" dist="127000" rotWithShape="false">
              <a:schemeClr val="accent5">
                <a:alpha val="32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8639215" y="1863971"/>
            <a:ext cx="410200" cy="2665367"/>
          </a:xfrm>
          <a:prstGeom prst="rect">
            <a:avLst/>
          </a:prstGeom>
          <a:solidFill>
            <a:srgbClr val="CC9FC9"/>
          </a:solidFill>
          <a:ln cap="rnd" cmpd="sng">
            <a:prstDash val="solid"/>
          </a:ln>
          <a:effectLst>
            <a:outerShdw algn="ctr" blurRad="254000" dist="1270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1080135" y="1863089"/>
            <a:ext cx="410200" cy="2665368"/>
          </a:xfrm>
          <a:prstGeom prst="rect">
            <a:avLst/>
          </a:prstGeom>
          <a:solidFill>
            <a:schemeClr val="accent3"/>
          </a:solidFill>
          <a:ln cap="rnd" cmpd="sng">
            <a:prstDash val="solid"/>
          </a:ln>
          <a:effectLst>
            <a:outerShdw algn="ctr" blurRad="254000" dist="127000" rotWithShape="false">
              <a:schemeClr val="accent3">
                <a:alpha val="32000"/>
              </a:scheme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 flipH="true">
            <a:off x="1591474" y="1852322"/>
            <a:ext cx="20555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技术总结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80134" y="2879663"/>
            <a:ext cx="2777741" cy="2563194"/>
          </a:xfrm>
          <a:prstGeom prst="roundRect">
            <a:avLst>
              <a:gd name="adj" fmla="val 0"/>
            </a:avLst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 flipH="true">
            <a:off x="5371015" y="1852322"/>
            <a:ext cx="20555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应用总结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859675" y="2879663"/>
            <a:ext cx="2777741" cy="2563194"/>
          </a:xfrm>
          <a:prstGeom prst="roundRect">
            <a:avLst>
              <a:gd name="adj" fmla="val 0"/>
            </a:avLst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 flipH="true">
            <a:off x="9150557" y="1852322"/>
            <a:ext cx="20555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lt1"/>
                </a:solidFill>
                <a:latin typeface="+mn-ea"/>
                <a:ea typeface="+mn-ea"/>
              </a:rPr>
              <a:t>挑战总结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639217" y="2879663"/>
            <a:ext cx="2777741" cy="2563194"/>
          </a:xfrm>
          <a:prstGeom prst="roundRect">
            <a:avLst>
              <a:gd name="adj" fmla="val 0"/>
            </a:avLst>
          </a:prstGeom>
          <a:solidFill>
            <a:srgbClr val="E4E6EA">
              <a:alpha val="20000"/>
            </a:srgbClr>
          </a:solid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152022" y="3045804"/>
            <a:ext cx="2633963" cy="19928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lt1"/>
                </a:solidFill>
                <a:latin typeface="微软雅黑"/>
                <a:ea typeface="微软雅黑"/>
              </a:rPr>
              <a:t>AI智能生成PPT技术结合了自然语言处理、机器学习和图像处理等多种技术，实现了高效、个性化的PPT生成，显著提升了工作效率。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931563" y="3079641"/>
            <a:ext cx="2633963" cy="19928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lt1"/>
                </a:solidFill>
                <a:latin typeface="微软雅黑"/>
                <a:ea typeface="微软雅黑"/>
              </a:rPr>
              <a:t>AI智能生成PPT在企业、教育和个人领域得到了广泛应用，帮助用户快速生成高质量的演示文稿，满足不同场景下的需求。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709113" y="3113881"/>
            <a:ext cx="2633963" cy="19928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lt1"/>
                </a:solidFill>
                <a:latin typeface="微软雅黑"/>
                <a:ea typeface="微软雅黑"/>
              </a:rPr>
              <a:t>尽管AI智能生成PPT技术取得了显著进展，但仍面临数据质量、模型泛化和用户体验等方面的挑战，需要进一步优化和解决。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展望</a:t>
            </a:r>
          </a:p>
        </p:txBody>
      </p:sp>
      <p:sp>
        <p:nvSpPr>
          <p:cNvPr name="AutoShape 3" id="3"/>
          <p:cNvSpPr/>
          <p:nvPr/>
        </p:nvSpPr>
        <p:spPr>
          <a:xfrm rot="10800000">
            <a:off x="4656440" y="2047310"/>
            <a:ext cx="2748870" cy="2369715"/>
          </a:xfrm>
          <a:prstGeom prst="triangle">
            <a:avLst/>
          </a:prstGeom>
          <a:solidFill>
            <a:schemeClr val="accent2">
              <a:alpha val="50000"/>
              <a:lumMod val="20000"/>
              <a:lumOff val="80000"/>
            </a:scheme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 flipV="true" rot="10800000">
            <a:off x="5343658" y="2047311"/>
            <a:ext cx="1374434" cy="1184857"/>
          </a:xfrm>
          <a:prstGeom prst="triangle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vert="horz" rot="0" anchor="ctr" wrap="non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5123062" y="2213303"/>
            <a:ext cx="4411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495905" y="2213303"/>
            <a:ext cx="4411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/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5797749" y="3465952"/>
            <a:ext cx="44118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/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7405309" y="2406343"/>
            <a:ext cx="374447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市场展望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7405309" y="2914630"/>
            <a:ext cx="3744471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随着市场需求的增加，AI智能生成PPT的市场规模将持续扩大，竞争将更加激烈，推动技术的不断进步和应用的普及。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95731" y="2381732"/>
            <a:ext cx="34642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技术展望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95731" y="2890019"/>
            <a:ext cx="3464278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未来，AI智能生成PPT技术将更加智能化和多样化，采用更强大的模型和更智能的交互方式，提升生成效果和用户体验。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4289248" y="4436111"/>
            <a:ext cx="34642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社会展望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4289248" y="4944398"/>
            <a:ext cx="3464278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ln/>
                <a:solidFill>
                  <a:srgbClr val="FFFFF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AI智能生成PPT将在更多领域发挥重要作用，提升工作效率，推动创意产业变革，并在教育和培训领域带来深远影响。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13"/>
          </p:nvPr>
        </p:nvSpPr>
        <p:spPr>
          <a:xfrm>
            <a:off x="660400" y="2124425"/>
            <a:ext cx="4185920" cy="1643062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GB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Thank you for 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GB" b="true" i="false" sz="3600" baseline="0" u="none">
                <a:solidFill>
                  <a:srgbClr val="FFFFFF"/>
                </a:solidFill>
                <a:latin typeface="Arial"/>
                <a:ea typeface="Arial"/>
              </a:rPr>
              <a:t>watching.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4186507"/>
            <a:ext cx="4789424" cy="424732"/>
          </a:xfrm>
          <a:prstGeom prst="rect">
            <a:avLst/>
          </a:prstGeom>
        </p:spPr>
        <p:txBody>
          <a:bodyPr anchor="t" rtlCol="false" vert="horz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9756BD"/>
      </a:accent1>
      <a:accent2>
        <a:srgbClr val="E384D5"/>
      </a:accent2>
      <a:accent3>
        <a:srgbClr val="CC9FC9"/>
      </a:accent3>
      <a:accent4>
        <a:srgbClr val="949494"/>
      </a:accent4>
      <a:accent5>
        <a:srgbClr val="C7C7C7"/>
      </a:accent5>
      <a:accent6>
        <a:srgbClr val="E6E6E6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