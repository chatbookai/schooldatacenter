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3.png" Type="http://schemas.openxmlformats.org/officeDocument/2006/relationships/image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210833" cy="6858000"/>
            <a:chOff x="0" y="0"/>
            <a:chExt cx="12210833" cy="6858000"/>
          </a:xfrm>
        </p:grpSpPr>
        <p:pic>
          <p:nvPicPr>
            <p:cNvPr name="image1.jpeg" id="3"/>
            <p:cNvPicPr>
              <a:picLocks noChangeAspect="true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name="image2.png" id="4"/>
            <p:cNvPicPr>
              <a:picLocks noChangeAspect="true"/>
            </p:cNvPicPr>
            <p:nvPr/>
          </p:nvPicPr>
          <p:blipFill>
            <a:blip r:embed="rId3"/>
            <a:stretch>
              <a:fillRect t="0" l="0" b="0" r="0"/>
            </a:stretch>
          </p:blipFill>
          <p:spPr>
            <a:xfrm>
              <a:off x="5524500" y="1600201"/>
              <a:ext cx="6686333" cy="3913264"/>
            </a:xfrm>
            <a:prstGeom prst="rect">
              <a:avLst/>
            </a:prstGeom>
            <a:effectLst>
              <a:outerShdw algn="tl" blurRad="254000" dir="4200000" dist="241300" rotWithShape="false">
                <a:schemeClr val="accent2">
                  <a:alpha val="32000"/>
                </a:schemeClr>
              </a:outerShdw>
            </a:effectLst>
          </p:spPr>
        </p:pic>
        <p:pic>
          <p:nvPicPr>
            <p:cNvPr name="image3.png" id="5"/>
            <p:cNvPicPr>
              <a:picLocks noChangeAspect="true"/>
            </p:cNvPicPr>
            <p:nvPr/>
          </p:nvPicPr>
          <p:blipFill>
            <a:blip r:embed="rId4"/>
            <a:stretch>
              <a:fillRect t="0" l="0" b="0" r="0"/>
            </a:stretch>
          </p:blipFill>
          <p:spPr>
            <a:xfrm>
              <a:off x="0" y="1270000"/>
              <a:ext cx="1512449" cy="4724400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>
            <p:ph type="ctrTitle"/>
          </p:nvPr>
        </p:nvSpPr>
        <p:spPr>
          <a:xfrm>
            <a:off x="977900" y="1130300"/>
            <a:ext cx="6413500" cy="2120900"/>
          </a:xfrm>
          <a:prstGeom prst="rect">
            <a:avLst/>
          </a:prstGeom>
        </p:spPr>
        <p:txBody>
          <a:bodyPr vert="horz" anchor="b" wrap="square" tIns="45720" lIns="91440" bIns="45720" rIns="91440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4800" baseline="0" u="none">
                <a:gradFill rotWithShape="true" flip="none"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  <a:tileRect/>
                </a:gra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7" id="7"/>
          <p:cNvSpPr/>
          <p:nvPr>
            <p:ph type="subTitle" sz="quarter" idx="1"/>
          </p:nvPr>
        </p:nvSpPr>
        <p:spPr>
          <a:xfrm>
            <a:off x="977900" y="3429000"/>
            <a:ext cx="3568700" cy="56783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/>
          </a:gradFill>
        </p:spPr>
        <p:txBody>
          <a:bodyPr vert="horz" anchor="ctr" wrap="square" tIns="45720" lIns="91440" bIns="45720" rIns="91440">
            <a:normAutofit/>
          </a:bodyPr>
          <a:p>
            <a:pPr algn="ctr" indent="0" marL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chemeClr val="accent1"/>
                </a:solidFill>
                <a:latin typeface="Arial"/>
                <a:ea typeface="Arial"/>
              </a:rPr>
              <a:t>Click to add subtitle</a:t>
            </a:r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  <p:transition spd="fast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accent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type="obj"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85750" marL="28575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  <a:p>
            <a:pPr algn="l" indent="-285750" lvl="1" marL="74295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Second level</a:t>
            </a:r>
          </a:p>
          <a:p>
            <a:pPr algn="l" indent="-285750" lvl="2" marL="120015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chemeClr val="tx1"/>
                </a:solidFill>
                <a:latin typeface="Arial"/>
                <a:ea typeface="Arial"/>
              </a:rPr>
              <a:t>Third level</a:t>
            </a:r>
          </a:p>
          <a:p>
            <a:pPr algn="l" indent="-285750" lvl="3" marL="165735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Fourth level</a:t>
            </a:r>
          </a:p>
          <a:p>
            <a:pPr algn="l" indent="-285750" lvl="4" marL="211455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Fifth level</a:t>
            </a:r>
          </a:p>
        </p:txBody>
      </p:sp>
      <p:pic>
        <p:nvPicPr>
          <p:cNvPr name="image3.png" id="4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 flipH="true">
            <a:off x="9996509" y="0"/>
            <a:ext cx="2195491" cy="6858000"/>
          </a:xfrm>
          <a:prstGeom prst="rect">
            <a:avLst/>
          </a:prstGeom>
        </p:spPr>
      </p:pic>
    </p:spTree>
  </p:cSld>
  <p:clrMapOvr>
    <a:masterClrMapping/>
  </p:clrMapOvr>
  <p:transition spd="fast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0400" y="1500188"/>
            <a:ext cx="2836561" cy="914400"/>
          </a:xfrm>
          <a:prstGeom prst="rect">
            <a:avLst/>
          </a:prstGeom>
        </p:spPr>
        <p:txBody>
          <a:bodyPr vert="horz" anchor="t" wrap="none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tx1"/>
                </a:solidFill>
                <a:latin typeface="Arial"/>
                <a:ea typeface="Arial"/>
              </a:rPr>
              <a:t>Agenda</a:t>
            </a:r>
          </a:p>
        </p:txBody>
      </p:sp>
      <p:sp>
        <p:nvSpPr>
          <p:cNvPr name="AutoShape 3" id="3"/>
          <p:cNvSpPr/>
          <p:nvPr>
            <p:ph type="obj" sz="quarter" idx="1"/>
          </p:nvPr>
        </p:nvSpPr>
        <p:spPr>
          <a:xfrm>
            <a:off x="3745077" y="1500188"/>
            <a:ext cx="7773823" cy="4633913"/>
          </a:xfrm>
          <a:prstGeom prst="rect">
            <a:avLst/>
          </a:prstGeom>
        </p:spPr>
        <p:txBody>
          <a:bodyPr vert="horz" anchor="t" wrap="square" tIns="45720" lIns="91440" bIns="45720" rIns="91440">
            <a:normAutofit/>
          </a:bodyPr>
          <a:p>
            <a:pPr algn="l" indent="-457200" marL="457200">
              <a:lnSpc>
                <a:spcPct val="130000"/>
              </a:lnSpc>
              <a:spcBef>
                <a:spcPts val="1000"/>
              </a:spcBef>
              <a:buNone/>
            </a:pPr>
            <a:r>
              <a:rPr lang="en-US" b="false" i="false" sz="24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chemeClr val="tx1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Fifth level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</p:grpSp>
    </p:spTree>
  </p:cSld>
  <p:clrMapOvr>
    <a:masterClrMapping/>
  </p:clrMapOvr>
  <p:transition spd="fast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flipH="true">
            <a:off x="-18833" y="0"/>
            <a:ext cx="12210833" cy="6858000"/>
            <a:chOff x="0" y="0"/>
            <a:chExt cx="12210833" cy="6858000"/>
          </a:xfrm>
        </p:grpSpPr>
        <p:pic>
          <p:nvPicPr>
            <p:cNvPr name="image1.jpeg" id="3"/>
            <p:cNvPicPr>
              <a:picLocks noChangeAspect="true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name="image2.png" id="4"/>
            <p:cNvPicPr>
              <a:picLocks noChangeAspect="true"/>
            </p:cNvPicPr>
            <p:nvPr/>
          </p:nvPicPr>
          <p:blipFill>
            <a:blip r:embed="rId3"/>
            <a:stretch>
              <a:fillRect t="0" l="0" b="0" r="0"/>
            </a:stretch>
          </p:blipFill>
          <p:spPr>
            <a:xfrm>
              <a:off x="5524500" y="1600201"/>
              <a:ext cx="6686333" cy="3913264"/>
            </a:xfrm>
            <a:prstGeom prst="rect">
              <a:avLst/>
            </a:prstGeom>
            <a:effectLst>
              <a:outerShdw algn="tl" blurRad="254000" dir="4200000" dist="241300" rotWithShape="false">
                <a:schemeClr val="accent2">
                  <a:alpha val="32000"/>
                </a:schemeClr>
              </a:outerShdw>
            </a:effectLst>
          </p:spPr>
        </p:pic>
        <p:pic>
          <p:nvPicPr>
            <p:cNvPr name="image3.png" id="5"/>
            <p:cNvPicPr>
              <a:picLocks noChangeAspect="true"/>
            </p:cNvPicPr>
            <p:nvPr/>
          </p:nvPicPr>
          <p:blipFill>
            <a:blip r:embed="rId4"/>
            <a:stretch>
              <a:fillRect t="0" l="0" b="0" r="0"/>
            </a:stretch>
          </p:blipFill>
          <p:spPr>
            <a:xfrm>
              <a:off x="0" y="1270000"/>
              <a:ext cx="1512449" cy="4724400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>
            <p:ph type="title"/>
          </p:nvPr>
        </p:nvSpPr>
        <p:spPr>
          <a:xfrm>
            <a:off x="6096000" y="1742008"/>
            <a:ext cx="5197475" cy="1297489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3600" baseline="0" u="none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7" id="7"/>
          <p:cNvSpPr/>
          <p:nvPr>
            <p:ph type="body" sz="quarter" idx="1"/>
          </p:nvPr>
        </p:nvSpPr>
        <p:spPr>
          <a:xfrm>
            <a:off x="6096000" y="3099657"/>
            <a:ext cx="5197475" cy="2158142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r" indent="0" marL="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  <p:transition spd="fast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masterClrMapping/>
  </p:clrMapOvr>
  <p:transition spd="fast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0" y="0"/>
            <a:ext cx="12210833" cy="6858000"/>
            <a:chOff x="0" y="0"/>
            <a:chExt cx="12210833" cy="6858000"/>
          </a:xfrm>
        </p:grpSpPr>
        <p:pic>
          <p:nvPicPr>
            <p:cNvPr name="image1.jpeg" id="3"/>
            <p:cNvPicPr>
              <a:picLocks noChangeAspect="true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name="image2.png" id="4"/>
            <p:cNvPicPr>
              <a:picLocks noChangeAspect="true"/>
            </p:cNvPicPr>
            <p:nvPr/>
          </p:nvPicPr>
          <p:blipFill>
            <a:blip r:embed="rId3"/>
            <a:stretch>
              <a:fillRect t="0" l="0" b="0" r="0"/>
            </a:stretch>
          </p:blipFill>
          <p:spPr>
            <a:xfrm>
              <a:off x="5524500" y="1600201"/>
              <a:ext cx="6686333" cy="3913264"/>
            </a:xfrm>
            <a:prstGeom prst="rect">
              <a:avLst/>
            </a:prstGeom>
            <a:effectLst>
              <a:outerShdw algn="tl" blurRad="254000" dir="4200000" dist="241300" rotWithShape="false">
                <a:schemeClr val="accent2">
                  <a:alpha val="32000"/>
                </a:schemeClr>
              </a:outerShdw>
            </a:effectLst>
          </p:spPr>
        </p:pic>
        <p:pic>
          <p:nvPicPr>
            <p:cNvPr name="image3.png" id="5"/>
            <p:cNvPicPr>
              <a:picLocks noChangeAspect="true"/>
            </p:cNvPicPr>
            <p:nvPr/>
          </p:nvPicPr>
          <p:blipFill>
            <a:blip r:embed="rId4"/>
            <a:stretch>
              <a:fillRect t="0" l="0" b="0" r="0"/>
            </a:stretch>
          </p:blipFill>
          <p:spPr>
            <a:xfrm>
              <a:off x="0" y="1270000"/>
              <a:ext cx="1512449" cy="4724400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>
            <p:ph type="title"/>
          </p:nvPr>
        </p:nvSpPr>
        <p:spPr>
          <a:xfrm>
            <a:off x="889000" y="1449553"/>
            <a:ext cx="6210300" cy="2115146"/>
          </a:xfrm>
          <a:prstGeom prst="rect">
            <a:avLst/>
          </a:prstGeom>
        </p:spPr>
        <p:txBody>
          <a:bodyPr vert="horz" anchor="b" wrap="square" tIns="45720" lIns="91440" bIns="45720" rIns="91440">
            <a:noAutofit/>
          </a:bodyPr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6000" baseline="0" u="none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Click to add title</a:t>
            </a:r>
          </a:p>
        </p:txBody>
      </p:sp>
    </p:spTree>
  </p:cSld>
  <p:clrMapOvr>
    <a:overrideClrMapping accent6="accent6" accent4="accent4" accent5="accent5" accent2="accent2" accent3="accent3" accent1="accent1" bg2="lt2" tx1="dk1" bg1="lt1" hlink="hlink" tx2="dk2" folHlink="folHlink"/>
  </p:clrMapOvr>
  <p:transition spd="fast"/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Relationship Id="rId3" Target="../media/image1.jpeg" Type="http://schemas.openxmlformats.org/officeDocument/2006/relationships/image"/><Relationship Id="rId4" Target="../slideLayouts/slideLayout2.xml" Type="http://schemas.openxmlformats.org/officeDocument/2006/relationships/slideLayout"/><Relationship Id="rId5" Target="../slideLayouts/slideLayout3.xml" Type="http://schemas.openxmlformats.org/officeDocument/2006/relationships/slideLayout"/><Relationship Id="rId6" Target="../slideLayouts/slideLayout4.xml" Type="http://schemas.openxmlformats.org/officeDocument/2006/relationships/slideLayout"/><Relationship Id="rId7" Target="../slideLayouts/slideLayout5.xml" Type="http://schemas.openxmlformats.org/officeDocument/2006/relationships/slideLayout"/><Relationship Id="rId8" Target="../slideLayouts/slideLayout6.xml" Type="http://schemas.openxmlformats.org/officeDocument/2006/relationships/slideLayout"/><Relationship Id="rId9" Target="../slideLayouts/slideLayout7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eg" id="2"/>
          <p:cNvPicPr>
            <a:picLocks noChangeAspect="true"/>
          </p:cNvPicPr>
          <p:nvPr/>
        </p:nvPicPr>
        <p:blipFill>
          <a:blip r:embed="rId3"/>
          <a:srcRect/>
          <a:stretch>
            <a:fillRect/>
          </a:stretch>
        </p:blipFill>
        <p:spPr>
          <a:xfrm flipH="true"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true" flip="none">
            <a:gsLst>
              <a:gs pos="48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18900000"/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" id="4"/>
          <p:cNvSpPr/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100000"/>
              </a:lnSpc>
              <a:spcBef>
                <a:spcPct val="0"/>
              </a:spcBef>
              <a:buNone/>
            </a:pPr>
            <a:r>
              <a:rPr lang="en-US" b="true" i="false" sz="2800" baseline="0" u="none">
                <a:solidFill>
                  <a:schemeClr val="tx1"/>
                </a:solidFill>
                <a:latin typeface="Arial"/>
                <a:ea typeface="Arial"/>
              </a:rPr>
              <a:t>Click to add title</a:t>
            </a:r>
          </a:p>
        </p:txBody>
      </p:sp>
      <p:sp>
        <p:nvSpPr>
          <p:cNvPr name="AutoShape 5" id="5"/>
          <p:cNvSpPr/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600" marL="228600">
              <a:lnSpc>
                <a:spcPct val="120000"/>
              </a:lnSpc>
              <a:spcBef>
                <a:spcPts val="1000"/>
              </a:spcBef>
              <a:buNone/>
            </a:pPr>
            <a:r>
              <a:rPr lang="en-US" b="false" i="false" sz="1800" baseline="0" u="none">
                <a:solidFill>
                  <a:schemeClr val="tx1"/>
                </a:solidFill>
                <a:latin typeface="Arial"/>
                <a:ea typeface="Arial"/>
              </a:rPr>
              <a:t>Click to add text</a:t>
            </a:r>
          </a:p>
          <a:p>
            <a:pPr algn="l" indent="-228600" lvl="1" marL="6858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600" baseline="0" u="none">
                <a:solidFill>
                  <a:schemeClr val="tx1"/>
                </a:solidFill>
                <a:latin typeface="Arial"/>
                <a:ea typeface="Arial"/>
              </a:rPr>
              <a:t>Second level</a:t>
            </a:r>
          </a:p>
          <a:p>
            <a:pPr algn="l" indent="-228600" lvl="2" marL="11430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400" baseline="0" u="none">
                <a:solidFill>
                  <a:schemeClr val="tx1"/>
                </a:solidFill>
                <a:latin typeface="Arial"/>
                <a:ea typeface="Arial"/>
              </a:rPr>
              <a:t>Third level</a:t>
            </a:r>
          </a:p>
          <a:p>
            <a:pPr algn="l" indent="-228600" lvl="3" marL="16002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Fourth level</a:t>
            </a:r>
          </a:p>
          <a:p>
            <a:pPr algn="l" indent="-228600" lvl="4" marL="2057400">
              <a:lnSpc>
                <a:spcPct val="120000"/>
              </a:lnSpc>
              <a:spcBef>
                <a:spcPts val="500"/>
              </a:spcBef>
              <a:buNone/>
            </a:pPr>
            <a:r>
              <a:rPr lang="en-US" b="false" i="false" sz="1200" baseline="0" u="none">
                <a:solidFill>
                  <a:schemeClr val="tx1"/>
                </a:solidFill>
                <a:latin typeface="Arial"/>
                <a:ea typeface="Arial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ransition spd="fast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ctrTitle"/>
          </p:nvPr>
        </p:nvSpPr>
        <p:spPr>
          <a:xfrm>
            <a:off x="977900" y="2190570"/>
            <a:ext cx="7366001" cy="830997"/>
          </a:xfrm>
        </p:spPr>
        <p:txBody>
          <a:bodyPr anchor="b" rtlCol="false" vert="horz" wrap="square" tIns="45720" lIns="91440" bIns="45720" rIns="9144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4800" baseline="0" u="none" altLang="en-US">
                <a:gradFill rotWithShape="true" flip="none"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AI智能生成PPT演示文稿</a:t>
            </a:r>
            <a:endParaRPr lang="en-US" sz="1100"/>
          </a:p>
        </p:txBody>
      </p:sp>
      <p:sp>
        <p:nvSpPr>
          <p:cNvPr name="TextBox 3" id="3"/>
          <p:cNvSpPr txBox="true"/>
          <p:nvPr>
            <p:ph type="subTitle" sz="quarter" idx="1"/>
          </p:nvPr>
        </p:nvSpPr>
        <p:spPr>
          <a:xfrm>
            <a:off x="977900" y="3429000"/>
            <a:ext cx="3568700" cy="567835"/>
          </a:xfr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8900000"/>
          </a:gradFill>
        </p:spPr>
        <p:txBody>
          <a:bodyPr anchor="ctr" rtlCol="false" vert="horz" tIns="45720" lIns="91440" bIns="45720" rIns="91440">
            <a:normAutofit/>
          </a:bodyPr>
          <a:lstStyle/>
          <a:p>
            <a:pPr algn="ctr" indent="0" marL="0">
              <a:lnSpc>
                <a:spcPct val="120000"/>
              </a:lnSpc>
              <a:spcBef>
                <a:spcPts val="1000"/>
              </a:spcBef>
              <a:buNone/>
              <a:defRPr/>
            </a:pPr>
            <a:r>
              <a:rPr lang="zh-CN" b="false" i="false" sz="18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954041" y="1614912"/>
            <a:ext cx="656567" cy="400110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ln/>
                <a:solidFill>
                  <a:schemeClr val="accent1"/>
                </a:solidFill>
                <a:effectLst/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954041" y="2399500"/>
            <a:ext cx="534078" cy="400110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ln/>
                <a:solidFill>
                  <a:schemeClr val="tx1"/>
                </a:solidFill>
                <a:effectLst/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954041" y="3201082"/>
            <a:ext cx="534078" cy="400110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ln/>
                <a:solidFill>
                  <a:schemeClr val="accent1"/>
                </a:solidFill>
                <a:effectLst/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954041" y="3985670"/>
            <a:ext cx="534078" cy="400110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ln/>
                <a:solidFill>
                  <a:schemeClr val="tx1"/>
                </a:solidFill>
                <a:effectLst/>
                <a:latin typeface="Arial"/>
                <a:ea typeface="Arial"/>
              </a:rPr>
              <a:t>04</a:t>
            </a:r>
            <a:endParaRPr lang="en-US" sz="1100"/>
          </a:p>
        </p:txBody>
      </p:sp>
      <p:grpSp>
        <p:nvGrpSpPr>
          <p:cNvPr name="Group 6" id="6"/>
          <p:cNvGrpSpPr/>
          <p:nvPr/>
        </p:nvGrpSpPr>
        <p:grpSpPr>
          <a:xfrm>
            <a:off x="7809090" y="2724036"/>
            <a:ext cx="2894791" cy="1409928"/>
            <a:chOff x="7809090" y="1196043"/>
            <a:chExt cx="2894791" cy="1409928"/>
          </a:xfrm>
        </p:grpSpPr>
        <p:sp>
          <p:nvSpPr>
            <p:cNvPr name="AutoShape 7" id="7"/>
            <p:cNvSpPr/>
            <p:nvPr/>
          </p:nvSpPr>
          <p:spPr>
            <a:xfrm flipH="true">
              <a:off x="8306478" y="1196043"/>
              <a:ext cx="2397403" cy="1299001"/>
            </a:xfrm>
            <a:prstGeom prst="rect">
              <a:avLst/>
            </a:prstGeom>
            <a:noFill/>
            <a:ln>
              <a:noFill/>
            </a:ln>
          </p:spPr>
          <p:txBody>
            <a:bodyPr vert="horz" anchor="ctr" wrap="square" tIns="45720" lIns="91440" bIns="45720" rIns="91440">
              <a:normAutofit/>
            </a:bodyPr>
            <a:p>
              <a:pPr algn="l" marL="0"/>
              <a:r>
                <a:rPr lang="zh-CN" b="true" i="false" sz="6600" spc="300" baseline="0" u="none" altLang="en-US">
                  <a:solidFill>
                    <a:schemeClr val="accent1"/>
                  </a:solidFill>
                  <a:latin typeface="微软雅黑"/>
                  <a:ea typeface="微软雅黑"/>
                </a:rPr>
                <a:t>目录</a:t>
              </a:r>
            </a:p>
          </p:txBody>
        </p:sp>
        <p:sp>
          <p:nvSpPr>
            <p:cNvPr name="AutoShape 8" id="8"/>
            <p:cNvSpPr/>
            <p:nvPr/>
          </p:nvSpPr>
          <p:spPr>
            <a:xfrm flipH="true">
              <a:off x="7809090" y="2560252"/>
              <a:ext cx="2724053" cy="4571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anchor="ctr" tIns="45720" lIns="91440" bIns="45720" rIns="91440"/>
            <a:p>
              <a:pPr algn="ctr" marL="0"/>
            </a:p>
          </p:txBody>
        </p:sp>
      </p:grpSp>
      <p:sp>
        <p:nvSpPr>
          <p:cNvPr name="TextBox 9" id="9"/>
          <p:cNvSpPr txBox="true"/>
          <p:nvPr/>
        </p:nvSpPr>
        <p:spPr>
          <a:xfrm>
            <a:off x="954041" y="4770258"/>
            <a:ext cx="534078" cy="400110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ln/>
                <a:solidFill>
                  <a:schemeClr val="accent1"/>
                </a:solidFill>
                <a:effectLst/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954041" y="5554846"/>
            <a:ext cx="534078" cy="400110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true" i="false" sz="2000" baseline="0" u="none">
                <a:ln/>
                <a:solidFill>
                  <a:schemeClr val="tx1"/>
                </a:solidFill>
                <a:effectLst/>
                <a:latin typeface="Arial"/>
                <a:ea typeface="Arial"/>
              </a:rPr>
              <a:t>06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488119" y="1597918"/>
            <a:ext cx="6095342" cy="400110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000" baseline="0" u="none" altLang="en-US">
                <a:ln/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引言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488119" y="2382506"/>
            <a:ext cx="6095342" cy="400110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0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技术基础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488119" y="3189537"/>
            <a:ext cx="6095342" cy="400110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000" baseline="0" u="none" altLang="en-US">
                <a:ln/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功能模块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488119" y="3974125"/>
            <a:ext cx="6095342" cy="400110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0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应用案例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488119" y="4747168"/>
            <a:ext cx="6095342" cy="400110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000" baseline="0" u="none" altLang="en-US">
                <a:ln/>
                <a:solidFill>
                  <a:schemeClr val="accent1"/>
                </a:solidFill>
                <a:effectLst/>
                <a:latin typeface="微软雅黑"/>
                <a:ea typeface="微软雅黑"/>
              </a:rPr>
              <a:t>挑战与解决方案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488119" y="5531756"/>
            <a:ext cx="6095342" cy="400110"/>
          </a:xfrm>
          <a:prstGeom prst="rect">
            <a:avLst/>
          </a:prstGeom>
          <a:noFill/>
          <a:effectLst/>
        </p:spPr>
        <p:txBody>
          <a:bodyPr anchor="ctr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true" i="false" sz="20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未来展望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299200" y="3157492"/>
            <a:ext cx="5197475" cy="646331"/>
          </a:xfrm>
        </p:spPr>
        <p:txBody>
          <a:bodyPr anchor="t" rtlCol="false" vert="horz" tIns="45720" lIns="91440" bIns="45720" rIns="9144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36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引言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299199" y="1797560"/>
            <a:ext cx="5197475" cy="1015663"/>
          </a:xfrm>
          <a:prstGeom prst="rect">
            <a:avLst/>
          </a:prstGeom>
        </p:spPr>
        <p:txBody>
          <a:bodyPr anchor="b" rtlCol="false" vert="horz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60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AI智能生成PPT概述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666750" y="1349374"/>
            <a:ext cx="10858500" cy="4651375"/>
            <a:chOff x="660400" y="1552574"/>
            <a:chExt cx="10858500" cy="4651375"/>
          </a:xfrm>
        </p:grpSpPr>
        <p:grpSp>
          <p:nvGrpSpPr>
            <p:cNvPr name="Group 4" id="4"/>
            <p:cNvGrpSpPr/>
            <p:nvPr/>
          </p:nvGrpSpPr>
          <p:grpSpPr>
            <a:xfrm>
              <a:off x="660400" y="1552574"/>
              <a:ext cx="3263629" cy="4651375"/>
              <a:chOff x="1532809" y="1336524"/>
              <a:chExt cx="2563330" cy="4870719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1532809" y="1336524"/>
                <a:ext cx="2563330" cy="4870719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cap="rnd">
                <a:noFill/>
                <a:prstDash val="solid"/>
              </a:ln>
              <a:effectLst/>
            </p:spPr>
            <p:txBody>
              <a:bodyPr vert="horz" rot="0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TextBox 6" id="6"/>
              <p:cNvSpPr txBox="true"/>
              <p:nvPr/>
            </p:nvSpPr>
            <p:spPr>
              <a:xfrm>
                <a:off x="1792446" y="1540513"/>
                <a:ext cx="593258" cy="741268"/>
              </a:xfrm>
              <a:prstGeom prst="rect">
                <a:avLst/>
              </a:prstGeom>
              <a:noFill/>
            </p:spPr>
            <p:txBody>
              <a:bodyPr anchor="t" rtlCol="false" vert="horz" wrap="non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en-US" b="true" i="false" sz="4000" baseline="0" u="none">
                    <a:solidFill>
                      <a:schemeClr val="tx2"/>
                    </a:solidFill>
                    <a:latin typeface="Arial"/>
                    <a:ea typeface="Arial"/>
                  </a:rPr>
                  <a:t>01</a:t>
                </a:r>
                <a:endParaRPr lang="en-US" sz="1100"/>
              </a:p>
            </p:txBody>
          </p:sp>
          <p:cxnSp>
            <p:nvCxnSpPr>
              <p:cNvPr name="Connector 7" id="7"/>
              <p:cNvCxnSpPr/>
              <p:nvPr/>
            </p:nvCxnSpPr>
            <p:spPr>
              <a:xfrm rot="5400000">
                <a:off x="2089075" y="2123261"/>
                <a:ext cx="0" cy="469561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bevel/>
              </a:ln>
            </p:spPr>
          </p:cxnSp>
          <p:sp>
            <p:nvSpPr>
              <p:cNvPr name="TextBox 8" id="8"/>
              <p:cNvSpPr txBox="true"/>
              <p:nvPr/>
            </p:nvSpPr>
            <p:spPr>
              <a:xfrm>
                <a:off x="1711408" y="2467685"/>
                <a:ext cx="2206133" cy="354519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定义与背景</a:t>
                </a:r>
                <a:endParaRPr lang="en-US" sz="1100"/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1711408" y="3062847"/>
                <a:ext cx="2206133" cy="688088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2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AI智能生成PPT是指利用人工智能技术，自动生成演示文稿的工具，结合自然语言处理和计算机视觉技术，提升PPT制作效率。</a:t>
                </a:r>
                <a:endParaRPr lang="en-US" sz="1100"/>
              </a:p>
            </p:txBody>
          </p:sp>
          <p:sp>
            <p:nvSpPr>
              <p:cNvPr name="AutoShape 10" id="10"/>
              <p:cNvSpPr/>
              <p:nvPr/>
            </p:nvSpPr>
            <p:spPr>
              <a:xfrm>
                <a:off x="1781175" y="4754230"/>
                <a:ext cx="2073275" cy="1313145"/>
              </a:xfrm>
              <a:prstGeom prst="roundRect">
                <a:avLst/>
              </a:prstGeom>
              <a:blipFill>
                <a:blip r:embed="rId2"/>
                <a:srcRect/>
                <a:stretch>
                  <a:fillRect t="-20370" l="0" b="-19963" r="0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>
              <a:off x="4457835" y="1552574"/>
              <a:ext cx="3263629" cy="4651375"/>
              <a:chOff x="1532809" y="1336524"/>
              <a:chExt cx="2563330" cy="4870719"/>
            </a:xfrm>
          </p:grpSpPr>
          <p:sp>
            <p:nvSpPr>
              <p:cNvPr name="AutoShape 12" id="12"/>
              <p:cNvSpPr/>
              <p:nvPr/>
            </p:nvSpPr>
            <p:spPr>
              <a:xfrm>
                <a:off x="1532809" y="1336524"/>
                <a:ext cx="2563330" cy="4870719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cap="rnd">
                <a:noFill/>
                <a:prstDash val="solid"/>
              </a:ln>
              <a:effectLst/>
            </p:spPr>
            <p:txBody>
              <a:bodyPr vert="horz" rot="0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1792446" y="1540513"/>
                <a:ext cx="593258" cy="741268"/>
              </a:xfrm>
              <a:prstGeom prst="rect">
                <a:avLst/>
              </a:prstGeom>
              <a:noFill/>
            </p:spPr>
            <p:txBody>
              <a:bodyPr anchor="t" rtlCol="false" vert="horz" wrap="non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en-US" b="true" i="false" sz="4000" baseline="0" u="none">
                    <a:solidFill>
                      <a:schemeClr val="tx2"/>
                    </a:solidFill>
                    <a:latin typeface="Arial"/>
                    <a:ea typeface="Arial"/>
                  </a:rPr>
                  <a:t>02</a:t>
                </a:r>
                <a:endParaRPr lang="en-US" sz="1100"/>
              </a:p>
            </p:txBody>
          </p:sp>
          <p:cxnSp>
            <p:nvCxnSpPr>
              <p:cNvPr name="Connector 14" id="14"/>
              <p:cNvCxnSpPr/>
              <p:nvPr/>
            </p:nvCxnSpPr>
            <p:spPr>
              <a:xfrm rot="5400000">
                <a:off x="2089075" y="2123261"/>
                <a:ext cx="0" cy="469561"/>
              </a:xfrm>
              <a:prstGeom prst="line">
                <a:avLst/>
              </a:prstGeom>
              <a:noFill/>
              <a:ln w="25400" cap="flat">
                <a:solidFill>
                  <a:schemeClr val="accent3"/>
                </a:solidFill>
                <a:prstDash val="solid"/>
                <a:bevel/>
              </a:ln>
            </p:spPr>
          </p:cxnSp>
          <p:sp>
            <p:nvSpPr>
              <p:cNvPr name="TextBox 15" id="15"/>
              <p:cNvSpPr txBox="true"/>
              <p:nvPr/>
            </p:nvSpPr>
            <p:spPr>
              <a:xfrm>
                <a:off x="1711408" y="2467685"/>
                <a:ext cx="2206133" cy="354519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应用场景</a:t>
                </a:r>
                <a:endParaRPr lang="en-US" sz="1100"/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1711408" y="3062847"/>
                <a:ext cx="2206133" cy="688088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2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AI智能生成PPT广泛应用于企业汇报、教育培训、市场营销等领域，帮助用户快速生成高质量的演示文稿。</a:t>
                </a:r>
                <a:endParaRPr lang="en-US" sz="1100"/>
              </a:p>
            </p:txBody>
          </p:sp>
          <p:sp>
            <p:nvSpPr>
              <p:cNvPr name="AutoShape 17" id="17"/>
              <p:cNvSpPr/>
              <p:nvPr/>
            </p:nvSpPr>
            <p:spPr>
              <a:xfrm>
                <a:off x="1781175" y="4754230"/>
                <a:ext cx="2073275" cy="1313145"/>
              </a:xfrm>
              <a:prstGeom prst="roundRect">
                <a:avLst/>
              </a:prstGeom>
              <a:blipFill>
                <a:blip r:embed="rId3"/>
                <a:srcRect/>
                <a:stretch>
                  <a:fillRect t="-10246" l="0" b="-10040" r="0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>
              <a:off x="8255271" y="1552574"/>
              <a:ext cx="3263629" cy="4651375"/>
              <a:chOff x="1532809" y="1336524"/>
              <a:chExt cx="2563330" cy="4870719"/>
            </a:xfrm>
          </p:grpSpPr>
          <p:sp>
            <p:nvSpPr>
              <p:cNvPr name="AutoShape 19" id="19"/>
              <p:cNvSpPr/>
              <p:nvPr/>
            </p:nvSpPr>
            <p:spPr>
              <a:xfrm>
                <a:off x="1532809" y="1336524"/>
                <a:ext cx="2563330" cy="4870719"/>
              </a:xfrm>
              <a:prstGeom prst="roundRect">
                <a:avLst/>
              </a:prstGeom>
              <a:solidFill>
                <a:schemeClr val="tx2">
                  <a:alpha val="15000"/>
                </a:schemeClr>
              </a:solidFill>
              <a:ln cap="rnd">
                <a:noFill/>
                <a:prstDash val="solid"/>
              </a:ln>
              <a:effectLst/>
            </p:spPr>
            <p:txBody>
              <a:bodyPr vert="horz" rot="0" anchor="ctr" wrap="square" tIns="45720" lIns="91440" bIns="45720" rIns="91440">
                <a:normAutofit/>
              </a:bodyPr>
              <a:p>
                <a:pPr algn="ctr" marL="0"/>
              </a:p>
            </p:txBody>
          </p:sp>
          <p:sp>
            <p:nvSpPr>
              <p:cNvPr name="TextBox 20" id="20"/>
              <p:cNvSpPr txBox="true"/>
              <p:nvPr/>
            </p:nvSpPr>
            <p:spPr>
              <a:xfrm>
                <a:off x="1792446" y="1540513"/>
                <a:ext cx="593258" cy="741268"/>
              </a:xfrm>
              <a:prstGeom prst="rect">
                <a:avLst/>
              </a:prstGeom>
              <a:noFill/>
            </p:spPr>
            <p:txBody>
              <a:bodyPr anchor="t" rtlCol="false" vert="horz" wrap="none" tIns="45720" lIns="91440" bIns="45720" rIns="91440">
                <a:spAutoFit/>
              </a:bodyPr>
              <a:lstStyle/>
              <a:p>
                <a:pPr algn="ctr" marL="0">
                  <a:defRPr/>
                </a:pPr>
                <a:r>
                  <a:rPr lang="en-US" b="true" i="false" sz="4000" baseline="0" u="none">
                    <a:solidFill>
                      <a:schemeClr val="tx2"/>
                    </a:solidFill>
                    <a:latin typeface="Arial"/>
                    <a:ea typeface="Arial"/>
                  </a:rPr>
                  <a:t>03</a:t>
                </a:r>
                <a:endParaRPr lang="en-US" sz="1100"/>
              </a:p>
            </p:txBody>
          </p:sp>
          <p:cxnSp>
            <p:nvCxnSpPr>
              <p:cNvPr name="Connector 21" id="21"/>
              <p:cNvCxnSpPr/>
              <p:nvPr/>
            </p:nvCxnSpPr>
            <p:spPr>
              <a:xfrm rot="5400000">
                <a:off x="2089075" y="2123261"/>
                <a:ext cx="0" cy="469561"/>
              </a:xfrm>
              <a:prstGeom prst="line">
                <a:avLst/>
              </a:prstGeom>
              <a:noFill/>
              <a:ln w="25400" cap="flat">
                <a:solidFill>
                  <a:schemeClr val="accent2"/>
                </a:solidFill>
                <a:prstDash val="solid"/>
                <a:bevel/>
              </a:ln>
            </p:spPr>
          </p:cxnSp>
          <p:sp>
            <p:nvSpPr>
              <p:cNvPr name="TextBox 22" id="22"/>
              <p:cNvSpPr txBox="true"/>
              <p:nvPr/>
            </p:nvSpPr>
            <p:spPr>
              <a:xfrm>
                <a:off x="1711408" y="2467685"/>
                <a:ext cx="2206133" cy="354519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技术原理</a:t>
                </a:r>
                <a:endParaRPr lang="en-US" sz="1100"/>
              </a:p>
            </p:txBody>
          </p:sp>
          <p:sp>
            <p:nvSpPr>
              <p:cNvPr name="TextBox 23" id="23"/>
              <p:cNvSpPr txBox="true"/>
              <p:nvPr/>
            </p:nvSpPr>
            <p:spPr>
              <a:xfrm>
                <a:off x="1711408" y="3062847"/>
                <a:ext cx="2206133" cy="688088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2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该技术基于深度学习模型，通过分析用户输入内容，自动生成文本、图表和布局，并结合视觉优化技术提升PPT的视觉效果。</a:t>
                </a:r>
                <a:endParaRPr lang="en-US" sz="1100"/>
              </a:p>
            </p:txBody>
          </p:sp>
          <p:sp>
            <p:nvSpPr>
              <p:cNvPr name="AutoShape 24" id="24"/>
              <p:cNvSpPr/>
              <p:nvPr/>
            </p:nvSpPr>
            <p:spPr>
              <a:xfrm>
                <a:off x="1781175" y="4754230"/>
                <a:ext cx="2073275" cy="1313145"/>
              </a:xfrm>
              <a:prstGeom prst="roundRect">
                <a:avLst/>
              </a:prstGeom>
              <a:blipFill>
                <a:blip r:embed="rId4"/>
                <a:srcRect/>
                <a:stretch>
                  <a:fillRect t="-10246" l="0" b="-10040" r="0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</p:grpSp>
      </p:grpSp>
    </p:spTree>
  </p:cSld>
  <p:clrMapOvr>
    <a:masterClrMapping/>
  </p:clrMapOvr>
  <p:transition spd="fast"/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市场需求与趋势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>
            <a:off x="803275" y="2972461"/>
            <a:ext cx="3005826" cy="3599789"/>
          </a:xfrm>
          <a:prstGeom prst="roundRec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1030830" y="3703069"/>
            <a:ext cx="2493865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市场需求分析</a:t>
            </a:r>
          </a:p>
        </p:txBody>
      </p:sp>
      <p:sp>
        <p:nvSpPr>
          <p:cNvPr name="AutoShape 5" id="5"/>
          <p:cNvSpPr/>
          <p:nvPr/>
        </p:nvSpPr>
        <p:spPr>
          <a:xfrm>
            <a:off x="1030830" y="4257995"/>
            <a:ext cx="2492024" cy="1177290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随着企业对高效办公工具的需求增加，AI智能生成PPT的市场需求持续增长，尤其是在快速生成专业演示文稿的场景中。</a:t>
            </a:r>
          </a:p>
        </p:txBody>
      </p:sp>
      <p:sp>
        <p:nvSpPr>
          <p:cNvPr name="AutoShape 6" id="6"/>
          <p:cNvSpPr/>
          <p:nvPr/>
        </p:nvSpPr>
        <p:spPr>
          <a:xfrm>
            <a:off x="803275" y="1608078"/>
            <a:ext cx="3005826" cy="1272722"/>
          </a:xfrm>
          <a:prstGeom prst="roundRect">
            <a:avLst>
              <a:gd name="adj" fmla="val 8000"/>
            </a:avLst>
          </a:prstGeom>
          <a:blipFill>
            <a:blip r:embed="rId2"/>
            <a:srcRect/>
            <a:stretch>
              <a:fillRect t="-28980" l="0" b="-28407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803275" y="1308101"/>
            <a:ext cx="3005826" cy="201562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>
            <a:off x="1030830" y="3097557"/>
            <a:ext cx="746332" cy="751828"/>
          </a:xfrm>
          <a:prstGeom prst="rect">
            <a:avLst/>
          </a:prstGeom>
          <a:noFill/>
        </p:spPr>
        <p:txBody>
          <a:bodyPr anchor="t" rtlCol="false" vert="horz" wrap="square" tIns="45720" lIns="108000" bIns="45720" rIns="108000">
            <a:no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4529788" y="2972461"/>
            <a:ext cx="3005826" cy="3599789"/>
          </a:xfrm>
          <a:prstGeom prst="roundRect">
            <a:avLst>
              <a:gd name="adj" fmla="val 8000"/>
            </a:avLst>
          </a:prstGeom>
          <a:solidFill>
            <a:schemeClr val="accent2">
              <a:alpha val="15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10" id="10"/>
          <p:cNvSpPr/>
          <p:nvPr/>
        </p:nvSpPr>
        <p:spPr>
          <a:xfrm>
            <a:off x="4757343" y="3703069"/>
            <a:ext cx="2493865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行业发展趋势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757343" y="4257995"/>
            <a:ext cx="2492024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未来，AI智能生成PPT将向多模态融合和个性化定制方向发展，满足用户多样化的需求。</a:t>
            </a:r>
          </a:p>
        </p:txBody>
      </p:sp>
      <p:sp>
        <p:nvSpPr>
          <p:cNvPr name="AutoShape 12" id="12"/>
          <p:cNvSpPr/>
          <p:nvPr/>
        </p:nvSpPr>
        <p:spPr>
          <a:xfrm>
            <a:off x="4529788" y="1608079"/>
            <a:ext cx="3005826" cy="1272722"/>
          </a:xfrm>
          <a:prstGeom prst="roundRect">
            <a:avLst>
              <a:gd name="adj" fmla="val 8000"/>
            </a:avLst>
          </a:prstGeom>
          <a:blipFill>
            <a:blip r:embed="rId3"/>
            <a:srcRect/>
            <a:stretch>
              <a:fillRect t="-44913" l="0" b="-44025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4529788" y="1308101"/>
            <a:ext cx="3005826" cy="201562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>
            <a:off x="4757343" y="3097557"/>
            <a:ext cx="746332" cy="751828"/>
          </a:xfrm>
          <a:prstGeom prst="rect">
            <a:avLst/>
          </a:prstGeom>
          <a:noFill/>
        </p:spPr>
        <p:txBody>
          <a:bodyPr anchor="t" rtlCol="false" vert="horz" wrap="square" tIns="45720" lIns="108000" bIns="45720" rIns="108000">
            <a:no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8256301" y="2972461"/>
            <a:ext cx="3005826" cy="3599789"/>
          </a:xfrm>
          <a:prstGeom prst="roundRect">
            <a:avLst>
              <a:gd name="adj" fmla="val 8000"/>
            </a:avLst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AutoShape 16" id="16"/>
          <p:cNvSpPr/>
          <p:nvPr/>
        </p:nvSpPr>
        <p:spPr>
          <a:xfrm>
            <a:off x="8483856" y="3703069"/>
            <a:ext cx="2493865" cy="338554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竞争格局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483856" y="4257995"/>
            <a:ext cx="2492024" cy="102335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just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目前市场上已有多个AI生成PPT工具，竞争激烈，技术领先和用户体验优化成为关键竞争点。</a:t>
            </a:r>
          </a:p>
        </p:txBody>
      </p:sp>
      <p:sp>
        <p:nvSpPr>
          <p:cNvPr name="AutoShape 18" id="18"/>
          <p:cNvSpPr/>
          <p:nvPr/>
        </p:nvSpPr>
        <p:spPr>
          <a:xfrm>
            <a:off x="8256301" y="1608079"/>
            <a:ext cx="3005826" cy="1272722"/>
          </a:xfrm>
          <a:prstGeom prst="roundRect">
            <a:avLst>
              <a:gd name="adj" fmla="val 8000"/>
            </a:avLst>
          </a:prstGeom>
          <a:blipFill>
            <a:blip r:embed="rId4"/>
            <a:srcRect/>
            <a:stretch>
              <a:fillRect t="-29012" l="0" b="-28437" r="0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rot="0" anchor="ctr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8256301" y="1308101"/>
            <a:ext cx="3005826" cy="201562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>
              <a:lnSpc>
                <a:spcPct val="1300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>
            <a:off x="8483856" y="3097557"/>
            <a:ext cx="746332" cy="751828"/>
          </a:xfrm>
          <a:prstGeom prst="rect">
            <a:avLst/>
          </a:prstGeom>
          <a:noFill/>
        </p:spPr>
        <p:txBody>
          <a:bodyPr anchor="t" rtlCol="false" vert="horz" wrap="square" tIns="45720" lIns="108000" bIns="45720" rIns="108000">
            <a:noAutofit/>
          </a:bodyPr>
          <a:lstStyle/>
          <a:p>
            <a:pPr algn="l" marL="0">
              <a:defRPr/>
            </a:pPr>
            <a:r>
              <a:rPr lang="en-US" b="true" i="false" sz="3600" baseline="0" u="none">
                <a:solidFill>
                  <a:schemeClr val="accent3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299200" y="3157492"/>
            <a:ext cx="5197475" cy="646331"/>
          </a:xfrm>
        </p:spPr>
        <p:txBody>
          <a:bodyPr anchor="t" rtlCol="false" vert="horz" tIns="45720" lIns="91440" bIns="45720" rIns="9144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36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技术基础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299199" y="1797560"/>
            <a:ext cx="5197475" cy="1015663"/>
          </a:xfrm>
          <a:prstGeom prst="rect">
            <a:avLst/>
          </a:prstGeom>
        </p:spPr>
        <p:txBody>
          <a:bodyPr anchor="b" rtlCol="false" vert="horz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60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自然语言处理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731838" y="1868500"/>
            <a:ext cx="10495470" cy="2801222"/>
            <a:chOff x="0" y="3008338"/>
            <a:chExt cx="10495470" cy="2801222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3008338"/>
              <a:ext cx="10495470" cy="558800"/>
              <a:chOff x="2082800" y="3008338"/>
              <a:chExt cx="10495470" cy="5588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2082800" y="3008338"/>
                <a:ext cx="10495470" cy="55880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anchor="ctr" tIns="45720" lIns="91440" bIns="45720" rIns="91440"/>
              <a:p>
                <a:pPr algn="ctr" marL="0"/>
              </a:p>
            </p:txBody>
          </p:sp>
          <p:cxnSp>
            <p:nvCxnSpPr>
              <p:cNvPr name="Connector 6" id="6"/>
              <p:cNvCxnSpPr/>
              <p:nvPr/>
            </p:nvCxnSpPr>
            <p:spPr>
              <a:xfrm>
                <a:off x="2082800" y="3008338"/>
                <a:ext cx="10495470" cy="0"/>
              </a:xfrm>
              <a:prstGeom prst="line">
                <a:avLst/>
              </a:prstGeom>
              <a:ln w="63500">
                <a:solidFill>
                  <a:schemeClr val="accent1"/>
                </a:solidFill>
              </a:ln>
            </p:spPr>
          </p:cxnSp>
        </p:grpSp>
        <p:grpSp>
          <p:nvGrpSpPr>
            <p:cNvPr name="Group 7" id="7"/>
            <p:cNvGrpSpPr/>
            <p:nvPr/>
          </p:nvGrpSpPr>
          <p:grpSpPr>
            <a:xfrm>
              <a:off x="2349500" y="3046760"/>
              <a:ext cx="2430970" cy="2762800"/>
              <a:chOff x="2349500" y="3046760"/>
              <a:chExt cx="2430970" cy="2762800"/>
            </a:xfrm>
          </p:grpSpPr>
          <p:sp>
            <p:nvSpPr>
              <p:cNvPr name="TextBox 8" id="8"/>
              <p:cNvSpPr txBox="true"/>
              <p:nvPr/>
            </p:nvSpPr>
            <p:spPr>
              <a:xfrm>
                <a:off x="2349500" y="3046760"/>
                <a:ext cx="2430970" cy="523220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en-GB" b="true" i="false" sz="2800" baseline="0" u="none">
                    <a:solidFill>
                      <a:schemeClr val="tx1"/>
                    </a:solidFill>
                    <a:latin typeface="Arial"/>
                    <a:ea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2349500" y="3822681"/>
                <a:ext cx="2430970" cy="338554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ln/>
                    <a:solidFill>
                      <a:schemeClr val="tx1"/>
                    </a:solidFill>
                    <a:effectLst/>
                    <a:latin typeface="微软雅黑"/>
                    <a:ea typeface="微软雅黑"/>
                  </a:rPr>
                  <a:t>NLP技术概述</a:t>
                </a:r>
                <a:endParaRPr lang="en-US" sz="1100"/>
              </a:p>
            </p:txBody>
          </p:sp>
          <p:sp>
            <p:nvSpPr>
              <p:cNvPr name="TextBox 10" id="10"/>
              <p:cNvSpPr txBox="true"/>
              <p:nvPr/>
            </p:nvSpPr>
            <p:spPr>
              <a:xfrm>
                <a:off x="2349500" y="4463038"/>
                <a:ext cx="2430970" cy="1346522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自然语言处理技术是AI生成PPT的核心，通过分析用户输入的文本内容，生成符合逻辑的演示文稿。</a:t>
                </a:r>
                <a:endParaRPr lang="en-US" sz="1100"/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>
              <a:off x="5207000" y="3046760"/>
              <a:ext cx="2430970" cy="2762800"/>
              <a:chOff x="2349500" y="3046760"/>
              <a:chExt cx="2430970" cy="27628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2349500" y="3046760"/>
                <a:ext cx="2430970" cy="523220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en-GB" b="true" i="false" sz="2800" baseline="0" u="none">
                    <a:solidFill>
                      <a:schemeClr val="tx1"/>
                    </a:solidFill>
                    <a:latin typeface="Arial"/>
                    <a:ea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2349500" y="3822681"/>
                <a:ext cx="2430970" cy="338554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ln/>
                    <a:solidFill>
                      <a:schemeClr val="tx1"/>
                    </a:solidFill>
                    <a:effectLst/>
                    <a:latin typeface="微软雅黑"/>
                    <a:ea typeface="微软雅黑"/>
                  </a:rPr>
                  <a:t>文本生成模型</a:t>
                </a:r>
                <a:endParaRPr lang="en-US" sz="1100"/>
              </a:p>
            </p:txBody>
          </p:sp>
          <p:sp>
            <p:nvSpPr>
              <p:cNvPr name="TextBox 14" id="14"/>
              <p:cNvSpPr txBox="true"/>
              <p:nvPr/>
            </p:nvSpPr>
            <p:spPr>
              <a:xfrm>
                <a:off x="2349500" y="4463038"/>
                <a:ext cx="2430970" cy="1346522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基于GPT等大语言模型，AI能够生成高质量的文本内容，并根据上下文调整语言风格和表达方式。</a:t>
                </a:r>
                <a:endParaRPr lang="en-US" sz="1100"/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8064500" y="3046760"/>
              <a:ext cx="2430970" cy="2762800"/>
              <a:chOff x="2349500" y="3046760"/>
              <a:chExt cx="2430970" cy="2762800"/>
            </a:xfrm>
          </p:grpSpPr>
          <p:sp>
            <p:nvSpPr>
              <p:cNvPr name="TextBox 16" id="16"/>
              <p:cNvSpPr txBox="true"/>
              <p:nvPr/>
            </p:nvSpPr>
            <p:spPr>
              <a:xfrm>
                <a:off x="2349500" y="3046760"/>
                <a:ext cx="2430970" cy="523220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en-GB" b="true" i="false" sz="2800" baseline="0" u="none">
                    <a:solidFill>
                      <a:schemeClr val="tx1"/>
                    </a:solidFill>
                    <a:latin typeface="Arial"/>
                    <a:ea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name="TextBox 17" id="17"/>
              <p:cNvSpPr txBox="true"/>
              <p:nvPr/>
            </p:nvSpPr>
            <p:spPr>
              <a:xfrm>
                <a:off x="2349500" y="3822681"/>
                <a:ext cx="2430970" cy="338554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ln/>
                    <a:solidFill>
                      <a:schemeClr val="tx1"/>
                    </a:solidFill>
                    <a:effectLst/>
                    <a:latin typeface="微软雅黑"/>
                    <a:ea typeface="微软雅黑"/>
                  </a:rPr>
                  <a:t>语义理解</a:t>
                </a:r>
                <a:endParaRPr lang="en-US" sz="1100"/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2349500" y="4463038"/>
                <a:ext cx="2430970" cy="1346522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语义理解技术帮助AI准确理解用户意图，确保生成的PPT内容与用户需求高度匹配。</a:t>
                </a:r>
                <a:endParaRPr lang="en-US" sz="1100"/>
              </a:p>
            </p:txBody>
          </p:sp>
        </p:grpSp>
      </p:grpSp>
    </p:spTree>
  </p:cSld>
  <p:clrMapOvr>
    <a:masterClrMapping/>
  </p:clrMapOvr>
  <p:transition spd="fast"/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计算机视觉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815975" y="1498199"/>
            <a:ext cx="10864850" cy="4928403"/>
            <a:chOff x="660400" y="1929597"/>
            <a:chExt cx="10864850" cy="4928403"/>
          </a:xfrm>
        </p:grpSpPr>
        <p:cxnSp>
          <p:nvCxnSpPr>
            <p:cNvPr name="Connector 4" id="4"/>
            <p:cNvCxnSpPr/>
            <p:nvPr/>
          </p:nvCxnSpPr>
          <p:spPr>
            <a:xfrm flipH="true">
              <a:off x="1299599" y="3004457"/>
              <a:ext cx="1" cy="3853543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660400" y="1929597"/>
              <a:ext cx="10864850" cy="1081222"/>
              <a:chOff x="660400" y="1929597"/>
              <a:chExt cx="10864850" cy="1081222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660400" y="1929597"/>
                <a:ext cx="10864850" cy="1081222"/>
              </a:xfrm>
              <a:prstGeom prst="roundRect">
                <a:avLst>
                  <a:gd name="adj" fmla="val 8475"/>
                </a:avLst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25000"/>
                    </a:schemeClr>
                  </a:gs>
                </a:gsLst>
              </a:gradFill>
              <a:ln>
                <a:noFill/>
              </a:ln>
            </p:spPr>
            <p:txBody>
              <a:bodyPr vert="horz" anchor="ctr" wrap="square" tIns="144000" lIns="216000" bIns="144000" rIns="216000">
                <a:noAutofit/>
              </a:bodyPr>
              <a:p>
                <a:pPr algn="ctr" marL="0">
                  <a:lnSpc>
                    <a:spcPct val="150000"/>
                  </a:lnSpc>
                </a:pPr>
              </a:p>
            </p:txBody>
          </p:sp>
          <p:sp>
            <p:nvSpPr>
              <p:cNvPr name="Freeform 7" id="7"/>
              <p:cNvSpPr/>
              <p:nvPr/>
            </p:nvSpPr>
            <p:spPr>
              <a:xfrm>
                <a:off x="762001" y="1929597"/>
                <a:ext cx="1075197" cy="1074860"/>
              </a:xfrm>
              <a:custGeom>
                <a:avLst/>
                <a:gdLst/>
                <a:ahLst/>
                <a:cxnLst/>
                <a:rect r="r" b="b" t="t" l="l"/>
                <a:pathLst>
                  <a:path w="1344" h="1344" stroke="true" fill="norm" extrusionOk="true">
                    <a:moveTo>
                      <a:pt x="1344" y="672"/>
                    </a:moveTo>
                    <a:cubicBezTo>
                      <a:pt x="1344" y="488"/>
                      <a:pt x="1207" y="337"/>
                      <a:pt x="1029" y="315"/>
                    </a:cubicBezTo>
                    <a:cubicBezTo>
                      <a:pt x="1007" y="137"/>
                      <a:pt x="856" y="0"/>
                      <a:pt x="672" y="0"/>
                    </a:cubicBezTo>
                    <a:cubicBezTo>
                      <a:pt x="488" y="0"/>
                      <a:pt x="337" y="137"/>
                      <a:pt x="315" y="315"/>
                    </a:cubicBezTo>
                    <a:cubicBezTo>
                      <a:pt x="137" y="337"/>
                      <a:pt x="0" y="488"/>
                      <a:pt x="0" y="672"/>
                    </a:cubicBezTo>
                    <a:cubicBezTo>
                      <a:pt x="0" y="856"/>
                      <a:pt x="137" y="1007"/>
                      <a:pt x="315" y="1029"/>
                    </a:cubicBezTo>
                    <a:cubicBezTo>
                      <a:pt x="337" y="1207"/>
                      <a:pt x="488" y="1344"/>
                      <a:pt x="672" y="1344"/>
                    </a:cubicBezTo>
                    <a:cubicBezTo>
                      <a:pt x="856" y="1344"/>
                      <a:pt x="1007" y="1207"/>
                      <a:pt x="1029" y="1029"/>
                    </a:cubicBezTo>
                    <a:cubicBezTo>
                      <a:pt x="1207" y="1007"/>
                      <a:pt x="1344" y="856"/>
                      <a:pt x="1344" y="672"/>
                    </a:cubicBezTo>
                    <a:close/>
                  </a:path>
                </a:pathLst>
              </a:custGeom>
              <a:blipFill>
                <a:blip r:embed="rId2"/>
                <a:srcRect/>
                <a:stretch>
                  <a:fillRect t="0" l="-12911" b="0" r="-12911"/>
                </a:stretch>
              </a:blipFill>
              <a:ln w="12700">
                <a:solidFill>
                  <a:schemeClr val="accent4"/>
                </a:solidFill>
              </a:ln>
            </p:spPr>
            <p:txBody>
              <a:bodyPr vert="horz" anchor="ctr" wrap="square" anchorCtr="tru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TextBox 8" id="8"/>
              <p:cNvSpPr txBox="true"/>
              <p:nvPr/>
            </p:nvSpPr>
            <p:spPr>
              <a:xfrm>
                <a:off x="2202544" y="2285542"/>
                <a:ext cx="2032000" cy="338554"/>
              </a:xfrm>
              <a:prstGeom prst="rect">
                <a:avLst/>
              </a:prstGeom>
              <a:noFill/>
            </p:spPr>
            <p:txBody>
              <a:bodyPr anchor="ctr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图像识别技术</a:t>
                </a:r>
                <a:endParaRPr lang="en-US" sz="1100"/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4234544" y="2239564"/>
                <a:ext cx="6884305" cy="453390"/>
              </a:xfrm>
              <a:prstGeom prst="rect">
                <a:avLst/>
              </a:prstGeom>
              <a:noFill/>
            </p:spPr>
            <p:txBody>
              <a:bodyPr anchor="ctr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图像识别技术用于分析用户提供的图片或图表，自动提取关键信息并生成相应的PPT内容。</a:t>
                </a:r>
                <a:endParaRPr lang="en-US" sz="1100"/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>
              <a:off x="660400" y="3494418"/>
              <a:ext cx="10864850" cy="1083530"/>
              <a:chOff x="660400" y="3494418"/>
              <a:chExt cx="10864850" cy="1083530"/>
            </a:xfrm>
          </p:grpSpPr>
          <p:sp>
            <p:nvSpPr>
              <p:cNvPr name="AutoShape 11" id="11"/>
              <p:cNvSpPr/>
              <p:nvPr/>
            </p:nvSpPr>
            <p:spPr>
              <a:xfrm>
                <a:off x="660400" y="3496726"/>
                <a:ext cx="10864850" cy="1081222"/>
              </a:xfrm>
              <a:prstGeom prst="roundRect">
                <a:avLst>
                  <a:gd name="adj" fmla="val 8475"/>
                </a:avLst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25000"/>
                    </a:schemeClr>
                  </a:gs>
                </a:gsLst>
              </a:gradFill>
              <a:ln>
                <a:noFill/>
              </a:ln>
            </p:spPr>
            <p:txBody>
              <a:bodyPr vert="horz" anchor="ctr" wrap="square" tIns="144000" lIns="216000" bIns="144000" rIns="216000">
                <a:noAutofit/>
              </a:bodyPr>
              <a:p>
                <a:pPr algn="ctr" marL="0">
                  <a:lnSpc>
                    <a:spcPct val="150000"/>
                  </a:lnSpc>
                </a:pPr>
              </a:p>
            </p:txBody>
          </p:sp>
          <p:sp>
            <p:nvSpPr>
              <p:cNvPr name="Freeform 12" id="12"/>
              <p:cNvSpPr/>
              <p:nvPr/>
            </p:nvSpPr>
            <p:spPr>
              <a:xfrm>
                <a:off x="762001" y="3494418"/>
                <a:ext cx="1075197" cy="1074860"/>
              </a:xfrm>
              <a:custGeom>
                <a:avLst/>
                <a:gdLst/>
                <a:ahLst/>
                <a:cxnLst/>
                <a:rect r="r" b="b" t="t" l="l"/>
                <a:pathLst>
                  <a:path w="1344" h="1344" stroke="true" fill="norm" extrusionOk="true">
                    <a:moveTo>
                      <a:pt x="1344" y="672"/>
                    </a:moveTo>
                    <a:cubicBezTo>
                      <a:pt x="1344" y="488"/>
                      <a:pt x="1207" y="337"/>
                      <a:pt x="1029" y="315"/>
                    </a:cubicBezTo>
                    <a:cubicBezTo>
                      <a:pt x="1007" y="137"/>
                      <a:pt x="856" y="0"/>
                      <a:pt x="672" y="0"/>
                    </a:cubicBezTo>
                    <a:cubicBezTo>
                      <a:pt x="488" y="0"/>
                      <a:pt x="337" y="137"/>
                      <a:pt x="315" y="315"/>
                    </a:cubicBezTo>
                    <a:cubicBezTo>
                      <a:pt x="137" y="337"/>
                      <a:pt x="0" y="488"/>
                      <a:pt x="0" y="672"/>
                    </a:cubicBezTo>
                    <a:cubicBezTo>
                      <a:pt x="0" y="856"/>
                      <a:pt x="137" y="1007"/>
                      <a:pt x="315" y="1029"/>
                    </a:cubicBezTo>
                    <a:cubicBezTo>
                      <a:pt x="337" y="1207"/>
                      <a:pt x="488" y="1344"/>
                      <a:pt x="672" y="1344"/>
                    </a:cubicBezTo>
                    <a:cubicBezTo>
                      <a:pt x="856" y="1344"/>
                      <a:pt x="1007" y="1207"/>
                      <a:pt x="1029" y="1029"/>
                    </a:cubicBezTo>
                    <a:cubicBezTo>
                      <a:pt x="1207" y="1007"/>
                      <a:pt x="1344" y="856"/>
                      <a:pt x="1344" y="672"/>
                    </a:cubicBezTo>
                    <a:close/>
                  </a:path>
                </a:pathLst>
              </a:custGeom>
              <a:blipFill>
                <a:blip r:embed="rId3"/>
                <a:srcRect/>
                <a:stretch>
                  <a:fillRect t="-8336" l="0" b="-9200" r="0"/>
                </a:stretch>
              </a:blipFill>
              <a:ln w="12700">
                <a:solidFill>
                  <a:schemeClr val="accent4"/>
                </a:solidFill>
              </a:ln>
            </p:spPr>
            <p:txBody>
              <a:bodyPr vert="horz" anchor="ctr" wrap="square" anchorCtr="tru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TextBox 13" id="13"/>
              <p:cNvSpPr txBox="true"/>
              <p:nvPr/>
            </p:nvSpPr>
            <p:spPr>
              <a:xfrm>
                <a:off x="2202544" y="3847182"/>
                <a:ext cx="2032000" cy="338554"/>
              </a:xfrm>
              <a:prstGeom prst="rect">
                <a:avLst/>
              </a:prstGeom>
              <a:noFill/>
            </p:spPr>
            <p:txBody>
              <a:bodyPr anchor="ctr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图像生成技术</a:t>
                </a:r>
                <a:endParaRPr lang="en-US" sz="1100"/>
              </a:p>
            </p:txBody>
          </p:sp>
          <p:sp>
            <p:nvSpPr>
              <p:cNvPr name="TextBox 14" id="14"/>
              <p:cNvSpPr txBox="true"/>
              <p:nvPr/>
            </p:nvSpPr>
            <p:spPr>
              <a:xfrm>
                <a:off x="4234544" y="3806693"/>
                <a:ext cx="6884305" cy="453390"/>
              </a:xfrm>
              <a:prstGeom prst="rect">
                <a:avLst/>
              </a:prstGeom>
              <a:noFill/>
            </p:spPr>
            <p:txBody>
              <a:bodyPr anchor="ctr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基于GAN等图像生成模型，AI能够自动生成符合主题的图表和视觉元素，提升PPT的视觉效果。</a:t>
                </a:r>
                <a:endParaRPr lang="en-US" sz="1100"/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>
              <a:off x="660400" y="5059240"/>
              <a:ext cx="10864850" cy="1085837"/>
              <a:chOff x="660400" y="5059240"/>
              <a:chExt cx="10864850" cy="1085837"/>
            </a:xfrm>
          </p:grpSpPr>
          <p:sp>
            <p:nvSpPr>
              <p:cNvPr name="AutoShape 16" id="16"/>
              <p:cNvSpPr/>
              <p:nvPr/>
            </p:nvSpPr>
            <p:spPr>
              <a:xfrm>
                <a:off x="660400" y="5063855"/>
                <a:ext cx="10864850" cy="1081222"/>
              </a:xfrm>
              <a:prstGeom prst="roundRect">
                <a:avLst>
                  <a:gd name="adj" fmla="val 8475"/>
                </a:avLst>
              </a:prstGeom>
              <a:gradFill>
                <a:gsLst>
                  <a:gs pos="0">
                    <a:schemeClr val="tx1">
                      <a:alpha val="0"/>
                    </a:schemeClr>
                  </a:gs>
                  <a:gs pos="100000">
                    <a:schemeClr val="tx1">
                      <a:alpha val="25000"/>
                    </a:schemeClr>
                  </a:gs>
                </a:gsLst>
              </a:gradFill>
              <a:ln>
                <a:noFill/>
              </a:ln>
            </p:spPr>
            <p:txBody>
              <a:bodyPr vert="horz" anchor="ctr" wrap="square" tIns="144000" lIns="216000" bIns="144000" rIns="216000">
                <a:noAutofit/>
              </a:bodyPr>
              <a:p>
                <a:pPr algn="ctr" marL="0">
                  <a:lnSpc>
                    <a:spcPct val="150000"/>
                  </a:lnSpc>
                </a:pPr>
              </a:p>
            </p:txBody>
          </p:sp>
          <p:sp>
            <p:nvSpPr>
              <p:cNvPr name="Freeform 17" id="17"/>
              <p:cNvSpPr/>
              <p:nvPr/>
            </p:nvSpPr>
            <p:spPr>
              <a:xfrm>
                <a:off x="762001" y="5059240"/>
                <a:ext cx="1075197" cy="1074860"/>
              </a:xfrm>
              <a:custGeom>
                <a:avLst/>
                <a:gdLst/>
                <a:ahLst/>
                <a:cxnLst/>
                <a:rect r="r" b="b" t="t" l="l"/>
                <a:pathLst>
                  <a:path w="1344" h="1344" stroke="true" fill="norm" extrusionOk="true">
                    <a:moveTo>
                      <a:pt x="1344" y="672"/>
                    </a:moveTo>
                    <a:cubicBezTo>
                      <a:pt x="1344" y="488"/>
                      <a:pt x="1207" y="337"/>
                      <a:pt x="1029" y="315"/>
                    </a:cubicBezTo>
                    <a:cubicBezTo>
                      <a:pt x="1007" y="137"/>
                      <a:pt x="856" y="0"/>
                      <a:pt x="672" y="0"/>
                    </a:cubicBezTo>
                    <a:cubicBezTo>
                      <a:pt x="488" y="0"/>
                      <a:pt x="337" y="137"/>
                      <a:pt x="315" y="315"/>
                    </a:cubicBezTo>
                    <a:cubicBezTo>
                      <a:pt x="137" y="337"/>
                      <a:pt x="0" y="488"/>
                      <a:pt x="0" y="672"/>
                    </a:cubicBezTo>
                    <a:cubicBezTo>
                      <a:pt x="0" y="856"/>
                      <a:pt x="137" y="1007"/>
                      <a:pt x="315" y="1029"/>
                    </a:cubicBezTo>
                    <a:cubicBezTo>
                      <a:pt x="337" y="1207"/>
                      <a:pt x="488" y="1344"/>
                      <a:pt x="672" y="1344"/>
                    </a:cubicBezTo>
                    <a:cubicBezTo>
                      <a:pt x="856" y="1344"/>
                      <a:pt x="1007" y="1207"/>
                      <a:pt x="1029" y="1029"/>
                    </a:cubicBezTo>
                    <a:cubicBezTo>
                      <a:pt x="1207" y="1007"/>
                      <a:pt x="1344" y="856"/>
                      <a:pt x="1344" y="672"/>
                    </a:cubicBezTo>
                    <a:close/>
                  </a:path>
                </a:pathLst>
              </a:custGeom>
              <a:blipFill>
                <a:blip r:embed="rId4"/>
                <a:srcRect/>
                <a:stretch>
                  <a:fillRect t="-4102" l="-5020" b="-4102" r="-5020"/>
                </a:stretch>
              </a:blipFill>
              <a:ln w="12700">
                <a:solidFill>
                  <a:schemeClr val="accent4"/>
                </a:solidFill>
              </a:ln>
            </p:spPr>
            <p:txBody>
              <a:bodyPr vert="horz" anchor="ctr" wrap="square" anchorCtr="true" tIns="45720" lIns="91440" bIns="45720" rIns="91440">
                <a:prstTxWarp prst="textNoShape">
                  <a:avLst/>
                </a:prstTxWarp>
              </a:bodyPr>
              <a:p>
                <a:pPr algn="l" marL="0"/>
              </a:p>
            </p:txBody>
          </p:sp>
          <p:sp>
            <p:nvSpPr>
              <p:cNvPr name="TextBox 18" id="18"/>
              <p:cNvSpPr txBox="true"/>
              <p:nvPr/>
            </p:nvSpPr>
            <p:spPr>
              <a:xfrm>
                <a:off x="2202544" y="5412004"/>
                <a:ext cx="2032000" cy="338554"/>
              </a:xfrm>
              <a:prstGeom prst="rect">
                <a:avLst/>
              </a:prstGeom>
              <a:noFill/>
            </p:spPr>
            <p:txBody>
              <a:bodyPr anchor="ctr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视觉与文本结合</a:t>
                </a:r>
                <a:endParaRPr lang="en-US" sz="1100"/>
              </a:p>
            </p:txBody>
          </p:sp>
          <p:sp>
            <p:nvSpPr>
              <p:cNvPr name="TextBox 19" id="19"/>
              <p:cNvSpPr txBox="true"/>
              <p:nvPr/>
            </p:nvSpPr>
            <p:spPr>
              <a:xfrm>
                <a:off x="4234544" y="5412004"/>
                <a:ext cx="6884305" cy="377026"/>
              </a:xfrm>
              <a:prstGeom prst="rect">
                <a:avLst/>
              </a:prstGeom>
              <a:noFill/>
            </p:spPr>
            <p:txBody>
              <a:bodyPr anchor="ctr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AI将文本内容与视觉元素有机结合，生成布局合理、视觉效果出色的演示文稿。</a:t>
                </a:r>
                <a:endParaRPr lang="en-US" sz="1100"/>
              </a:p>
            </p:txBody>
          </p:sp>
        </p:grpSp>
      </p:grpSp>
    </p:spTree>
  </p:cSld>
  <p:clrMapOvr>
    <a:masterClrMapping/>
  </p:clrMapOvr>
  <p:transition spd="fast"/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299200" y="3157492"/>
            <a:ext cx="5197475" cy="646331"/>
          </a:xfrm>
        </p:spPr>
        <p:txBody>
          <a:bodyPr anchor="t" rtlCol="false" vert="horz" tIns="45720" lIns="91440" bIns="45720" rIns="9144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36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功能模块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299199" y="1797560"/>
            <a:ext cx="5197475" cy="1015663"/>
          </a:xfrm>
          <a:prstGeom prst="rect">
            <a:avLst/>
          </a:prstGeom>
        </p:spPr>
        <p:txBody>
          <a:bodyPr anchor="b" rtlCol="false" vert="horz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60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内容生成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912233" y="2289280"/>
            <a:ext cx="10255238" cy="2818826"/>
            <a:chOff x="912233" y="2674522"/>
            <a:chExt cx="10255238" cy="2818826"/>
          </a:xfrm>
        </p:grpSpPr>
        <p:grpSp>
          <p:nvGrpSpPr>
            <p:cNvPr name="Group 4" id="4"/>
            <p:cNvGrpSpPr/>
            <p:nvPr/>
          </p:nvGrpSpPr>
          <p:grpSpPr>
            <a:xfrm>
              <a:off x="912233" y="2674522"/>
              <a:ext cx="10255238" cy="2818826"/>
              <a:chOff x="912233" y="2674522"/>
              <a:chExt cx="10255238" cy="2818826"/>
            </a:xfrm>
          </p:grpSpPr>
          <p:grpSp>
            <p:nvGrpSpPr>
              <p:cNvPr name="Group 5" id="5"/>
              <p:cNvGrpSpPr/>
              <p:nvPr/>
            </p:nvGrpSpPr>
            <p:grpSpPr>
              <a:xfrm>
                <a:off x="912233" y="2674522"/>
                <a:ext cx="2420356" cy="2818826"/>
                <a:chOff x="391019" y="3429000"/>
                <a:chExt cx="2420356" cy="2818826"/>
              </a:xfrm>
            </p:grpSpPr>
            <p:sp>
              <p:nvSpPr>
                <p:cNvPr name="AutoShape 6" id="6"/>
                <p:cNvSpPr/>
                <p:nvPr/>
              </p:nvSpPr>
              <p:spPr>
                <a:xfrm>
                  <a:off x="1009034" y="3429000"/>
                  <a:ext cx="1080000" cy="108000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/>
                </a:gradFill>
              </p:spPr>
              <p:txBody>
                <a:bodyPr vert="horz" anchor="ctr" wrap="none" tIns="108000" lIns="108000" bIns="108000" rIns="108000">
                  <a:noAutofit/>
                </a:bodyPr>
                <a:p>
                  <a:pPr algn="ctr" marL="0"/>
                  <a:r>
                    <a:rPr lang="en-US" b="true" i="false" sz="2400" baseline="0" u="none">
                      <a:solidFill>
                        <a:srgbClr val="FFFFFF"/>
                      </a:solidFill>
                      <a:latin typeface="Arial"/>
                      <a:ea typeface="Arial"/>
                    </a:rPr>
                    <a:t>01</a:t>
                  </a:r>
                </a:p>
              </p:txBody>
            </p:sp>
            <p:grpSp>
              <p:nvGrpSpPr>
                <p:cNvPr name="Group 7" id="7"/>
                <p:cNvGrpSpPr/>
                <p:nvPr/>
              </p:nvGrpSpPr>
              <p:grpSpPr>
                <a:xfrm>
                  <a:off x="391019" y="4663899"/>
                  <a:ext cx="2420356" cy="1583927"/>
                  <a:chOff x="391019" y="4663899"/>
                  <a:chExt cx="2420356" cy="1583927"/>
                </a:xfrm>
              </p:grpSpPr>
              <p:sp>
                <p:nvSpPr>
                  <p:cNvPr name="TextBox 8" id="8"/>
                  <p:cNvSpPr txBox="true"/>
                  <p:nvPr/>
                </p:nvSpPr>
                <p:spPr>
                  <a:xfrm>
                    <a:off x="391019" y="4663899"/>
                    <a:ext cx="2420356" cy="338554"/>
                  </a:xfrm>
                  <a:prstGeom prst="rect">
                    <a:avLst/>
                  </a:prstGeom>
                  <a:noFill/>
                </p:spPr>
                <p:txBody>
                  <a:bodyPr anchor="t" rtlCol="false" vert="horz" wrap="square" tIns="45720" lIns="91440" bIns="45720" rIns="91440">
                    <a:spAutoFit/>
                  </a:bodyPr>
                  <a:lstStyle/>
                  <a:p>
                    <a:pPr algn="ctr" marL="0">
                      <a:defRPr/>
                    </a:pPr>
                    <a:r>
                      <a:rPr lang="zh-CN" b="true" i="false" sz="1600" baseline="0" u="none" altLang="en-US">
                        <a:solidFill>
                          <a:schemeClr val="tx1"/>
                        </a:solidFill>
                        <a:latin typeface="微软雅黑"/>
                        <a:ea typeface="微软雅黑"/>
                      </a:rPr>
                      <a:t>自动生成文本</a:t>
                    </a:r>
                    <a:endParaRPr lang="en-US" sz="1100"/>
                  </a:p>
                </p:txBody>
              </p:sp>
              <p:sp>
                <p:nvSpPr>
                  <p:cNvPr name="TextBox 9" id="9"/>
                  <p:cNvSpPr txBox="true"/>
                  <p:nvPr/>
                </p:nvSpPr>
                <p:spPr>
                  <a:xfrm>
                    <a:off x="391019" y="5224469"/>
                    <a:ext cx="2420356" cy="1177290"/>
                  </a:xfrm>
                  <a:prstGeom prst="rect">
                    <a:avLst/>
                  </a:prstGeom>
                  <a:noFill/>
                </p:spPr>
                <p:txBody>
                  <a:bodyPr anchor="t" rtlCol="false" vert="horz" wrap="square" tIns="45720" lIns="91440" bIns="45720" rIns="91440">
                    <a:spAutoFit/>
                  </a:bodyPr>
                  <a:lstStyle/>
                  <a:p>
                    <a:pPr algn="ctr" marL="0">
                      <a:lnSpc>
                        <a:spcPct val="150000"/>
                      </a:lnSpc>
                      <a:defRPr/>
                    </a:pPr>
                    <a:r>
                      <a:rPr lang="zh-CN" b="false" i="false" sz="1400" baseline="0" u="none" altLang="en-US">
                        <a:solidFill>
                          <a:schemeClr val="tx1"/>
                        </a:solidFill>
                        <a:latin typeface="微软雅黑"/>
                        <a:ea typeface="微软雅黑"/>
                      </a:rPr>
                      <a:t>AI根据用户输入的主题或关键词，自动生成逻辑清晰、语言流畅的文本内容，减少用户手动编辑的工作量。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name="Group 10" id="10"/>
              <p:cNvGrpSpPr/>
              <p:nvPr/>
            </p:nvGrpSpPr>
            <p:grpSpPr>
              <a:xfrm>
                <a:off x="4786226" y="2674522"/>
                <a:ext cx="2420357" cy="2818826"/>
                <a:chOff x="3165031" y="3429000"/>
                <a:chExt cx="2420357" cy="2818826"/>
              </a:xfrm>
            </p:grpSpPr>
            <p:sp>
              <p:nvSpPr>
                <p:cNvPr name="AutoShape 11" id="11"/>
                <p:cNvSpPr/>
                <p:nvPr/>
              </p:nvSpPr>
              <p:spPr>
                <a:xfrm>
                  <a:off x="3828859" y="3429000"/>
                  <a:ext cx="1080000" cy="1080000"/>
                </a:xfrm>
                <a:prstGeom prst="ellipse">
                  <a:avLst/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/>
                </a:gradFill>
              </p:spPr>
              <p:txBody>
                <a:bodyPr vert="horz" anchor="ctr" wrap="none" tIns="108000" lIns="108000" bIns="108000" rIns="108000">
                  <a:noAutofit/>
                </a:bodyPr>
                <a:p>
                  <a:pPr algn="ctr" marL="0"/>
                  <a:r>
                    <a:rPr lang="en-US" b="true" i="false" sz="2400" baseline="0" u="none">
                      <a:solidFill>
                        <a:srgbClr val="FFFFFF"/>
                      </a:solidFill>
                      <a:latin typeface="Arial"/>
                      <a:ea typeface="Arial"/>
                    </a:rPr>
                    <a:t>02</a:t>
                  </a:r>
                </a:p>
              </p:txBody>
            </p:sp>
            <p:grpSp>
              <p:nvGrpSpPr>
                <p:cNvPr name="Group 12" id="12"/>
                <p:cNvGrpSpPr/>
                <p:nvPr/>
              </p:nvGrpSpPr>
              <p:grpSpPr>
                <a:xfrm>
                  <a:off x="3165031" y="4663899"/>
                  <a:ext cx="2420357" cy="1583927"/>
                  <a:chOff x="2992214" y="4663899"/>
                  <a:chExt cx="2420357" cy="1583927"/>
                </a:xfrm>
              </p:grpSpPr>
              <p:sp>
                <p:nvSpPr>
                  <p:cNvPr name="TextBox 13" id="13"/>
                  <p:cNvSpPr txBox="true"/>
                  <p:nvPr/>
                </p:nvSpPr>
                <p:spPr>
                  <a:xfrm>
                    <a:off x="2992215" y="4663899"/>
                    <a:ext cx="2420356" cy="338554"/>
                  </a:xfrm>
                  <a:prstGeom prst="rect">
                    <a:avLst/>
                  </a:prstGeom>
                  <a:noFill/>
                </p:spPr>
                <p:txBody>
                  <a:bodyPr anchor="t" rtlCol="false" vert="horz" wrap="square" tIns="45720" lIns="91440" bIns="45720" rIns="91440">
                    <a:spAutoFit/>
                  </a:bodyPr>
                  <a:lstStyle/>
                  <a:p>
                    <a:pPr algn="ctr" marL="0">
                      <a:defRPr/>
                    </a:pPr>
                    <a:r>
                      <a:rPr lang="zh-CN" b="true" i="false" sz="1600" baseline="0" u="none" altLang="en-US">
                        <a:solidFill>
                          <a:schemeClr val="tx1"/>
                        </a:solidFill>
                        <a:latin typeface="微软雅黑"/>
                        <a:ea typeface="微软雅黑"/>
                      </a:rPr>
                      <a:t>自动生成图表</a:t>
                    </a:r>
                    <a:endParaRPr lang="en-US" sz="1100"/>
                  </a:p>
                </p:txBody>
              </p:sp>
              <p:sp>
                <p:nvSpPr>
                  <p:cNvPr name="TextBox 14" id="14"/>
                  <p:cNvSpPr txBox="true"/>
                  <p:nvPr/>
                </p:nvSpPr>
                <p:spPr>
                  <a:xfrm>
                    <a:off x="2992214" y="5224469"/>
                    <a:ext cx="2420356" cy="1023357"/>
                  </a:xfrm>
                  <a:prstGeom prst="rect">
                    <a:avLst/>
                  </a:prstGeom>
                  <a:noFill/>
                </p:spPr>
                <p:txBody>
                  <a:bodyPr anchor="t" rtlCol="false" vert="horz" wrap="square" tIns="45720" lIns="91440" bIns="45720" rIns="91440">
                    <a:spAutoFit/>
                  </a:bodyPr>
                  <a:lstStyle/>
                  <a:p>
                    <a:pPr algn="ctr" marL="0">
                      <a:lnSpc>
                        <a:spcPct val="150000"/>
                      </a:lnSpc>
                      <a:defRPr/>
                    </a:pPr>
                    <a:r>
                      <a:rPr lang="zh-CN" b="false" i="false" sz="1400" baseline="0" u="none" altLang="en-US">
                        <a:solidFill>
                          <a:schemeClr val="tx1"/>
                        </a:solidFill>
                        <a:latin typeface="微软雅黑"/>
                        <a:ea typeface="微软雅黑"/>
                      </a:rPr>
                      <a:t>AI能够根据数据内容自动生成柱状图、饼图等图表，帮助用户直观展示数据信息。</a:t>
                    </a:r>
                    <a:endParaRPr lang="en-US" sz="1100"/>
                  </a:p>
                </p:txBody>
              </p:sp>
            </p:grpSp>
          </p:grpSp>
          <p:grpSp>
            <p:nvGrpSpPr>
              <p:cNvPr name="Group 15" id="15"/>
              <p:cNvGrpSpPr/>
              <p:nvPr/>
            </p:nvGrpSpPr>
            <p:grpSpPr>
              <a:xfrm>
                <a:off x="8747114" y="2674522"/>
                <a:ext cx="2420357" cy="2818826"/>
                <a:chOff x="8225900" y="3429000"/>
                <a:chExt cx="2420357" cy="2818826"/>
              </a:xfrm>
            </p:grpSpPr>
            <p:sp>
              <p:nvSpPr>
                <p:cNvPr name="AutoShape 16" id="16"/>
                <p:cNvSpPr/>
                <p:nvPr/>
              </p:nvSpPr>
              <p:spPr>
                <a:xfrm>
                  <a:off x="8896078" y="3429000"/>
                  <a:ext cx="1080000" cy="1080000"/>
                </a:xfrm>
                <a:prstGeom prst="ellipse">
                  <a:avLst/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/>
                </a:gradFill>
              </p:spPr>
              <p:txBody>
                <a:bodyPr vert="horz" anchor="ctr" wrap="none" tIns="108000" lIns="108000" bIns="108000" rIns="108000">
                  <a:noAutofit/>
                </a:bodyPr>
                <a:p>
                  <a:pPr algn="ctr" marL="0"/>
                  <a:r>
                    <a:rPr lang="en-US" b="true" i="false" sz="2400" baseline="0" u="none">
                      <a:solidFill>
                        <a:srgbClr val="FFFFFF"/>
                      </a:solidFill>
                      <a:latin typeface="Arial"/>
                      <a:ea typeface="Arial"/>
                    </a:rPr>
                    <a:t>03</a:t>
                  </a:r>
                </a:p>
              </p:txBody>
            </p:sp>
            <p:grpSp>
              <p:nvGrpSpPr>
                <p:cNvPr name="Group 17" id="17"/>
                <p:cNvGrpSpPr/>
                <p:nvPr/>
              </p:nvGrpSpPr>
              <p:grpSpPr>
                <a:xfrm>
                  <a:off x="8225900" y="4663899"/>
                  <a:ext cx="2420357" cy="1583927"/>
                  <a:chOff x="5775433" y="4663899"/>
                  <a:chExt cx="2420357" cy="1583927"/>
                </a:xfrm>
              </p:grpSpPr>
              <p:sp>
                <p:nvSpPr>
                  <p:cNvPr name="TextBox 18" id="18"/>
                  <p:cNvSpPr txBox="true"/>
                  <p:nvPr/>
                </p:nvSpPr>
                <p:spPr>
                  <a:xfrm>
                    <a:off x="5775434" y="4663899"/>
                    <a:ext cx="2420356" cy="338554"/>
                  </a:xfrm>
                  <a:prstGeom prst="rect">
                    <a:avLst/>
                  </a:prstGeom>
                  <a:noFill/>
                </p:spPr>
                <p:txBody>
                  <a:bodyPr anchor="t" rtlCol="false" vert="horz" wrap="square" tIns="45720" lIns="91440" bIns="45720" rIns="91440">
                    <a:spAutoFit/>
                  </a:bodyPr>
                  <a:lstStyle/>
                  <a:p>
                    <a:pPr algn="ctr" marL="0">
                      <a:defRPr/>
                    </a:pPr>
                    <a:r>
                      <a:rPr lang="zh-CN" b="true" i="false" sz="1600" baseline="0" u="none" altLang="en-US">
                        <a:solidFill>
                          <a:schemeClr val="tx1"/>
                        </a:solidFill>
                        <a:latin typeface="微软雅黑"/>
                        <a:ea typeface="微软雅黑"/>
                      </a:rPr>
                      <a:t>自动生成布局</a:t>
                    </a:r>
                    <a:endParaRPr lang="en-US" sz="1100"/>
                  </a:p>
                </p:txBody>
              </p:sp>
              <p:sp>
                <p:nvSpPr>
                  <p:cNvPr name="TextBox 19" id="19"/>
                  <p:cNvSpPr txBox="true"/>
                  <p:nvPr/>
                </p:nvSpPr>
                <p:spPr>
                  <a:xfrm>
                    <a:off x="5775433" y="5224469"/>
                    <a:ext cx="2420356" cy="1023357"/>
                  </a:xfrm>
                  <a:prstGeom prst="rect">
                    <a:avLst/>
                  </a:prstGeom>
                  <a:noFill/>
                </p:spPr>
                <p:txBody>
                  <a:bodyPr anchor="t" rtlCol="false" vert="horz" wrap="square" tIns="45720" lIns="91440" bIns="45720" rIns="91440">
                    <a:spAutoFit/>
                  </a:bodyPr>
                  <a:lstStyle/>
                  <a:p>
                    <a:pPr algn="ctr" marL="0">
                      <a:lnSpc>
                        <a:spcPct val="150000"/>
                      </a:lnSpc>
                      <a:defRPr/>
                    </a:pPr>
                    <a:r>
                      <a:rPr lang="zh-CN" b="false" i="false" sz="1400" baseline="0" u="none" altLang="en-US">
                        <a:solidFill>
                          <a:schemeClr val="tx1"/>
                        </a:solidFill>
                        <a:latin typeface="微软雅黑"/>
                        <a:ea typeface="微软雅黑"/>
                      </a:rPr>
                      <a:t>AI根据内容类型和用户偏好，自动生成合理的PPT布局，确保演示文稿的美观性和专业性。</a:t>
                    </a:r>
                    <a:endParaRPr lang="en-US" sz="1100"/>
                  </a:p>
                </p:txBody>
              </p:sp>
            </p:grpSp>
          </p:grpSp>
        </p:grpSp>
        <p:grpSp>
          <p:nvGrpSpPr>
            <p:cNvPr name="Group 20" id="20"/>
            <p:cNvGrpSpPr/>
            <p:nvPr/>
          </p:nvGrpSpPr>
          <p:grpSpPr>
            <a:xfrm>
              <a:off x="2833313" y="3214522"/>
              <a:ext cx="6568907" cy="8853"/>
              <a:chOff x="2833313" y="3214522"/>
              <a:chExt cx="6568907" cy="8853"/>
            </a:xfrm>
          </p:grpSpPr>
          <p:cxnSp>
            <p:nvCxnSpPr>
              <p:cNvPr name="Connector 21" id="21"/>
              <p:cNvCxnSpPr/>
              <p:nvPr/>
            </p:nvCxnSpPr>
            <p:spPr>
              <a:xfrm>
                <a:off x="6700304" y="3223375"/>
                <a:ext cx="2701916" cy="0"/>
              </a:xfrm>
              <a:prstGeom prst="line">
                <a:avLst/>
              </a:prstGeom>
              <a:ln w="9525">
                <a:solidFill>
                  <a:schemeClr val="accent1">
                    <a:alpha val="50000"/>
                  </a:schemeClr>
                </a:solidFill>
                <a:prstDash val="dash"/>
              </a:ln>
            </p:spPr>
          </p:cxnSp>
          <p:cxnSp>
            <p:nvCxnSpPr>
              <p:cNvPr name="Connector 22" id="22"/>
              <p:cNvCxnSpPr/>
              <p:nvPr/>
            </p:nvCxnSpPr>
            <p:spPr>
              <a:xfrm>
                <a:off x="2833313" y="3214522"/>
                <a:ext cx="2701916" cy="0"/>
              </a:xfrm>
              <a:prstGeom prst="line">
                <a:avLst/>
              </a:prstGeom>
              <a:ln w="9525">
                <a:solidFill>
                  <a:schemeClr val="accent1">
                    <a:alpha val="50000"/>
                  </a:schemeClr>
                </a:solidFill>
                <a:prstDash val="dash"/>
              </a:ln>
            </p:spPr>
          </p:cxnSp>
        </p:grpSp>
      </p:grpSp>
    </p:spTree>
  </p:cSld>
  <p:clrMapOvr>
    <a:masterClrMapping/>
  </p:clrMapOvr>
  <p:transition spd="fast"/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用户交互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flipH="true">
            <a:off x="6594565" y="1941373"/>
            <a:ext cx="4965700" cy="3595087"/>
          </a:xfrm>
          <a:prstGeom prst="roundRect">
            <a:avLst>
              <a:gd name="adj" fmla="val 6000"/>
            </a:avLst>
          </a:prstGeom>
          <a:blipFill>
            <a:blip r:embed="rId2"/>
            <a:srcRect/>
            <a:stretch>
              <a:fillRect t="0" l="0" b="615" r="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1658909" y="1596446"/>
            <a:ext cx="4813810" cy="338555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用户输入处理</a:t>
            </a:r>
          </a:p>
        </p:txBody>
      </p:sp>
      <p:sp>
        <p:nvSpPr>
          <p:cNvPr name="AutoShape 5" id="5"/>
          <p:cNvSpPr/>
          <p:nvPr/>
        </p:nvSpPr>
        <p:spPr>
          <a:xfrm>
            <a:off x="1658909" y="1872298"/>
            <a:ext cx="4813810" cy="70057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AI能够快速处理用户输入的文字、图片或数据，并生成相应的PPT内容，提升用户操作效率。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960878" y="1734948"/>
            <a:ext cx="614386" cy="527200"/>
          </a:xfrm>
          <a:prstGeom prst="roundRect">
            <a:avLst>
              <a:gd name="adj" fmla="val 1942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effectLst>
            <a:outerShdw algn="ctr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anchor="ctr" rtlCol="false" vert="horz" wrap="squar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658909" y="3355221"/>
            <a:ext cx="4813810" cy="338555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实时预览功能</a:t>
            </a:r>
          </a:p>
        </p:txBody>
      </p:sp>
      <p:sp>
        <p:nvSpPr>
          <p:cNvPr name="AutoShape 8" id="8"/>
          <p:cNvSpPr/>
          <p:nvPr/>
        </p:nvSpPr>
        <p:spPr>
          <a:xfrm>
            <a:off x="1658909" y="3631070"/>
            <a:ext cx="4813810" cy="70057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用户可以在编辑过程中实时预览PPT效果，方便随时调整内容和布局。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960878" y="3493721"/>
            <a:ext cx="614386" cy="527200"/>
          </a:xfrm>
          <a:prstGeom prst="roundRect">
            <a:avLst>
              <a:gd name="adj" fmla="val 19426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effectLst>
            <a:outerShdw algn="ctr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anchor="ctr" rtlCol="false" vert="horz" wrap="non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>
            <a:off x="1658909" y="4987045"/>
            <a:ext cx="4813810" cy="338554"/>
          </a:xfrm>
          <a:prstGeom prst="rect">
            <a:avLst/>
          </a:prstGeom>
          <a:noFill/>
          <a:ln>
            <a:noFill/>
          </a:ln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用户反馈机制</a:t>
            </a:r>
          </a:p>
        </p:txBody>
      </p:sp>
      <p:sp>
        <p:nvSpPr>
          <p:cNvPr name="AutoShape 11" id="11"/>
          <p:cNvSpPr/>
          <p:nvPr/>
        </p:nvSpPr>
        <p:spPr>
          <a:xfrm>
            <a:off x="1658909" y="5262893"/>
            <a:ext cx="4813810" cy="70057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AI根据用户反馈不断优化生成效果，确保生成的PPT内容更符合用户需求。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960878" y="5125545"/>
            <a:ext cx="614386" cy="527200"/>
          </a:xfrm>
          <a:prstGeom prst="roundRect">
            <a:avLst>
              <a:gd name="adj" fmla="val 19426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effectLst>
            <a:outerShdw algn="ctr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anchor="ctr" rtlCol="false" vert="horz" wrap="square" tIns="108000" lIns="108000" bIns="108000" rIns="108000">
            <a:noAutofit/>
          </a:bodyPr>
          <a:lstStyle/>
          <a:p>
            <a:pPr algn="ctr" marL="0">
              <a:defRPr/>
            </a:pPr>
            <a:r>
              <a:rPr lang="en-US" b="true" i="false" sz="18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299200" y="3157492"/>
            <a:ext cx="5197475" cy="646331"/>
          </a:xfrm>
        </p:spPr>
        <p:txBody>
          <a:bodyPr anchor="t" rtlCol="false" vert="horz" tIns="45720" lIns="91440" bIns="45720" rIns="9144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36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应用案例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299199" y="1797560"/>
            <a:ext cx="5197475" cy="1015663"/>
          </a:xfrm>
          <a:prstGeom prst="rect">
            <a:avLst/>
          </a:prstGeom>
        </p:spPr>
        <p:txBody>
          <a:bodyPr anchor="b" rtlCol="false" vert="horz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60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31838" y="1690086"/>
            <a:ext cx="3157220" cy="3656686"/>
          </a:xfrm>
          <a:prstGeom prst="round2DiagRect">
            <a:avLst/>
          </a:prstGeom>
          <a:solidFill>
            <a:schemeClr val="accent1">
              <a:alpha val="15000"/>
            </a:schemeClr>
          </a:solidFill>
          <a:ln cap="flat">
            <a:noFill/>
            <a:prstDash val="solid"/>
            <a:miter lim="800000"/>
          </a:ln>
          <a:effectLst/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AutoShape 3" id="3"/>
          <p:cNvSpPr/>
          <p:nvPr/>
        </p:nvSpPr>
        <p:spPr>
          <a:xfrm>
            <a:off x="951045" y="1984192"/>
            <a:ext cx="2677600" cy="57298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企业内部培训</a:t>
            </a:r>
          </a:p>
        </p:txBody>
      </p:sp>
      <p:sp>
        <p:nvSpPr>
          <p:cNvPr name="AutoShape 4" id="4"/>
          <p:cNvSpPr/>
          <p:nvPr/>
        </p:nvSpPr>
        <p:spPr>
          <a:xfrm>
            <a:off x="951045" y="2705984"/>
            <a:ext cx="2677599" cy="2215608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AI生成的PPT可用于企业内部培训，快速制作专业课件，提升培训效率。</a:t>
            </a:r>
          </a:p>
        </p:txBody>
      </p:sp>
      <p:sp>
        <p:nvSpPr>
          <p:cNvPr name="Freeform 5" id="5"/>
          <p:cNvSpPr/>
          <p:nvPr/>
        </p:nvSpPr>
        <p:spPr>
          <a:xfrm>
            <a:off x="951045" y="4892194"/>
            <a:ext cx="282241" cy="343598"/>
          </a:xfrm>
          <a:custGeom>
            <a:avLst/>
            <a:gdLst/>
            <a:ahLst/>
            <a:cxnLst/>
            <a:rect r="r" b="b" t="t" l="l"/>
            <a:pathLst>
              <a:path w="438150" h="533400" stroke="true" fill="norm" extrusionOk="true">
                <a:moveTo>
                  <a:pt x="284197" y="621"/>
                </a:moveTo>
                <a:cubicBezTo>
                  <a:pt x="285149" y="621"/>
                  <a:pt x="286102" y="621"/>
                  <a:pt x="286102" y="621"/>
                </a:cubicBezTo>
                <a:lnTo>
                  <a:pt x="286102" y="124446"/>
                </a:lnTo>
                <a:lnTo>
                  <a:pt x="286102" y="126351"/>
                </a:lnTo>
                <a:cubicBezTo>
                  <a:pt x="287055" y="141591"/>
                  <a:pt x="299437" y="153021"/>
                  <a:pt x="314677" y="153021"/>
                </a:cubicBezTo>
                <a:lnTo>
                  <a:pt x="314677" y="153021"/>
                </a:lnTo>
                <a:lnTo>
                  <a:pt x="438502" y="153021"/>
                </a:lnTo>
                <a:cubicBezTo>
                  <a:pt x="438502" y="153974"/>
                  <a:pt x="438502" y="154926"/>
                  <a:pt x="438502" y="154926"/>
                </a:cubicBezTo>
                <a:lnTo>
                  <a:pt x="438502" y="505446"/>
                </a:lnTo>
                <a:cubicBezTo>
                  <a:pt x="438502" y="521639"/>
                  <a:pt x="426120" y="534021"/>
                  <a:pt x="409927" y="534021"/>
                </a:cubicBezTo>
                <a:lnTo>
                  <a:pt x="28927" y="534021"/>
                </a:lnTo>
                <a:cubicBezTo>
                  <a:pt x="12734" y="534021"/>
                  <a:pt x="352" y="521639"/>
                  <a:pt x="352" y="505446"/>
                </a:cubicBezTo>
                <a:lnTo>
                  <a:pt x="352" y="29196"/>
                </a:lnTo>
                <a:cubicBezTo>
                  <a:pt x="352" y="13004"/>
                  <a:pt x="12734" y="621"/>
                  <a:pt x="28927" y="621"/>
                </a:cubicBezTo>
                <a:lnTo>
                  <a:pt x="284197" y="621"/>
                </a:lnTo>
                <a:close/>
                <a:moveTo>
                  <a:pt x="248002" y="200646"/>
                </a:moveTo>
                <a:lnTo>
                  <a:pt x="152752" y="200646"/>
                </a:lnTo>
                <a:lnTo>
                  <a:pt x="152752" y="410196"/>
                </a:lnTo>
                <a:lnTo>
                  <a:pt x="171802" y="410196"/>
                </a:lnTo>
                <a:lnTo>
                  <a:pt x="171802" y="314946"/>
                </a:lnTo>
                <a:lnTo>
                  <a:pt x="248002" y="314946"/>
                </a:lnTo>
                <a:lnTo>
                  <a:pt x="249907" y="314946"/>
                </a:lnTo>
                <a:cubicBezTo>
                  <a:pt x="280387" y="313994"/>
                  <a:pt x="305152" y="288276"/>
                  <a:pt x="305152" y="257796"/>
                </a:cubicBezTo>
                <a:cubicBezTo>
                  <a:pt x="305152" y="226364"/>
                  <a:pt x="279434" y="200646"/>
                  <a:pt x="248002" y="200646"/>
                </a:cubicBezTo>
                <a:lnTo>
                  <a:pt x="248002" y="200646"/>
                </a:lnTo>
                <a:close/>
                <a:moveTo>
                  <a:pt x="248002" y="219696"/>
                </a:moveTo>
                <a:cubicBezTo>
                  <a:pt x="268957" y="219696"/>
                  <a:pt x="286102" y="236841"/>
                  <a:pt x="286102" y="257796"/>
                </a:cubicBezTo>
                <a:cubicBezTo>
                  <a:pt x="286102" y="278751"/>
                  <a:pt x="268957" y="295896"/>
                  <a:pt x="248002" y="295896"/>
                </a:cubicBezTo>
                <a:lnTo>
                  <a:pt x="248002" y="295896"/>
                </a:lnTo>
                <a:lnTo>
                  <a:pt x="171802" y="295896"/>
                </a:lnTo>
                <a:lnTo>
                  <a:pt x="171802" y="219696"/>
                </a:lnTo>
                <a:lnTo>
                  <a:pt x="248002" y="219696"/>
                </a:lnTo>
                <a:close/>
                <a:moveTo>
                  <a:pt x="428977" y="133971"/>
                </a:moveTo>
                <a:lnTo>
                  <a:pt x="314677" y="133971"/>
                </a:lnTo>
                <a:lnTo>
                  <a:pt x="313724" y="133971"/>
                </a:lnTo>
                <a:cubicBezTo>
                  <a:pt x="308962" y="133019"/>
                  <a:pt x="305152" y="129209"/>
                  <a:pt x="305152" y="124446"/>
                </a:cubicBezTo>
                <a:lnTo>
                  <a:pt x="305152" y="124446"/>
                </a:lnTo>
                <a:lnTo>
                  <a:pt x="305152" y="10146"/>
                </a:lnTo>
                <a:lnTo>
                  <a:pt x="428977" y="133971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AutoShape 6" id="6"/>
          <p:cNvSpPr/>
          <p:nvPr/>
        </p:nvSpPr>
        <p:spPr>
          <a:xfrm>
            <a:off x="4573276" y="1726060"/>
            <a:ext cx="3157220" cy="3656686"/>
          </a:xfrm>
          <a:prstGeom prst="round2DiagRect">
            <a:avLst/>
          </a:prstGeom>
          <a:solidFill>
            <a:schemeClr val="accent2">
              <a:alpha val="15000"/>
            </a:schemeClr>
          </a:solidFill>
          <a:ln cap="flat">
            <a:noFill/>
            <a:prstDash val="solid"/>
            <a:miter lim="800000"/>
          </a:ln>
          <a:effectLst/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AutoShape 7" id="7"/>
          <p:cNvSpPr/>
          <p:nvPr/>
        </p:nvSpPr>
        <p:spPr>
          <a:xfrm>
            <a:off x="4792483" y="1975774"/>
            <a:ext cx="2677600" cy="57298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市场营销材料</a:t>
            </a:r>
          </a:p>
        </p:txBody>
      </p:sp>
      <p:sp>
        <p:nvSpPr>
          <p:cNvPr name="AutoShape 8" id="8"/>
          <p:cNvSpPr/>
          <p:nvPr/>
        </p:nvSpPr>
        <p:spPr>
          <a:xfrm>
            <a:off x="4792483" y="2697566"/>
            <a:ext cx="2677599" cy="2215608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企业利用AI生成PPT制作市场营销材料，快速响应市场需求，提升品牌形象。</a:t>
            </a:r>
          </a:p>
        </p:txBody>
      </p:sp>
      <p:sp>
        <p:nvSpPr>
          <p:cNvPr name="Freeform 9" id="9"/>
          <p:cNvSpPr/>
          <p:nvPr/>
        </p:nvSpPr>
        <p:spPr>
          <a:xfrm>
            <a:off x="4837342" y="4891808"/>
            <a:ext cx="325221" cy="343984"/>
          </a:xfrm>
          <a:custGeom>
            <a:avLst/>
            <a:gdLst/>
            <a:ahLst/>
            <a:cxnLst/>
            <a:rect r="r" b="b" t="t" l="l"/>
            <a:pathLst>
              <a:path w="495300" h="523875" stroke="true" fill="norm" extrusionOk="true">
                <a:moveTo>
                  <a:pt x="371955" y="621"/>
                </a:moveTo>
                <a:cubicBezTo>
                  <a:pt x="388148" y="621"/>
                  <a:pt x="400530" y="13004"/>
                  <a:pt x="400530" y="29196"/>
                </a:cubicBezTo>
                <a:lnTo>
                  <a:pt x="400530" y="133971"/>
                </a:lnTo>
                <a:cubicBezTo>
                  <a:pt x="400530" y="150164"/>
                  <a:pt x="388148" y="162546"/>
                  <a:pt x="371955" y="162546"/>
                </a:cubicBezTo>
                <a:lnTo>
                  <a:pt x="257655" y="162546"/>
                </a:lnTo>
                <a:lnTo>
                  <a:pt x="257655" y="286371"/>
                </a:lnTo>
                <a:lnTo>
                  <a:pt x="419580" y="286371"/>
                </a:lnTo>
                <a:cubicBezTo>
                  <a:pt x="439583" y="286371"/>
                  <a:pt x="456727" y="302564"/>
                  <a:pt x="457680" y="322566"/>
                </a:cubicBezTo>
                <a:lnTo>
                  <a:pt x="457680" y="324471"/>
                </a:lnTo>
                <a:lnTo>
                  <a:pt x="457680" y="429246"/>
                </a:lnTo>
                <a:lnTo>
                  <a:pt x="476730" y="429246"/>
                </a:lnTo>
                <a:cubicBezTo>
                  <a:pt x="487208" y="429246"/>
                  <a:pt x="495780" y="437819"/>
                  <a:pt x="495780" y="448296"/>
                </a:cubicBezTo>
                <a:lnTo>
                  <a:pt x="495780" y="505446"/>
                </a:lnTo>
                <a:cubicBezTo>
                  <a:pt x="495780" y="515924"/>
                  <a:pt x="487208" y="524496"/>
                  <a:pt x="476730" y="524496"/>
                </a:cubicBezTo>
                <a:lnTo>
                  <a:pt x="419580" y="524496"/>
                </a:lnTo>
                <a:cubicBezTo>
                  <a:pt x="409102" y="524496"/>
                  <a:pt x="400530" y="515924"/>
                  <a:pt x="400530" y="505446"/>
                </a:cubicBezTo>
                <a:lnTo>
                  <a:pt x="400530" y="448296"/>
                </a:lnTo>
                <a:cubicBezTo>
                  <a:pt x="400530" y="437819"/>
                  <a:pt x="409102" y="429246"/>
                  <a:pt x="419580" y="429246"/>
                </a:cubicBezTo>
                <a:lnTo>
                  <a:pt x="438630" y="429246"/>
                </a:lnTo>
                <a:lnTo>
                  <a:pt x="438630" y="324471"/>
                </a:lnTo>
                <a:cubicBezTo>
                  <a:pt x="438630" y="313994"/>
                  <a:pt x="431010" y="306374"/>
                  <a:pt x="420533" y="305421"/>
                </a:cubicBezTo>
                <a:lnTo>
                  <a:pt x="419580" y="305421"/>
                </a:lnTo>
                <a:lnTo>
                  <a:pt x="257655" y="305421"/>
                </a:lnTo>
                <a:lnTo>
                  <a:pt x="257655" y="429246"/>
                </a:lnTo>
                <a:lnTo>
                  <a:pt x="276705" y="429246"/>
                </a:lnTo>
                <a:cubicBezTo>
                  <a:pt x="287183" y="429246"/>
                  <a:pt x="295755" y="437819"/>
                  <a:pt x="295755" y="448296"/>
                </a:cubicBezTo>
                <a:lnTo>
                  <a:pt x="295755" y="505446"/>
                </a:lnTo>
                <a:cubicBezTo>
                  <a:pt x="295755" y="515924"/>
                  <a:pt x="287183" y="524496"/>
                  <a:pt x="276705" y="524496"/>
                </a:cubicBezTo>
                <a:lnTo>
                  <a:pt x="219555" y="524496"/>
                </a:lnTo>
                <a:cubicBezTo>
                  <a:pt x="209077" y="524496"/>
                  <a:pt x="200505" y="515924"/>
                  <a:pt x="200505" y="505446"/>
                </a:cubicBezTo>
                <a:lnTo>
                  <a:pt x="200505" y="448296"/>
                </a:lnTo>
                <a:cubicBezTo>
                  <a:pt x="200505" y="437819"/>
                  <a:pt x="209077" y="429246"/>
                  <a:pt x="219555" y="429246"/>
                </a:cubicBezTo>
                <a:lnTo>
                  <a:pt x="238605" y="429246"/>
                </a:lnTo>
                <a:lnTo>
                  <a:pt x="238605" y="305421"/>
                </a:lnTo>
                <a:lnTo>
                  <a:pt x="76680" y="305421"/>
                </a:lnTo>
                <a:cubicBezTo>
                  <a:pt x="66202" y="305421"/>
                  <a:pt x="58583" y="313041"/>
                  <a:pt x="57630" y="323519"/>
                </a:cubicBezTo>
                <a:lnTo>
                  <a:pt x="57630" y="324471"/>
                </a:lnTo>
                <a:lnTo>
                  <a:pt x="57630" y="429246"/>
                </a:lnTo>
                <a:lnTo>
                  <a:pt x="76680" y="429246"/>
                </a:lnTo>
                <a:cubicBezTo>
                  <a:pt x="87158" y="429246"/>
                  <a:pt x="95730" y="437819"/>
                  <a:pt x="95730" y="448296"/>
                </a:cubicBezTo>
                <a:lnTo>
                  <a:pt x="95730" y="505446"/>
                </a:lnTo>
                <a:cubicBezTo>
                  <a:pt x="95730" y="515924"/>
                  <a:pt x="87158" y="524496"/>
                  <a:pt x="76680" y="524496"/>
                </a:cubicBezTo>
                <a:lnTo>
                  <a:pt x="19530" y="524496"/>
                </a:lnTo>
                <a:cubicBezTo>
                  <a:pt x="9052" y="524496"/>
                  <a:pt x="480" y="515924"/>
                  <a:pt x="480" y="505446"/>
                </a:cubicBezTo>
                <a:lnTo>
                  <a:pt x="480" y="448296"/>
                </a:lnTo>
                <a:cubicBezTo>
                  <a:pt x="480" y="437819"/>
                  <a:pt x="9052" y="429246"/>
                  <a:pt x="19530" y="429246"/>
                </a:cubicBezTo>
                <a:lnTo>
                  <a:pt x="38580" y="429246"/>
                </a:lnTo>
                <a:lnTo>
                  <a:pt x="38580" y="324471"/>
                </a:lnTo>
                <a:cubicBezTo>
                  <a:pt x="38580" y="304469"/>
                  <a:pt x="54773" y="287324"/>
                  <a:pt x="74775" y="286371"/>
                </a:cubicBezTo>
                <a:lnTo>
                  <a:pt x="76680" y="286371"/>
                </a:lnTo>
                <a:lnTo>
                  <a:pt x="238605" y="286371"/>
                </a:lnTo>
                <a:lnTo>
                  <a:pt x="238605" y="162546"/>
                </a:lnTo>
                <a:lnTo>
                  <a:pt x="124305" y="162546"/>
                </a:lnTo>
                <a:cubicBezTo>
                  <a:pt x="108112" y="162546"/>
                  <a:pt x="95730" y="150164"/>
                  <a:pt x="95730" y="133971"/>
                </a:cubicBezTo>
                <a:lnTo>
                  <a:pt x="95730" y="29196"/>
                </a:lnTo>
                <a:cubicBezTo>
                  <a:pt x="95730" y="13004"/>
                  <a:pt x="108112" y="621"/>
                  <a:pt x="124305" y="621"/>
                </a:cubicBezTo>
                <a:lnTo>
                  <a:pt x="371955" y="621"/>
                </a:lnTo>
                <a:close/>
                <a:moveTo>
                  <a:pt x="148118" y="95871"/>
                </a:moveTo>
                <a:cubicBezTo>
                  <a:pt x="140498" y="95871"/>
                  <a:pt x="133830" y="102539"/>
                  <a:pt x="133830" y="110159"/>
                </a:cubicBezTo>
                <a:cubicBezTo>
                  <a:pt x="133830" y="117779"/>
                  <a:pt x="140498" y="124446"/>
                  <a:pt x="148118" y="124446"/>
                </a:cubicBezTo>
                <a:cubicBezTo>
                  <a:pt x="155737" y="124446"/>
                  <a:pt x="162405" y="117779"/>
                  <a:pt x="162405" y="110159"/>
                </a:cubicBezTo>
                <a:cubicBezTo>
                  <a:pt x="162405" y="102539"/>
                  <a:pt x="155737" y="95871"/>
                  <a:pt x="148118" y="95871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AutoShape 10" id="10"/>
          <p:cNvSpPr/>
          <p:nvPr/>
        </p:nvSpPr>
        <p:spPr>
          <a:xfrm>
            <a:off x="8414713" y="1726060"/>
            <a:ext cx="3157221" cy="3612294"/>
          </a:xfrm>
          <a:prstGeom prst="round2DiagRect">
            <a:avLst/>
          </a:prstGeom>
          <a:solidFill>
            <a:schemeClr val="accent3">
              <a:alpha val="15000"/>
            </a:schemeClr>
          </a:solidFill>
          <a:ln cap="flat">
            <a:noFill/>
            <a:prstDash val="solid"/>
            <a:miter lim="800000"/>
          </a:ln>
          <a:effectLst/>
        </p:spPr>
        <p:txBody>
          <a:bodyPr vert="horz" anchor="ctr" tIns="45720" lIns="91440" bIns="45720" rIns="91440"/>
          <a:p>
            <a:pPr algn="l" marL="0"/>
          </a:p>
        </p:txBody>
      </p:sp>
      <p:sp>
        <p:nvSpPr>
          <p:cNvPr name="AutoShape 11" id="11"/>
          <p:cNvSpPr/>
          <p:nvPr/>
        </p:nvSpPr>
        <p:spPr>
          <a:xfrm>
            <a:off x="8599203" y="1975775"/>
            <a:ext cx="2677600" cy="572986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00000"/>
              </a:lnSpc>
            </a:pPr>
            <a:r>
              <a:rPr lang="zh-CN" b="true" i="false" sz="1600" baseline="0" u="none" altLang="en-US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项目汇报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599203" y="2697566"/>
            <a:ext cx="2677600" cy="2215607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AI生成的PPT帮助项目团队快速整理项目进展，生成高质量的汇报材料。</a:t>
            </a:r>
          </a:p>
        </p:txBody>
      </p:sp>
      <p:sp>
        <p:nvSpPr>
          <p:cNvPr name="Freeform 13" id="13"/>
          <p:cNvSpPr/>
          <p:nvPr/>
        </p:nvSpPr>
        <p:spPr>
          <a:xfrm>
            <a:off x="8751981" y="4973113"/>
            <a:ext cx="350239" cy="262679"/>
          </a:xfrm>
          <a:custGeom>
            <a:avLst/>
            <a:gdLst/>
            <a:ahLst/>
            <a:cxnLst/>
            <a:rect r="r" b="b" t="t" l="l"/>
            <a:pathLst>
              <a:path w="533400" h="400050" stroke="true" fill="norm" extrusionOk="true">
                <a:moveTo>
                  <a:pt x="505433" y="621"/>
                </a:moveTo>
                <a:cubicBezTo>
                  <a:pt x="521626" y="621"/>
                  <a:pt x="534008" y="13004"/>
                  <a:pt x="534008" y="29196"/>
                </a:cubicBezTo>
                <a:lnTo>
                  <a:pt x="534008" y="372096"/>
                </a:lnTo>
                <a:cubicBezTo>
                  <a:pt x="534008" y="388289"/>
                  <a:pt x="521626" y="400671"/>
                  <a:pt x="505433" y="400671"/>
                </a:cubicBezTo>
                <a:lnTo>
                  <a:pt x="29183" y="400671"/>
                </a:lnTo>
                <a:cubicBezTo>
                  <a:pt x="12990" y="400671"/>
                  <a:pt x="608" y="388289"/>
                  <a:pt x="608" y="372096"/>
                </a:cubicBezTo>
                <a:lnTo>
                  <a:pt x="608" y="29196"/>
                </a:lnTo>
                <a:cubicBezTo>
                  <a:pt x="608" y="13004"/>
                  <a:pt x="12990" y="621"/>
                  <a:pt x="29183" y="621"/>
                </a:cubicBezTo>
                <a:lnTo>
                  <a:pt x="505433" y="621"/>
                </a:lnTo>
                <a:close/>
                <a:moveTo>
                  <a:pt x="391133" y="198741"/>
                </a:moveTo>
                <a:cubicBezTo>
                  <a:pt x="378751" y="189216"/>
                  <a:pt x="360653" y="192074"/>
                  <a:pt x="351128" y="204456"/>
                </a:cubicBezTo>
                <a:lnTo>
                  <a:pt x="351128" y="204456"/>
                </a:lnTo>
                <a:lnTo>
                  <a:pt x="267308" y="315899"/>
                </a:lnTo>
                <a:cubicBezTo>
                  <a:pt x="266355" y="316851"/>
                  <a:pt x="265403" y="317804"/>
                  <a:pt x="264451" y="318756"/>
                </a:cubicBezTo>
                <a:cubicBezTo>
                  <a:pt x="253021" y="330186"/>
                  <a:pt x="234923" y="330186"/>
                  <a:pt x="224446" y="318756"/>
                </a:cubicBezTo>
                <a:lnTo>
                  <a:pt x="224446" y="318756"/>
                </a:lnTo>
                <a:lnTo>
                  <a:pt x="162533" y="257796"/>
                </a:lnTo>
                <a:cubicBezTo>
                  <a:pt x="161580" y="256844"/>
                  <a:pt x="161580" y="256844"/>
                  <a:pt x="160628" y="255891"/>
                </a:cubicBezTo>
                <a:cubicBezTo>
                  <a:pt x="148246" y="245414"/>
                  <a:pt x="130148" y="247319"/>
                  <a:pt x="120623" y="259701"/>
                </a:cubicBezTo>
                <a:lnTo>
                  <a:pt x="120623" y="259701"/>
                </a:lnTo>
                <a:lnTo>
                  <a:pt x="32993" y="366381"/>
                </a:lnTo>
                <a:cubicBezTo>
                  <a:pt x="32040" y="368286"/>
                  <a:pt x="31088" y="370191"/>
                  <a:pt x="31088" y="372096"/>
                </a:cubicBezTo>
                <a:cubicBezTo>
                  <a:pt x="31088" y="377811"/>
                  <a:pt x="34898" y="381621"/>
                  <a:pt x="40613" y="381621"/>
                </a:cubicBezTo>
                <a:lnTo>
                  <a:pt x="40613" y="381621"/>
                </a:lnTo>
                <a:lnTo>
                  <a:pt x="497813" y="381621"/>
                </a:lnTo>
                <a:cubicBezTo>
                  <a:pt x="499718" y="381621"/>
                  <a:pt x="501623" y="380669"/>
                  <a:pt x="503528" y="379716"/>
                </a:cubicBezTo>
                <a:cubicBezTo>
                  <a:pt x="508290" y="376859"/>
                  <a:pt x="509243" y="371144"/>
                  <a:pt x="506386" y="366381"/>
                </a:cubicBezTo>
                <a:lnTo>
                  <a:pt x="506386" y="366381"/>
                </a:lnTo>
                <a:lnTo>
                  <a:pt x="398753" y="205409"/>
                </a:lnTo>
                <a:cubicBezTo>
                  <a:pt x="395896" y="202551"/>
                  <a:pt x="393990" y="200646"/>
                  <a:pt x="391133" y="198741"/>
                </a:cubicBezTo>
                <a:close/>
                <a:moveTo>
                  <a:pt x="95858" y="57771"/>
                </a:moveTo>
                <a:cubicBezTo>
                  <a:pt x="74903" y="57771"/>
                  <a:pt x="57758" y="74916"/>
                  <a:pt x="57758" y="95871"/>
                </a:cubicBezTo>
                <a:cubicBezTo>
                  <a:pt x="57758" y="116826"/>
                  <a:pt x="74903" y="133971"/>
                  <a:pt x="95858" y="133971"/>
                </a:cubicBezTo>
                <a:cubicBezTo>
                  <a:pt x="116813" y="133971"/>
                  <a:pt x="133958" y="116826"/>
                  <a:pt x="133958" y="95871"/>
                </a:cubicBezTo>
                <a:cubicBezTo>
                  <a:pt x="133958" y="74916"/>
                  <a:pt x="116813" y="57771"/>
                  <a:pt x="95858" y="57771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vert="horz" anchor="ctr" wrap="none" tIns="108000" lIns="108000" bIns="108000" rIns="108000">
            <a:noAutofit/>
          </a:bodyPr>
          <a:p>
            <a:pPr algn="ctr" marL="0"/>
          </a:p>
        </p:txBody>
      </p:sp>
      <p:sp>
        <p:nvSpPr>
          <p:cNvPr name="TextBox 14" id="14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企业应用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教育应用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>
            <a:off x="679450" y="3073059"/>
            <a:ext cx="10845800" cy="0"/>
          </a:xfrm>
          <a:prstGeom prst="line">
            <a:avLst/>
          </a:prstGeom>
          <a:ln w="12700">
            <a:solidFill>
              <a:schemeClr val="accent1">
                <a:alpha val="20000"/>
              </a:schemeClr>
            </a:solidFill>
            <a:prstDash val="lgDash"/>
          </a:ln>
        </p:spPr>
      </p:cxnSp>
      <p:sp>
        <p:nvSpPr>
          <p:cNvPr name="AutoShape 4" id="4"/>
          <p:cNvSpPr/>
          <p:nvPr/>
        </p:nvSpPr>
        <p:spPr>
          <a:xfrm>
            <a:off x="3894245" y="1728205"/>
            <a:ext cx="581891" cy="478848"/>
          </a:xfrm>
          <a:prstGeom prst="rightArrow">
            <a:avLst/>
          </a:prstGeom>
          <a:gradFill rotWithShape="true" flip="none">
            <a:gsLst>
              <a:gs pos="0">
                <a:schemeClr val="accent1">
                  <a:alpha val="0"/>
                  <a:lumMod val="20000"/>
                  <a:lumOff val="80000"/>
                </a:schemeClr>
              </a:gs>
              <a:gs pos="100000">
                <a:schemeClr val="accent1"/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7760703" y="1728205"/>
            <a:ext cx="581891" cy="478848"/>
          </a:xfrm>
          <a:prstGeom prst="rightArrow">
            <a:avLst/>
          </a:prstGeom>
          <a:gradFill rotWithShape="true" flip="none">
            <a:gsLst>
              <a:gs pos="0">
                <a:schemeClr val="accent2">
                  <a:alpha val="0"/>
                  <a:lumMod val="20000"/>
                  <a:lumOff val="80000"/>
                </a:schemeClr>
              </a:gs>
              <a:gs pos="100000">
                <a:schemeClr val="accent2"/>
              </a:gs>
            </a:gsLst>
            <a:tileRect/>
          </a:gra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9445520" y="1368409"/>
            <a:ext cx="913548" cy="1198440"/>
          </a:xfrm>
          <a:custGeom>
            <a:avLst/>
            <a:gdLst/>
            <a:ahLst/>
            <a:cxnLst/>
            <a:rect r="r" b="b" t="t" l="l"/>
            <a:pathLst>
              <a:path w="200" h="263" stroke="true" fill="norm" extrusionOk="true">
                <a:moveTo>
                  <a:pt x="186" y="152"/>
                </a:moveTo>
                <a:cubicBezTo>
                  <a:pt x="185" y="152"/>
                  <a:pt x="185" y="152"/>
                  <a:pt x="185" y="152"/>
                </a:cubicBezTo>
                <a:cubicBezTo>
                  <a:pt x="195" y="137"/>
                  <a:pt x="200" y="119"/>
                  <a:pt x="200" y="100"/>
                </a:cubicBezTo>
                <a:cubicBezTo>
                  <a:pt x="200" y="45"/>
                  <a:pt x="155" y="0"/>
                  <a:pt x="100" y="0"/>
                </a:cubicBezTo>
                <a:cubicBezTo>
                  <a:pt x="45" y="0"/>
                  <a:pt x="0" y="45"/>
                  <a:pt x="0" y="100"/>
                </a:cubicBezTo>
                <a:cubicBezTo>
                  <a:pt x="0" y="126"/>
                  <a:pt x="10" y="149"/>
                  <a:pt x="26" y="167"/>
                </a:cubicBezTo>
                <a:cubicBezTo>
                  <a:pt x="91" y="256"/>
                  <a:pt x="91" y="256"/>
                  <a:pt x="91" y="256"/>
                </a:cubicBezTo>
                <a:cubicBezTo>
                  <a:pt x="95" y="263"/>
                  <a:pt x="105" y="263"/>
                  <a:pt x="109" y="256"/>
                </a:cubicBezTo>
                <a:cubicBezTo>
                  <a:pt x="109" y="256"/>
                  <a:pt x="182" y="158"/>
                  <a:pt x="184" y="155"/>
                </a:cubicBezTo>
                <a:lnTo>
                  <a:pt x="186" y="1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name="AutoShape 7" id="7"/>
          <p:cNvSpPr/>
          <p:nvPr/>
        </p:nvSpPr>
        <p:spPr>
          <a:xfrm>
            <a:off x="9597494" y="1522397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  <a:r>
              <a:rPr lang="en-US" b="true" i="false" sz="1600" baseline="0" u="none">
                <a:solidFill>
                  <a:schemeClr val="accent1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AutoShape 8" id="8"/>
          <p:cNvSpPr/>
          <p:nvPr/>
        </p:nvSpPr>
        <p:spPr>
          <a:xfrm>
            <a:off x="9794229" y="2964994"/>
            <a:ext cx="216131" cy="216131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8540751" y="3289190"/>
            <a:ext cx="2723088" cy="7724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>
              <a:lnSpc>
                <a:spcPct val="150000"/>
              </a:lnSpc>
            </a:pPr>
            <a:r>
              <a:rPr lang="zh-CN" b="true" i="false" sz="1600" baseline="0" u="none" altLang="en-US">
                <a:solidFill>
                  <a:schemeClr val="bg1"/>
                </a:solidFill>
                <a:effectLst/>
                <a:latin typeface="微软雅黑"/>
                <a:ea typeface="微软雅黑"/>
              </a:rPr>
              <a:t>学术报告生成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540751" y="4196443"/>
            <a:ext cx="2723088" cy="147229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研究人员利用AI生成PPT制作学术报告，快速整理研究成果，提升报告质量。</a:t>
            </a:r>
          </a:p>
        </p:txBody>
      </p:sp>
      <p:sp>
        <p:nvSpPr>
          <p:cNvPr name="Freeform 11" id="11"/>
          <p:cNvSpPr/>
          <p:nvPr/>
        </p:nvSpPr>
        <p:spPr>
          <a:xfrm>
            <a:off x="5654570" y="1368409"/>
            <a:ext cx="913548" cy="1198440"/>
          </a:xfrm>
          <a:custGeom>
            <a:avLst/>
            <a:gdLst/>
            <a:ahLst/>
            <a:cxnLst/>
            <a:rect r="r" b="b" t="t" l="l"/>
            <a:pathLst>
              <a:path w="200" h="263" stroke="true" fill="norm" extrusionOk="true">
                <a:moveTo>
                  <a:pt x="186" y="152"/>
                </a:moveTo>
                <a:cubicBezTo>
                  <a:pt x="185" y="152"/>
                  <a:pt x="185" y="152"/>
                  <a:pt x="185" y="152"/>
                </a:cubicBezTo>
                <a:cubicBezTo>
                  <a:pt x="195" y="137"/>
                  <a:pt x="200" y="119"/>
                  <a:pt x="200" y="100"/>
                </a:cubicBezTo>
                <a:cubicBezTo>
                  <a:pt x="200" y="45"/>
                  <a:pt x="155" y="0"/>
                  <a:pt x="100" y="0"/>
                </a:cubicBezTo>
                <a:cubicBezTo>
                  <a:pt x="45" y="0"/>
                  <a:pt x="0" y="45"/>
                  <a:pt x="0" y="100"/>
                </a:cubicBezTo>
                <a:cubicBezTo>
                  <a:pt x="0" y="126"/>
                  <a:pt x="10" y="149"/>
                  <a:pt x="26" y="167"/>
                </a:cubicBezTo>
                <a:cubicBezTo>
                  <a:pt x="91" y="256"/>
                  <a:pt x="91" y="256"/>
                  <a:pt x="91" y="256"/>
                </a:cubicBezTo>
                <a:cubicBezTo>
                  <a:pt x="95" y="263"/>
                  <a:pt x="105" y="263"/>
                  <a:pt x="109" y="256"/>
                </a:cubicBezTo>
                <a:cubicBezTo>
                  <a:pt x="109" y="256"/>
                  <a:pt x="182" y="158"/>
                  <a:pt x="184" y="155"/>
                </a:cubicBezTo>
                <a:lnTo>
                  <a:pt x="186" y="152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5806544" y="1522397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  <a:r>
              <a:rPr lang="en-US" b="true" i="false" sz="1600" baseline="0" u="none">
                <a:solidFill>
                  <a:schemeClr val="accent2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AutoShape 13" id="13"/>
          <p:cNvSpPr/>
          <p:nvPr/>
        </p:nvSpPr>
        <p:spPr>
          <a:xfrm>
            <a:off x="6003279" y="2964994"/>
            <a:ext cx="216131" cy="216131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/>
          </a:p>
        </p:txBody>
      </p:sp>
      <p:sp>
        <p:nvSpPr>
          <p:cNvPr name="AutoShape 14" id="14"/>
          <p:cNvSpPr/>
          <p:nvPr/>
        </p:nvSpPr>
        <p:spPr>
          <a:xfrm>
            <a:off x="4749801" y="3289190"/>
            <a:ext cx="2723088" cy="7724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2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>
              <a:lnSpc>
                <a:spcPct val="150000"/>
              </a:lnSpc>
            </a:pPr>
            <a:r>
              <a:rPr lang="zh-CN" b="true" i="false" sz="1600" baseline="0" u="none" altLang="en-US">
                <a:solidFill>
                  <a:schemeClr val="bg1"/>
                </a:solidFill>
                <a:effectLst/>
                <a:latin typeface="微软雅黑"/>
                <a:ea typeface="微软雅黑"/>
              </a:rPr>
              <a:t>学生作业展示</a:t>
            </a:r>
          </a:p>
        </p:txBody>
      </p:sp>
      <p:sp>
        <p:nvSpPr>
          <p:cNvPr name="AutoShape 15" id="15"/>
          <p:cNvSpPr/>
          <p:nvPr/>
        </p:nvSpPr>
        <p:spPr>
          <a:xfrm>
            <a:off x="4749801" y="4196443"/>
            <a:ext cx="2723088" cy="147229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学生使用AI生成PPT展示作业成果，提升作业的专业性和视觉效果。</a:t>
            </a:r>
          </a:p>
        </p:txBody>
      </p:sp>
      <p:sp>
        <p:nvSpPr>
          <p:cNvPr name="Freeform 16" id="16"/>
          <p:cNvSpPr/>
          <p:nvPr/>
        </p:nvSpPr>
        <p:spPr>
          <a:xfrm>
            <a:off x="1863620" y="1368409"/>
            <a:ext cx="913548" cy="1198440"/>
          </a:xfrm>
          <a:custGeom>
            <a:avLst/>
            <a:gdLst/>
            <a:ahLst/>
            <a:cxnLst/>
            <a:rect r="r" b="b" t="t" l="l"/>
            <a:pathLst>
              <a:path w="200" h="263" stroke="true" fill="norm" extrusionOk="true">
                <a:moveTo>
                  <a:pt x="186" y="152"/>
                </a:moveTo>
                <a:cubicBezTo>
                  <a:pt x="185" y="152"/>
                  <a:pt x="185" y="152"/>
                  <a:pt x="185" y="152"/>
                </a:cubicBezTo>
                <a:cubicBezTo>
                  <a:pt x="195" y="137"/>
                  <a:pt x="200" y="119"/>
                  <a:pt x="200" y="100"/>
                </a:cubicBezTo>
                <a:cubicBezTo>
                  <a:pt x="200" y="45"/>
                  <a:pt x="155" y="0"/>
                  <a:pt x="100" y="0"/>
                </a:cubicBezTo>
                <a:cubicBezTo>
                  <a:pt x="45" y="0"/>
                  <a:pt x="0" y="45"/>
                  <a:pt x="0" y="100"/>
                </a:cubicBezTo>
                <a:cubicBezTo>
                  <a:pt x="0" y="126"/>
                  <a:pt x="10" y="149"/>
                  <a:pt x="26" y="167"/>
                </a:cubicBezTo>
                <a:cubicBezTo>
                  <a:pt x="91" y="256"/>
                  <a:pt x="91" y="256"/>
                  <a:pt x="91" y="256"/>
                </a:cubicBezTo>
                <a:cubicBezTo>
                  <a:pt x="95" y="263"/>
                  <a:pt x="105" y="263"/>
                  <a:pt x="109" y="256"/>
                </a:cubicBezTo>
                <a:cubicBezTo>
                  <a:pt x="109" y="256"/>
                  <a:pt x="182" y="158"/>
                  <a:pt x="184" y="155"/>
                </a:cubicBezTo>
                <a:lnTo>
                  <a:pt x="186" y="152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/>
            <a:r>
              <a:rPr lang="en-US" b="true" i="false" sz="2000" baseline="0" u="none">
                <a:solidFill>
                  <a:schemeClr val="lt1"/>
                </a:solidFill>
                <a:latin typeface="Arial"/>
                <a:ea typeface="Arial"/>
              </a:rPr>
              <a:t>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2015594" y="1522397"/>
            <a:ext cx="609600" cy="609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  <a:r>
              <a:rPr lang="en-US" b="true" i="false" sz="1600" baseline="0" u="none">
                <a:solidFill>
                  <a:schemeClr val="accent1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AutoShape 18" id="18"/>
          <p:cNvSpPr/>
          <p:nvPr/>
        </p:nvSpPr>
        <p:spPr>
          <a:xfrm>
            <a:off x="2212329" y="2964994"/>
            <a:ext cx="216131" cy="216131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/>
          </a:p>
        </p:txBody>
      </p:sp>
      <p:sp>
        <p:nvSpPr>
          <p:cNvPr name="AutoShape 19" id="19"/>
          <p:cNvSpPr/>
          <p:nvPr/>
        </p:nvSpPr>
        <p:spPr>
          <a:xfrm>
            <a:off x="958851" y="3289190"/>
            <a:ext cx="2723088" cy="7724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</a:gsLst>
            <a:lin ang="2700000"/>
          </a:gradFill>
          <a:ln>
            <a:noFill/>
          </a:ln>
          <a:effectLst>
            <a:outerShdw algn="tl" blurRad="177800" dir="2700000" dist="152400" rotWithShape="false">
              <a:schemeClr val="accent1">
                <a:alpha val="20000"/>
              </a:schemeClr>
            </a:outerShdw>
          </a:effectLst>
        </p:spPr>
        <p:txBody>
          <a:bodyPr vert="horz" anchor="ctr" tIns="0" lIns="0" bIns="0" rIns="0"/>
          <a:p>
            <a:pPr algn="ctr" marL="0">
              <a:lnSpc>
                <a:spcPct val="150000"/>
              </a:lnSpc>
            </a:pPr>
            <a:r>
              <a:rPr lang="zh-CN" b="true" i="false" sz="1600" baseline="0" u="none" altLang="en-US">
                <a:solidFill>
                  <a:schemeClr val="bg1"/>
                </a:solidFill>
                <a:effectLst/>
                <a:latin typeface="微软雅黑"/>
                <a:ea typeface="微软雅黑"/>
              </a:rPr>
              <a:t>教学课件制作</a:t>
            </a:r>
          </a:p>
        </p:txBody>
      </p:sp>
      <p:sp>
        <p:nvSpPr>
          <p:cNvPr name="AutoShape 20" id="20"/>
          <p:cNvSpPr/>
          <p:nvPr/>
        </p:nvSpPr>
        <p:spPr>
          <a:xfrm>
            <a:off x="958851" y="4196443"/>
            <a:ext cx="2723088" cy="1472299"/>
          </a:xfrm>
          <a:prstGeom prst="rect">
            <a:avLst/>
          </a:prstGeom>
          <a:noFill/>
          <a:ln>
            <a:noFill/>
          </a:ln>
        </p:spPr>
        <p:txBody>
          <a:bodyPr vert="horz" anchor="t" wrap="square" tIns="108000" lIns="108000" bIns="108000" rIns="108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教师利用AI生成PPT快速制作教学课件，节省备课时间，提升教学质量。</a:t>
            </a:r>
          </a:p>
        </p:txBody>
      </p:sp>
    </p:spTree>
  </p:cSld>
  <p:clrMapOvr>
    <a:masterClrMapping/>
  </p:clrMapOvr>
  <p:transition spd="fast"/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299200" y="3157492"/>
            <a:ext cx="5197475" cy="646331"/>
          </a:xfrm>
        </p:spPr>
        <p:txBody>
          <a:bodyPr anchor="t" rtlCol="false" vert="horz" tIns="45720" lIns="91440" bIns="45720" rIns="9144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36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挑战与解决方案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299199" y="1797560"/>
            <a:ext cx="5197475" cy="1015663"/>
          </a:xfrm>
          <a:prstGeom prst="rect">
            <a:avLst/>
          </a:prstGeom>
        </p:spPr>
        <p:txBody>
          <a:bodyPr anchor="b" rtlCol="false" vert="horz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60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技术挑战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10800000">
            <a:off x="10754321" y="1741644"/>
            <a:ext cx="361465" cy="311608"/>
          </a:xfrm>
          <a:prstGeom prst="triangle">
            <a:avLst/>
          </a:prstGeom>
          <a:solidFill>
            <a:schemeClr val="tx1">
              <a:alpha val="20000"/>
              <a:lumMod val="50000"/>
              <a:lumOff val="50000"/>
            </a:schemeClr>
          </a:solidFill>
          <a:ln>
            <a:noFill/>
          </a:ln>
        </p:spPr>
        <p:txBody>
          <a:bodyPr vert="horz" anchor="ctr" tIns="45720" lIns="91440" bIns="45720" rIns="91440"/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>
            <a:off x="10666564" y="0"/>
            <a:ext cx="1525435" cy="1864194"/>
          </a:xfrm>
          <a:custGeom>
            <a:avLst/>
            <a:gdLst/>
            <a:ahLst/>
            <a:cxnLst/>
            <a:rect r="r" b="b" t="t" l="l"/>
            <a:pathLst>
              <a:path w="1749552" h="2138082" stroke="true" fill="norm" extrusionOk="true">
                <a:moveTo>
                  <a:pt x="0" y="0"/>
                </a:moveTo>
                <a:lnTo>
                  <a:pt x="1749552" y="0"/>
                </a:lnTo>
                <a:lnTo>
                  <a:pt x="1749552" y="1259694"/>
                </a:lnTo>
                <a:lnTo>
                  <a:pt x="1240087" y="2138082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1893159" y="1416293"/>
            <a:ext cx="2367526" cy="268941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false" i="false" sz="1600" baseline="0" u="none">
                <a:solidFill>
                  <a:schemeClr val="accent2"/>
                </a:solidFill>
                <a:latin typeface="Arial"/>
                <a:ea typeface="Arial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782771" y="2211448"/>
            <a:ext cx="258830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chemeClr val="tx1"/>
                </a:solidFill>
                <a:latin typeface="微软雅黑"/>
                <a:ea typeface="微软雅黑"/>
              </a:rPr>
              <a:t>AI生成PPT需要大量高质量数据支持，数据清洗和标注是技术实现的关键。</a:t>
            </a:r>
            <a:endParaRPr lang="en-US" sz="1100"/>
          </a:p>
        </p:txBody>
      </p:sp>
      <p:sp>
        <p:nvSpPr>
          <p:cNvPr name="TextBox 7" id="7"/>
          <p:cNvSpPr txBox="true"/>
          <p:nvPr/>
        </p:nvSpPr>
        <p:spPr>
          <a:xfrm>
            <a:off x="1782771" y="1695025"/>
            <a:ext cx="2588302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en-US" b="true" i="false" sz="1600" baseline="0" u="none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数据质量与数量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1893159" y="4400004"/>
            <a:ext cx="2367526" cy="1275074"/>
          </a:xfrm>
          <a:prstGeom prst="roundRect">
            <a:avLst>
              <a:gd name="adj" fmla="val 8000"/>
            </a:avLst>
          </a:prstGeom>
          <a:blipFill>
            <a:blip r:embed="rId2"/>
            <a:srcRect/>
            <a:stretch>
              <a:fillRect t="-12011" l="0" b="-11774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4905887" y="1416293"/>
            <a:ext cx="2367526" cy="26894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false" i="false" sz="1600" baseline="0" u="none">
                <a:solidFill>
                  <a:schemeClr val="lt1"/>
                </a:solidFill>
                <a:latin typeface="Arial"/>
                <a:ea typeface="Arial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4795499" y="2211448"/>
            <a:ext cx="258830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chemeClr val="tx1"/>
                </a:solidFill>
                <a:latin typeface="微软雅黑"/>
                <a:ea typeface="微软雅黑"/>
              </a:rPr>
              <a:t>模型训练需要大量计算资源，优化算法和提升训练效率是技术突破的重点。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4795499" y="1695025"/>
            <a:ext cx="2588302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en-US" b="true" i="false" sz="1600" baseline="0" u="none">
                <a:solidFill>
                  <a:schemeClr val="tx1"/>
                </a:solidFill>
                <a:effectLst/>
                <a:latin typeface="微软雅黑"/>
                <a:ea typeface="微软雅黑"/>
              </a:rPr>
              <a:t>模型训练与优化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4905887" y="4400004"/>
            <a:ext cx="2367526" cy="1275074"/>
          </a:xfrm>
          <a:prstGeom prst="roundRect">
            <a:avLst>
              <a:gd name="adj" fmla="val 8000"/>
            </a:avLst>
          </a:prstGeom>
          <a:blipFill>
            <a:blip r:embed="rId3"/>
            <a:srcRect/>
            <a:stretch>
              <a:fillRect t="-12011" l="0" b="-11774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AutoShape 13" id="13"/>
          <p:cNvSpPr/>
          <p:nvPr/>
        </p:nvSpPr>
        <p:spPr>
          <a:xfrm>
            <a:off x="7918615" y="1416293"/>
            <a:ext cx="2367526" cy="268941"/>
          </a:xfrm>
          <a:prstGeom prst="round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false" i="false" sz="1600" baseline="0" u="none">
                <a:solidFill>
                  <a:schemeClr val="accent2"/>
                </a:solidFill>
                <a:latin typeface="Arial"/>
                <a:ea typeface="Arial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7808227" y="2211448"/>
            <a:ext cx="2588302" cy="8153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en-US" b="false" i="false" sz="1400" baseline="0" u="none">
                <a:solidFill>
                  <a:schemeClr val="tx1"/>
                </a:solidFill>
                <a:latin typeface="微软雅黑"/>
                <a:ea typeface="微软雅黑"/>
              </a:rPr>
              <a:t>在保证生成速度的同时，提升生成内容的准确性和专业性，是技术应用的核心挑战。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7808227" y="1695025"/>
            <a:ext cx="2588302" cy="338554"/>
          </a:xfrm>
          <a:prstGeom prst="rect">
            <a:avLst/>
          </a:prstGeom>
          <a:noFill/>
          <a:effectLst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defRPr/>
            </a:pPr>
            <a:r>
              <a:rPr lang="en-US" b="true" i="false" sz="1600" baseline="0" u="none">
                <a:solidFill>
                  <a:schemeClr val="tx1"/>
                </a:solidFill>
                <a:effectLst/>
                <a:latin typeface="微软雅黑"/>
                <a:ea typeface="微软雅黑"/>
              </a:rPr>
              <a:t>实时性与准确性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>
            <a:off x="7918615" y="4400004"/>
            <a:ext cx="2367526" cy="1275074"/>
          </a:xfrm>
          <a:prstGeom prst="roundRect">
            <a:avLst>
              <a:gd name="adj" fmla="val 8000"/>
            </a:avLst>
          </a:prstGeom>
          <a:blipFill>
            <a:blip r:embed="rId4"/>
            <a:srcRect/>
            <a:stretch>
              <a:fillRect t="-12011" l="0" b="-11774" r="0"/>
            </a:stretch>
          </a:blipFill>
          <a:ln>
            <a:noFill/>
          </a:ln>
          <a:effectLst/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Freeform 17" id="17"/>
          <p:cNvSpPr/>
          <p:nvPr/>
        </p:nvSpPr>
        <p:spPr>
          <a:xfrm>
            <a:off x="0" y="5745166"/>
            <a:ext cx="1032734" cy="1112834"/>
          </a:xfrm>
          <a:custGeom>
            <a:avLst/>
            <a:gdLst/>
            <a:ahLst/>
            <a:cxnLst/>
            <a:rect r="r" b="b" t="t" l="l"/>
            <a:pathLst>
              <a:path w="1183296" h="1275074" stroke="true" fill="norm" extrusionOk="true">
                <a:moveTo>
                  <a:pt x="443753" y="0"/>
                </a:moveTo>
                <a:lnTo>
                  <a:pt x="1183296" y="1275074"/>
                </a:lnTo>
                <a:lnTo>
                  <a:pt x="0" y="1275074"/>
                </a:lnTo>
                <a:lnTo>
                  <a:pt x="0" y="765092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</p:spTree>
  </p:cSld>
  <p:clrMapOvr>
    <a:masterClrMapping/>
  </p:clrMapOvr>
  <p:transition spd="fast"/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733425" y="2005070"/>
            <a:ext cx="10735762" cy="4120757"/>
            <a:chOff x="733425" y="2005070"/>
            <a:chExt cx="10735762" cy="4120757"/>
          </a:xfrm>
        </p:grpSpPr>
        <p:cxnSp>
          <p:nvCxnSpPr>
            <p:cNvPr name="Connector 3" id="3"/>
            <p:cNvCxnSpPr/>
            <p:nvPr/>
          </p:nvCxnSpPr>
          <p:spPr>
            <a:xfrm>
              <a:off x="733425" y="4103098"/>
              <a:ext cx="10668000" cy="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</a:ln>
          </p:spPr>
        </p:cxnSp>
        <p:grpSp>
          <p:nvGrpSpPr>
            <p:cNvPr name="Group 4" id="4"/>
            <p:cNvGrpSpPr/>
            <p:nvPr/>
          </p:nvGrpSpPr>
          <p:grpSpPr>
            <a:xfrm>
              <a:off x="887363" y="2005070"/>
              <a:ext cx="4546783" cy="2169887"/>
              <a:chOff x="887363" y="2005070"/>
              <a:chExt cx="4546783" cy="2169887"/>
            </a:xfrm>
          </p:grpSpPr>
          <p:grpSp>
            <p:nvGrpSpPr>
              <p:cNvPr name="Group 5" id="5"/>
              <p:cNvGrpSpPr/>
              <p:nvPr/>
            </p:nvGrpSpPr>
            <p:grpSpPr>
              <a:xfrm>
                <a:off x="887363" y="2148025"/>
                <a:ext cx="4546783" cy="2026932"/>
                <a:chOff x="1893968" y="4659318"/>
                <a:chExt cx="4546783" cy="2026932"/>
              </a:xfrm>
            </p:grpSpPr>
            <p:sp>
              <p:nvSpPr>
                <p:cNvPr name="AutoShape 6" id="6"/>
                <p:cNvSpPr/>
                <p:nvPr/>
              </p:nvSpPr>
              <p:spPr>
                <a:xfrm>
                  <a:off x="2234748" y="5053498"/>
                  <a:ext cx="4206003" cy="11491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anchor="t" wrap="square" tIns="108000" lIns="108000" bIns="108000" rIns="108000">
                  <a:spAutoFit/>
                </a:bodyPr>
                <a:p>
                  <a:pPr algn="l" marL="0">
                    <a:lnSpc>
                      <a:spcPct val="150000"/>
                    </a:lnSpc>
                  </a:pPr>
                  <a:r>
                    <a:rPr lang="zh-CN" b="false" i="false" sz="1400" baseline="0" u="none" altLang="en-US">
                      <a:solidFill>
                        <a:schemeClr val="tx1"/>
                      </a:solidFill>
                      <a:latin typeface="微软雅黑"/>
                      <a:ea typeface="微软雅黑"/>
                    </a:rPr>
                    <a:t>不同用户对PPT的需求差异较大，AI需要具备更强的个性化定制能力。</a:t>
                  </a:r>
                </a:p>
              </p:txBody>
            </p:sp>
            <p:sp>
              <p:nvSpPr>
                <p:cNvPr name="AutoShape 7" id="7"/>
                <p:cNvSpPr/>
                <p:nvPr/>
              </p:nvSpPr>
              <p:spPr>
                <a:xfrm>
                  <a:off x="2234748" y="4659318"/>
                  <a:ext cx="4206003" cy="4279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anchor="b" wrap="square" tIns="90000" lIns="91440" bIns="90000" rIns="91440">
                  <a:spAutoFit/>
                </a:bodyPr>
                <a:p>
                  <a:pPr algn="l" marL="0"/>
                  <a:r>
                    <a:rPr lang="zh-CN" b="true" i="false" sz="1600" baseline="0" u="none" altLang="en-US">
                      <a:solidFill>
                        <a:schemeClr val="accent1"/>
                      </a:solidFill>
                      <a:latin typeface="微软雅黑"/>
                      <a:ea typeface="微软雅黑"/>
                    </a:rPr>
                    <a:t>用户需求多样性</a:t>
                  </a:r>
                </a:p>
              </p:txBody>
            </p:sp>
            <p:sp>
              <p:nvSpPr>
                <p:cNvPr name="AutoShape 8" id="8"/>
                <p:cNvSpPr/>
                <p:nvPr/>
              </p:nvSpPr>
              <p:spPr>
                <a:xfrm>
                  <a:off x="1893968" y="6542532"/>
                  <a:ext cx="143718" cy="143718"/>
                </a:xfrm>
                <a:prstGeom prst="ellipse">
                  <a:avLst/>
                </a:prstGeom>
                <a:solidFill>
                  <a:schemeClr val="accent1"/>
                </a:solidFill>
                <a:ln cap="flat">
                  <a:noFill/>
                  <a:prstDash val="solid"/>
                  <a:miter lim="800000"/>
                </a:ln>
                <a:effectLst/>
              </p:spPr>
              <p:txBody>
                <a:bodyPr vert="horz" anchor="ctr" wrap="none" tIns="45720" lIns="91440" bIns="45720" rIns="91440"/>
                <a:p>
                  <a:pPr algn="ctr" marL="0"/>
                </a:p>
              </p:txBody>
            </p:sp>
          </p:grpSp>
          <p:cxnSp>
            <p:nvCxnSpPr>
              <p:cNvPr name="Connector 9" id="9"/>
              <p:cNvCxnSpPr/>
              <p:nvPr/>
            </p:nvCxnSpPr>
            <p:spPr>
              <a:xfrm>
                <a:off x="959222" y="2005070"/>
                <a:ext cx="0" cy="2026169"/>
              </a:xfrm>
              <a:prstGeom prst="line">
                <a:avLst/>
              </a:prstGeom>
              <a:ln w="9525">
                <a:solidFill>
                  <a:schemeClr val="accent1"/>
                </a:solidFill>
                <a:prstDash val="sysDash"/>
                <a:headEnd type="oval"/>
              </a:ln>
            </p:spPr>
          </p:cxnSp>
        </p:grpSp>
        <p:grpSp>
          <p:nvGrpSpPr>
            <p:cNvPr name="Group 10" id="10"/>
            <p:cNvGrpSpPr/>
            <p:nvPr/>
          </p:nvGrpSpPr>
          <p:grpSpPr>
            <a:xfrm>
              <a:off x="4250798" y="4031239"/>
              <a:ext cx="5080489" cy="2094588"/>
              <a:chOff x="887363" y="2190902"/>
              <a:chExt cx="5080489" cy="2094588"/>
            </a:xfrm>
          </p:grpSpPr>
          <p:cxnSp>
            <p:nvCxnSpPr>
              <p:cNvPr name="Connector 11" id="11"/>
              <p:cNvCxnSpPr/>
              <p:nvPr/>
            </p:nvCxnSpPr>
            <p:spPr>
              <a:xfrm flipV="true">
                <a:off x="959222" y="2204756"/>
                <a:ext cx="0" cy="1749779"/>
              </a:xfrm>
              <a:prstGeom prst="line">
                <a:avLst/>
              </a:prstGeom>
              <a:solidFill>
                <a:schemeClr val="accent1"/>
              </a:solidFill>
              <a:ln w="9525">
                <a:solidFill>
                  <a:schemeClr val="accent1"/>
                </a:solidFill>
                <a:prstDash val="sysDash"/>
                <a:headEnd type="oval"/>
              </a:ln>
            </p:spPr>
          </p:cxnSp>
          <p:grpSp>
            <p:nvGrpSpPr>
              <p:cNvPr name="Group 12" id="12"/>
              <p:cNvGrpSpPr/>
              <p:nvPr/>
            </p:nvGrpSpPr>
            <p:grpSpPr>
              <a:xfrm>
                <a:off x="887363" y="2190902"/>
                <a:ext cx="5080489" cy="2094588"/>
                <a:chOff x="1893968" y="4702195"/>
                <a:chExt cx="5080489" cy="2094588"/>
              </a:xfrm>
            </p:grpSpPr>
            <p:sp>
              <p:nvSpPr>
                <p:cNvPr name="AutoShape 13" id="13"/>
                <p:cNvSpPr/>
                <p:nvPr/>
              </p:nvSpPr>
              <p:spPr>
                <a:xfrm>
                  <a:off x="2234749" y="5647650"/>
                  <a:ext cx="4739708" cy="11491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anchor="t" wrap="square" tIns="108000" lIns="108000" bIns="108000" rIns="108000">
                  <a:spAutoFit/>
                </a:bodyPr>
                <a:p>
                  <a:pPr algn="l" marL="0">
                    <a:lnSpc>
                      <a:spcPct val="150000"/>
                    </a:lnSpc>
                  </a:pPr>
                  <a:r>
                    <a:rPr lang="zh-CN" b="false" i="false" sz="1400" baseline="0" u="none" altLang="en-US">
                      <a:solidFill>
                        <a:schemeClr val="tx1"/>
                      </a:solidFill>
                      <a:latin typeface="微软雅黑"/>
                      <a:ea typeface="微软雅黑"/>
                    </a:rPr>
                    <a:t>在生成PPT过程中，确保用户数据的安全性和隐私保护，是技术应用的重要前提。</a:t>
                  </a:r>
                </a:p>
              </p:txBody>
            </p:sp>
            <p:sp>
              <p:nvSpPr>
                <p:cNvPr name="AutoShape 14" id="14"/>
                <p:cNvSpPr/>
                <p:nvPr/>
              </p:nvSpPr>
              <p:spPr>
                <a:xfrm>
                  <a:off x="2234749" y="5274749"/>
                  <a:ext cx="4739708" cy="4279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anchor="b" wrap="square" tIns="90000" lIns="91440" bIns="90000" rIns="91440">
                  <a:spAutoFit/>
                </a:bodyPr>
                <a:p>
                  <a:pPr algn="l" marL="0"/>
                  <a:r>
                    <a:rPr lang="zh-CN" b="true" i="false" sz="1600" baseline="0" u="none" altLang="en-US">
                      <a:solidFill>
                        <a:schemeClr val="accent1"/>
                      </a:solidFill>
                      <a:latin typeface="微软雅黑"/>
                      <a:ea typeface="微软雅黑"/>
                    </a:rPr>
                    <a:t>用户隐私保护</a:t>
                  </a:r>
                </a:p>
              </p:txBody>
            </p:sp>
            <p:sp>
              <p:nvSpPr>
                <p:cNvPr name="AutoShape 15" id="15"/>
                <p:cNvSpPr/>
                <p:nvPr/>
              </p:nvSpPr>
              <p:spPr>
                <a:xfrm>
                  <a:off x="1893968" y="4702195"/>
                  <a:ext cx="143718" cy="143718"/>
                </a:xfrm>
                <a:prstGeom prst="ellipse">
                  <a:avLst/>
                </a:prstGeom>
                <a:solidFill>
                  <a:schemeClr val="accent1"/>
                </a:solidFill>
                <a:ln cap="flat">
                  <a:noFill/>
                  <a:prstDash val="solid"/>
                  <a:miter lim="800000"/>
                </a:ln>
                <a:effectLst/>
              </p:spPr>
              <p:txBody>
                <a:bodyPr vert="horz" anchor="ctr" wrap="none" tIns="45720" lIns="91440" bIns="45720" rIns="91440"/>
                <a:p>
                  <a:pPr algn="ctr" marL="0"/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7196226" y="2005070"/>
              <a:ext cx="4272961" cy="2169887"/>
              <a:chOff x="469356" y="2005070"/>
              <a:chExt cx="4272961" cy="2169887"/>
            </a:xfrm>
          </p:grpSpPr>
          <p:grpSp>
            <p:nvGrpSpPr>
              <p:cNvPr name="Group 17" id="17"/>
              <p:cNvGrpSpPr/>
              <p:nvPr/>
            </p:nvGrpSpPr>
            <p:grpSpPr>
              <a:xfrm>
                <a:off x="469356" y="2148025"/>
                <a:ext cx="4272961" cy="2026932"/>
                <a:chOff x="1475961" y="4659318"/>
                <a:chExt cx="4272961" cy="2026932"/>
              </a:xfrm>
            </p:grpSpPr>
            <p:sp>
              <p:nvSpPr>
                <p:cNvPr name="AutoShape 18" id="18"/>
                <p:cNvSpPr/>
                <p:nvPr/>
              </p:nvSpPr>
              <p:spPr>
                <a:xfrm>
                  <a:off x="1816741" y="5053498"/>
                  <a:ext cx="3932181" cy="14722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anchor="t" wrap="square" tIns="108000" lIns="108000" bIns="108000" rIns="108000">
                  <a:spAutoFit/>
                </a:bodyPr>
                <a:p>
                  <a:pPr algn="l" marL="0">
                    <a:lnSpc>
                      <a:spcPct val="150000"/>
                    </a:lnSpc>
                  </a:pPr>
                  <a:r>
                    <a:rPr lang="zh-CN" b="false" i="false" sz="1400" baseline="0" u="none" altLang="en-US">
                      <a:solidFill>
                        <a:schemeClr val="tx1"/>
                      </a:solidFill>
                      <a:latin typeface="微软雅黑"/>
                      <a:ea typeface="微软雅黑"/>
                    </a:rPr>
                    <a:t>提升用户操作界面的友好性和交互体验，是吸引用户的关键。</a:t>
                  </a:r>
                </a:p>
              </p:txBody>
            </p:sp>
            <p:sp>
              <p:nvSpPr>
                <p:cNvPr name="AutoShape 19" id="19"/>
                <p:cNvSpPr/>
                <p:nvPr/>
              </p:nvSpPr>
              <p:spPr>
                <a:xfrm>
                  <a:off x="1816741" y="4659318"/>
                  <a:ext cx="3932181" cy="42797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anchor="b" wrap="square" tIns="90000" lIns="91440" bIns="90000" rIns="91440">
                  <a:spAutoFit/>
                </a:bodyPr>
                <a:p>
                  <a:pPr algn="l" marL="0"/>
                  <a:r>
                    <a:rPr lang="zh-CN" b="true" i="false" sz="1600" baseline="0" u="none" altLang="en-US">
                      <a:solidFill>
                        <a:schemeClr val="accent1"/>
                      </a:solidFill>
                      <a:latin typeface="微软雅黑"/>
                      <a:ea typeface="微软雅黑"/>
                    </a:rPr>
                    <a:t>用户体验优化</a:t>
                  </a:r>
                </a:p>
              </p:txBody>
            </p:sp>
            <p:sp>
              <p:nvSpPr>
                <p:cNvPr name="AutoShape 20" id="20"/>
                <p:cNvSpPr/>
                <p:nvPr/>
              </p:nvSpPr>
              <p:spPr>
                <a:xfrm>
                  <a:off x="1475961" y="6542532"/>
                  <a:ext cx="143718" cy="143718"/>
                </a:xfrm>
                <a:prstGeom prst="ellipse">
                  <a:avLst/>
                </a:prstGeom>
                <a:solidFill>
                  <a:schemeClr val="accent1"/>
                </a:solidFill>
                <a:ln cap="flat">
                  <a:noFill/>
                  <a:prstDash val="solid"/>
                  <a:miter lim="800000"/>
                </a:ln>
                <a:effectLst/>
              </p:spPr>
              <p:txBody>
                <a:bodyPr vert="horz" anchor="ctr" wrap="none" tIns="45720" lIns="91440" bIns="45720" rIns="91440"/>
                <a:p>
                  <a:pPr algn="ctr" marL="0"/>
                </a:p>
              </p:txBody>
            </p:sp>
          </p:grpSp>
          <p:cxnSp>
            <p:nvCxnSpPr>
              <p:cNvPr name="Connector 21" id="21"/>
              <p:cNvCxnSpPr/>
              <p:nvPr/>
            </p:nvCxnSpPr>
            <p:spPr>
              <a:xfrm>
                <a:off x="541215" y="2005070"/>
                <a:ext cx="0" cy="2026169"/>
              </a:xfrm>
              <a:prstGeom prst="line">
                <a:avLst/>
              </a:prstGeom>
              <a:ln w="9525">
                <a:solidFill>
                  <a:schemeClr val="accent1"/>
                </a:solidFill>
                <a:prstDash val="sysDash"/>
                <a:headEnd type="oval"/>
              </a:ln>
            </p:spPr>
          </p:cxnSp>
        </p:grpSp>
      </p:grpSp>
      <p:sp>
        <p:nvSpPr>
          <p:cNvPr name="TextBox 22" id="2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用户挑战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299200" y="3157492"/>
            <a:ext cx="5197475" cy="646331"/>
          </a:xfrm>
        </p:spPr>
        <p:txBody>
          <a:bodyPr anchor="t" rtlCol="false" vert="horz" tIns="45720" lIns="91440" bIns="45720" rIns="9144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36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未来展望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6299199" y="1797560"/>
            <a:ext cx="5197475" cy="1015663"/>
          </a:xfrm>
          <a:prstGeom prst="rect">
            <a:avLst/>
          </a:prstGeom>
        </p:spPr>
        <p:txBody>
          <a:bodyPr anchor="b" rtlCol="false" vert="horz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6000" baseline="0" u="none" altLang="en-US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Arial"/>
                <a:ea typeface="Arial"/>
              </a:rPr>
              <a:t>06</a:t>
            </a:r>
            <a:endParaRPr lang="en-US" sz="1100"/>
          </a:p>
        </p:txBody>
      </p:sp>
    </p:spTree>
  </p:cSld>
  <p:clrMapOvr>
    <a:masterClrMapping/>
  </p:clrMapOvr>
  <p:transition spd="fast"/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技术发展方向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16200000">
            <a:off x="4169449" y="-2823431"/>
            <a:ext cx="3194904" cy="11516698"/>
          </a:xfrm>
          <a:custGeom>
            <a:avLst/>
            <a:gdLst/>
            <a:ahLst/>
            <a:cxnLst/>
            <a:rect r="r" b="b" t="t" l="l"/>
            <a:pathLst>
              <a:path w="2692886" h="11516698" stroke="true" fill="norm" extrusionOk="true">
                <a:moveTo>
                  <a:pt x="2692886" y="0"/>
                </a:moveTo>
                <a:lnTo>
                  <a:pt x="2692886" y="10231472"/>
                </a:lnTo>
                <a:cubicBezTo>
                  <a:pt x="2692166" y="10940837"/>
                  <a:pt x="2117283" y="11515962"/>
                  <a:pt x="1407845" y="11516698"/>
                </a:cubicBezTo>
                <a:cubicBezTo>
                  <a:pt x="698370" y="11515962"/>
                  <a:pt x="123428" y="10941021"/>
                  <a:pt x="122617" y="10231472"/>
                </a:cubicBezTo>
                <a:lnTo>
                  <a:pt x="122618" y="4244959"/>
                </a:lnTo>
                <a:lnTo>
                  <a:pt x="0" y="4244959"/>
                </a:lnTo>
                <a:lnTo>
                  <a:pt x="353568" y="3635359"/>
                </a:lnTo>
                <a:lnTo>
                  <a:pt x="707136" y="4244959"/>
                </a:lnTo>
                <a:lnTo>
                  <a:pt x="528284" y="4244959"/>
                </a:lnTo>
                <a:lnTo>
                  <a:pt x="528284" y="10231472"/>
                </a:lnTo>
                <a:cubicBezTo>
                  <a:pt x="528892" y="10716981"/>
                  <a:pt x="922334" y="11110477"/>
                  <a:pt x="1407845" y="11111031"/>
                </a:cubicBezTo>
                <a:cubicBezTo>
                  <a:pt x="1893334" y="11110477"/>
                  <a:pt x="2286702" y="10716981"/>
                  <a:pt x="2287219" y="10231472"/>
                </a:cubicBezTo>
                <a:lnTo>
                  <a:pt x="2287220" y="0"/>
                </a:lnTo>
                <a:close/>
              </a:path>
            </a:pathLst>
          </a:custGeom>
          <a:gradFill rotWithShape="true" flip="none">
            <a:gsLst>
              <a:gs pos="0">
                <a:schemeClr val="accent1"/>
              </a:gs>
              <a:gs pos="100000">
                <a:schemeClr val="accent1">
                  <a:alpha val="20000"/>
                </a:schemeClr>
              </a:gs>
            </a:gsLst>
            <a:tileRect/>
          </a:gradFill>
          <a:ln>
            <a:noFill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5338324" y="4635451"/>
            <a:ext cx="403110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1600" baseline="0" u="none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智能化升级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5338324" y="5109558"/>
            <a:ext cx="4031101" cy="455550"/>
          </a:xfrm>
          <a:prstGeom prst="rect">
            <a:avLst/>
          </a:prstGeom>
          <a:ln>
            <a:noFill/>
          </a:ln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GB" b="false" i="false" sz="1400" baseline="0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通过引入更先进的AI算法，提升生成内容的智能化和专业性，进一步优化用户体验。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>
            <a:off x="5462247" y="4231945"/>
            <a:ext cx="301588" cy="3015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false" i="false" sz="1400" baseline="0" u="none">
                <a:solidFill>
                  <a:schemeClr val="lt1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1716053" y="2097475"/>
            <a:ext cx="403110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1600" baseline="0" u="none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多模态融合</a:t>
            </a:r>
            <a:endParaRPr lang="en-US" sz="1100"/>
          </a:p>
        </p:txBody>
      </p:sp>
      <p:sp>
        <p:nvSpPr>
          <p:cNvPr name="TextBox 8" id="8"/>
          <p:cNvSpPr txBox="true"/>
          <p:nvPr/>
        </p:nvSpPr>
        <p:spPr>
          <a:xfrm>
            <a:off x="1716053" y="2571582"/>
            <a:ext cx="4031101" cy="455550"/>
          </a:xfrm>
          <a:prstGeom prst="rect">
            <a:avLst/>
          </a:prstGeom>
          <a:ln>
            <a:noFill/>
          </a:ln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GB" b="false" i="false" sz="1400" baseline="0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未来AI生成PPT将融合文本、图像、音频等多种模态，生成更加丰富的演示内容。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>
            <a:off x="1839976" y="1693969"/>
            <a:ext cx="301588" cy="301587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false" i="false" sz="1400" baseline="0" u="none">
                <a:solidFill>
                  <a:schemeClr val="lt1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217799" y="2097475"/>
            <a:ext cx="4031101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defRPr/>
            </a:pPr>
            <a:r>
              <a:rPr lang="en-US" b="true" i="false" sz="1600" baseline="0" u="none">
                <a:ln/>
                <a:solidFill>
                  <a:schemeClr val="tx1"/>
                </a:solidFill>
                <a:effectLst/>
                <a:latin typeface="微软雅黑"/>
                <a:ea typeface="微软雅黑"/>
              </a:rPr>
              <a:t>个性化定制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217799" y="2571582"/>
            <a:ext cx="4031101" cy="455550"/>
          </a:xfrm>
          <a:prstGeom prst="rect">
            <a:avLst/>
          </a:prstGeom>
          <a:ln>
            <a:noFill/>
          </a:ln>
        </p:spPr>
        <p:txBody>
          <a:bodyPr anchor="t" rtlCol="false" vert="horz" wrap="square" tIns="46800" lIns="90000" bIns="46800" rIns="9000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GB" b="false" i="false" sz="1400" baseline="0" u="none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AI将根据用户偏好和需求，提供更加个性化的PPT生成服务，满足多样化需求。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6341722" y="1693969"/>
            <a:ext cx="301588" cy="30158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solidFill>
              <a:schemeClr val="bg1"/>
            </a:solidFill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  <a:r>
              <a:rPr lang="en-US" b="false" i="false" sz="1400" baseline="0" u="none">
                <a:solidFill>
                  <a:schemeClr val="lt1"/>
                </a:solidFill>
                <a:latin typeface="Arial"/>
                <a:ea typeface="Arial"/>
              </a:rPr>
              <a:t>2</a:t>
            </a:r>
          </a:p>
        </p:txBody>
      </p:sp>
    </p:spTree>
  </p:cSld>
  <p:clrMapOvr>
    <a:masterClrMapping/>
  </p:clrMapOvr>
  <p:transition spd="fast"/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gradFill>
          <a:gsLst>
            <a:gs pos="0">
              <a:schemeClr val="accent2">
                <a:alpha val="46000"/>
                <a:lumMod val="60000"/>
                <a:lumOff val="40000"/>
              </a:schemeClr>
            </a:gs>
            <a:gs pos="100000">
              <a:schemeClr val="accent1">
                <a:alpha val="0"/>
                <a:lumMod val="60000"/>
                <a:lumOff val="40000"/>
              </a:schemeClr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666750" y="0"/>
            <a:ext cx="10858500" cy="1028700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zh-CN" b="true" i="false" sz="2800" baseline="0" u="none" altLang="en-US">
                <a:gradFill rotWithShape="true" flip="none">
                  <a:gsLst>
                    <a:gs pos="36000">
                      <a:schemeClr val="accent1"/>
                    </a:gs>
                    <a:gs pos="97000">
                      <a:schemeClr val="accent2"/>
                    </a:gs>
                  </a:gsLst>
                  <a:lin ang="18900000"/>
                  <a:tileRect/>
                </a:gradFill>
                <a:latin typeface="微软雅黑"/>
                <a:ea typeface="微软雅黑"/>
              </a:rPr>
              <a:t>市场前景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-12700" y="1611799"/>
            <a:ext cx="11863137" cy="5053938"/>
            <a:chOff x="-12700" y="1804062"/>
            <a:chExt cx="11863137" cy="5053938"/>
          </a:xfrm>
        </p:grpSpPr>
        <p:sp>
          <p:nvSpPr>
            <p:cNvPr name="Freeform 4" id="4"/>
            <p:cNvSpPr/>
            <p:nvPr/>
          </p:nvSpPr>
          <p:spPr>
            <a:xfrm>
              <a:off x="-12700" y="2951784"/>
              <a:ext cx="11863137" cy="3906216"/>
            </a:xfrm>
            <a:custGeom>
              <a:avLst/>
              <a:gdLst/>
              <a:ahLst/>
              <a:cxnLst/>
              <a:rect r="r" b="b" t="t" l="l"/>
              <a:pathLst>
                <a:path w="12191721" h="4625582" stroke="true" fill="norm" extrusionOk="true">
                  <a:moveTo>
                    <a:pt x="1868" y="4624487"/>
                  </a:moveTo>
                  <a:cubicBezTo>
                    <a:pt x="1868" y="4624487"/>
                    <a:pt x="3992243" y="4497905"/>
                    <a:pt x="7331891" y="3653511"/>
                  </a:cubicBezTo>
                  <a:cubicBezTo>
                    <a:pt x="10757411" y="2787336"/>
                    <a:pt x="11991782" y="587836"/>
                    <a:pt x="11991782" y="587836"/>
                  </a:cubicBezTo>
                  <a:lnTo>
                    <a:pt x="12165754" y="693611"/>
                  </a:lnTo>
                  <a:lnTo>
                    <a:pt x="12193590" y="-1096"/>
                  </a:lnTo>
                  <a:cubicBezTo>
                    <a:pt x="12193590" y="-1096"/>
                    <a:pt x="10655394" y="2843007"/>
                    <a:pt x="6246302" y="3421501"/>
                  </a:cubicBezTo>
                  <a:cubicBezTo>
                    <a:pt x="2036164" y="3973899"/>
                    <a:pt x="1868" y="3987538"/>
                    <a:pt x="1868" y="3987538"/>
                  </a:cubicBezTo>
                  <a:close/>
                </a:path>
              </a:pathLst>
            </a:custGeom>
            <a:gradFill>
              <a:gsLst>
                <a:gs pos="10000">
                  <a:schemeClr val="accent2">
                    <a:alpha val="10000"/>
                  </a:schemeClr>
                </a:gs>
                <a:gs pos="90000">
                  <a:schemeClr val="accent2"/>
                </a:gs>
              </a:gsLst>
              <a:lin ang="18900000"/>
            </a:gradFill>
            <a:ln cap="flat">
              <a:noFill/>
              <a:prstDash val="solid"/>
              <a:miter lim="800000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Autofit/>
            </a:bodyPr>
            <a:p>
              <a:pPr algn="l" marL="0"/>
            </a:p>
          </p:txBody>
        </p:sp>
        <p:grpSp>
          <p:nvGrpSpPr>
            <p:cNvPr name="Group 5" id="5"/>
            <p:cNvGrpSpPr/>
            <p:nvPr/>
          </p:nvGrpSpPr>
          <p:grpSpPr>
            <a:xfrm>
              <a:off x="1152587" y="2736750"/>
              <a:ext cx="3501382" cy="3566473"/>
              <a:chOff x="1152587" y="2736750"/>
              <a:chExt cx="3501382" cy="3566473"/>
            </a:xfrm>
          </p:grpSpPr>
          <p:sp>
            <p:nvSpPr>
              <p:cNvPr name="AutoShape 6" id="6"/>
              <p:cNvSpPr/>
              <p:nvPr/>
            </p:nvSpPr>
            <p:spPr>
              <a:xfrm>
                <a:off x="1689884" y="6148121"/>
                <a:ext cx="155102" cy="15510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algn="ctr" blurRad="787400" rotWithShape="false" sx="98000" sy="98000">
                  <a:schemeClr val="tx1">
                    <a:alpha val="15000"/>
                  </a:schemeClr>
                </a:outerShdw>
              </a:effectLst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cxnSp>
            <p:nvCxnSpPr>
              <p:cNvPr name="Connector 7" id="7"/>
              <p:cNvCxnSpPr/>
              <p:nvPr/>
            </p:nvCxnSpPr>
            <p:spPr>
              <a:xfrm>
                <a:off x="1767435" y="3776389"/>
                <a:ext cx="0" cy="2412000"/>
              </a:xfrm>
              <a:prstGeom prst="line">
                <a:avLst/>
              </a:prstGeom>
              <a:ln w="25400" cap="rnd">
                <a:gradFill rotWithShape="true" flip="none">
                  <a:gsLst>
                    <a:gs pos="0">
                      <a:schemeClr val="accent2">
                        <a:alpha val="20000"/>
                      </a:schemeClr>
                    </a:gs>
                    <a:gs pos="100000">
                      <a:schemeClr val="accent2"/>
                    </a:gs>
                  </a:gsLst>
                  <a:lin ang="16200000"/>
                  <a:tileRect/>
                </a:gradFill>
                <a:prstDash val="solid"/>
              </a:ln>
            </p:spPr>
          </p:cxnSp>
          <p:sp>
            <p:nvSpPr>
              <p:cNvPr name="Freeform 8" id="8"/>
              <p:cNvSpPr/>
              <p:nvPr/>
            </p:nvSpPr>
            <p:spPr>
              <a:xfrm>
                <a:off x="1152587" y="2736750"/>
                <a:ext cx="1229698" cy="1230462"/>
              </a:xfrm>
              <a:custGeom>
                <a:avLst/>
                <a:gdLst/>
                <a:ahLst/>
                <a:cxnLst/>
                <a:rect r="r" b="b" t="t" l="l"/>
                <a:pathLst>
                  <a:path w="674" h="674" stroke="true" fill="norm" extrusionOk="true">
                    <a:moveTo>
                      <a:pt x="423" y="48"/>
                    </a:moveTo>
                    <a:cubicBezTo>
                      <a:pt x="626" y="250"/>
                      <a:pt x="626" y="250"/>
                      <a:pt x="626" y="250"/>
                    </a:cubicBezTo>
                    <a:cubicBezTo>
                      <a:pt x="674" y="298"/>
                      <a:pt x="674" y="376"/>
                      <a:pt x="626" y="424"/>
                    </a:cubicBezTo>
                    <a:cubicBezTo>
                      <a:pt x="423" y="626"/>
                      <a:pt x="423" y="626"/>
                      <a:pt x="423" y="626"/>
                    </a:cubicBezTo>
                    <a:cubicBezTo>
                      <a:pt x="375" y="674"/>
                      <a:pt x="298" y="674"/>
                      <a:pt x="250" y="626"/>
                    </a:cubicBezTo>
                    <a:cubicBezTo>
                      <a:pt x="48" y="424"/>
                      <a:pt x="48" y="424"/>
                      <a:pt x="48" y="424"/>
                    </a:cubicBezTo>
                    <a:cubicBezTo>
                      <a:pt x="0" y="376"/>
                      <a:pt x="0" y="298"/>
                      <a:pt x="48" y="250"/>
                    </a:cubicBezTo>
                    <a:cubicBezTo>
                      <a:pt x="250" y="48"/>
                      <a:pt x="250" y="48"/>
                      <a:pt x="250" y="48"/>
                    </a:cubicBezTo>
                    <a:cubicBezTo>
                      <a:pt x="298" y="0"/>
                      <a:pt x="375" y="0"/>
                      <a:pt x="423" y="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2"/>
                  </a:gs>
                </a:gsLst>
                <a:lin ang="5400000"/>
              </a:gradFill>
              <a:ln cap="rnd">
                <a:noFill/>
                <a:prstDash val="solid"/>
              </a:ln>
              <a:effectLst>
                <a:outerShdw algn="ctr" blurRad="254000" dir="5400000" dist="127000" rotWithShape="false">
                  <a:schemeClr val="accent1">
                    <a:alpha val="20000"/>
                  </a:schemeClr>
                </a:outerShdw>
              </a:effectLst>
            </p:spPr>
            <p:txBody>
              <a:bodyPr vert="horz" rot="0" anchor="ctr" wrap="square" tIns="45720" lIns="91440" bIns="45720" rIns="91440">
                <a:normAutofit/>
              </a:bodyPr>
              <a:p>
                <a:pPr algn="ctr" marL="0"/>
                <a:r>
                  <a:rPr lang="en-US" b="true" i="false" sz="2400" baseline="0" u="none">
                    <a:solidFill>
                      <a:schemeClr val="accent1"/>
                    </a:solidFill>
                    <a:latin typeface="Arial"/>
                    <a:ea typeface="Arial"/>
                  </a:rPr>
                  <a:t>01</a:t>
                </a:r>
              </a:p>
            </p:txBody>
          </p:sp>
          <p:sp>
            <p:nvSpPr>
              <p:cNvPr name="TextBox 9" id="9"/>
              <p:cNvSpPr txBox="true"/>
              <p:nvPr/>
            </p:nvSpPr>
            <p:spPr>
              <a:xfrm>
                <a:off x="1947364" y="3968408"/>
                <a:ext cx="2706605" cy="338554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rgbClr val="FF0000"/>
                    </a:solidFill>
                    <a:latin typeface="微软雅黑"/>
                    <a:ea typeface="微软雅黑"/>
                  </a:rPr>
                  <a:t>市场规模预测</a:t>
                </a:r>
                <a:endParaRPr lang="en-US" sz="1100"/>
              </a:p>
            </p:txBody>
          </p:sp>
          <p:sp>
            <p:nvSpPr>
              <p:cNvPr name="TextBox 10" id="10"/>
              <p:cNvSpPr txBox="true"/>
              <p:nvPr/>
            </p:nvSpPr>
            <p:spPr>
              <a:xfrm>
                <a:off x="1947364" y="4404300"/>
                <a:ext cx="2706605" cy="1023357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随着AI技术的普及，AI生成PPT市场规模将持续扩大，预计未来五年内实现高速增长。</a:t>
                </a:r>
                <a:endParaRPr lang="en-US" sz="1100"/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>
              <a:off x="4270324" y="2447548"/>
              <a:ext cx="3450109" cy="3566473"/>
              <a:chOff x="4270324" y="2447548"/>
              <a:chExt cx="3450109" cy="3566473"/>
            </a:xfrm>
          </p:grpSpPr>
          <p:sp>
            <p:nvSpPr>
              <p:cNvPr name="AutoShape 12" id="12"/>
              <p:cNvSpPr/>
              <p:nvPr/>
            </p:nvSpPr>
            <p:spPr>
              <a:xfrm>
                <a:off x="4807621" y="5858919"/>
                <a:ext cx="155102" cy="15510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algn="ctr" blurRad="787400" rotWithShape="false" sx="98000" sy="98000">
                  <a:schemeClr val="tx1">
                    <a:alpha val="15000"/>
                  </a:schemeClr>
                </a:outerShdw>
              </a:effectLst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cxnSp>
            <p:nvCxnSpPr>
              <p:cNvPr name="Connector 13" id="13"/>
              <p:cNvCxnSpPr/>
              <p:nvPr/>
            </p:nvCxnSpPr>
            <p:spPr>
              <a:xfrm>
                <a:off x="4885172" y="3510159"/>
                <a:ext cx="0" cy="2412000"/>
              </a:xfrm>
              <a:prstGeom prst="line">
                <a:avLst/>
              </a:prstGeom>
              <a:ln w="25400" cap="rnd">
                <a:gradFill rotWithShape="true" flip="none">
                  <a:gsLst>
                    <a:gs pos="0">
                      <a:schemeClr val="accent2">
                        <a:alpha val="20000"/>
                      </a:schemeClr>
                    </a:gs>
                    <a:gs pos="100000">
                      <a:schemeClr val="accent2"/>
                    </a:gs>
                  </a:gsLst>
                  <a:lin ang="16200000"/>
                  <a:tileRect/>
                </a:gradFill>
                <a:prstDash val="solid"/>
              </a:ln>
            </p:spPr>
          </p:cxnSp>
          <p:sp>
            <p:nvSpPr>
              <p:cNvPr name="Freeform 14" id="14"/>
              <p:cNvSpPr/>
              <p:nvPr/>
            </p:nvSpPr>
            <p:spPr>
              <a:xfrm>
                <a:off x="4270324" y="2447548"/>
                <a:ext cx="1229698" cy="1230462"/>
              </a:xfrm>
              <a:custGeom>
                <a:avLst/>
                <a:gdLst/>
                <a:ahLst/>
                <a:cxnLst/>
                <a:rect r="r" b="b" t="t" l="l"/>
                <a:pathLst>
                  <a:path w="674" h="674" stroke="true" fill="norm" extrusionOk="true">
                    <a:moveTo>
                      <a:pt x="423" y="48"/>
                    </a:moveTo>
                    <a:cubicBezTo>
                      <a:pt x="626" y="250"/>
                      <a:pt x="626" y="250"/>
                      <a:pt x="626" y="250"/>
                    </a:cubicBezTo>
                    <a:cubicBezTo>
                      <a:pt x="674" y="298"/>
                      <a:pt x="674" y="376"/>
                      <a:pt x="626" y="424"/>
                    </a:cubicBezTo>
                    <a:cubicBezTo>
                      <a:pt x="423" y="626"/>
                      <a:pt x="423" y="626"/>
                      <a:pt x="423" y="626"/>
                    </a:cubicBezTo>
                    <a:cubicBezTo>
                      <a:pt x="375" y="674"/>
                      <a:pt x="298" y="674"/>
                      <a:pt x="250" y="626"/>
                    </a:cubicBezTo>
                    <a:cubicBezTo>
                      <a:pt x="48" y="424"/>
                      <a:pt x="48" y="424"/>
                      <a:pt x="48" y="424"/>
                    </a:cubicBezTo>
                    <a:cubicBezTo>
                      <a:pt x="0" y="376"/>
                      <a:pt x="0" y="298"/>
                      <a:pt x="48" y="250"/>
                    </a:cubicBezTo>
                    <a:cubicBezTo>
                      <a:pt x="250" y="48"/>
                      <a:pt x="250" y="48"/>
                      <a:pt x="250" y="48"/>
                    </a:cubicBezTo>
                    <a:cubicBezTo>
                      <a:pt x="298" y="0"/>
                      <a:pt x="375" y="0"/>
                      <a:pt x="423" y="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2"/>
                  </a:gs>
                </a:gsLst>
                <a:lin ang="5400000"/>
              </a:gradFill>
              <a:ln cap="rnd">
                <a:noFill/>
                <a:prstDash val="solid"/>
              </a:ln>
              <a:effectLst>
                <a:outerShdw algn="ctr" blurRad="254000" dir="5400000" dist="127000" rotWithShape="false">
                  <a:schemeClr val="accent1">
                    <a:alpha val="20000"/>
                  </a:schemeClr>
                </a:outerShdw>
              </a:effectLst>
            </p:spPr>
            <p:txBody>
              <a:bodyPr vert="horz" rot="0" anchor="ctr" wrap="square" tIns="45720" lIns="91440" bIns="45720" rIns="91440">
                <a:normAutofit/>
              </a:bodyPr>
              <a:p>
                <a:pPr algn="ctr" marL="0"/>
                <a:r>
                  <a:rPr lang="en-US" b="true" i="false" sz="2400" baseline="0" u="none">
                    <a:solidFill>
                      <a:schemeClr val="accent1"/>
                    </a:solidFill>
                    <a:latin typeface="Arial"/>
                    <a:ea typeface="Arial"/>
                  </a:rPr>
                  <a:t>02</a:t>
                </a:r>
              </a:p>
            </p:txBody>
          </p:sp>
          <p:sp>
            <p:nvSpPr>
              <p:cNvPr name="TextBox 15" id="15"/>
              <p:cNvSpPr txBox="true"/>
              <p:nvPr/>
            </p:nvSpPr>
            <p:spPr>
              <a:xfrm>
                <a:off x="5065101" y="3679942"/>
                <a:ext cx="2655332" cy="338554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rgbClr val="FF0000"/>
                    </a:solidFill>
                    <a:latin typeface="微软雅黑"/>
                    <a:ea typeface="微软雅黑"/>
                  </a:rPr>
                  <a:t>潜在应用领域</a:t>
                </a:r>
                <a:endParaRPr lang="en-US" sz="1100"/>
              </a:p>
            </p:txBody>
          </p:sp>
          <p:sp>
            <p:nvSpPr>
              <p:cNvPr name="TextBox 16" id="16"/>
              <p:cNvSpPr txBox="true"/>
              <p:nvPr/>
            </p:nvSpPr>
            <p:spPr>
              <a:xfrm>
                <a:off x="5065101" y="4115834"/>
                <a:ext cx="2655332" cy="1023357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除了企业和教育领域，AI生成PPT还可应用于政府、医疗等多个行业，拓展应用场景。</a:t>
                </a:r>
                <a:endParaRPr lang="en-US" sz="1100"/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>
              <a:off x="7336786" y="1804062"/>
              <a:ext cx="3521711" cy="3692982"/>
              <a:chOff x="7336786" y="1804062"/>
              <a:chExt cx="3521711" cy="3692982"/>
            </a:xfrm>
          </p:grpSpPr>
          <p:cxnSp>
            <p:nvCxnSpPr>
              <p:cNvPr name="Connector 18" id="18"/>
              <p:cNvCxnSpPr/>
              <p:nvPr/>
            </p:nvCxnSpPr>
            <p:spPr>
              <a:xfrm>
                <a:off x="7951634" y="2985116"/>
                <a:ext cx="0" cy="2412000"/>
              </a:xfrm>
              <a:prstGeom prst="line">
                <a:avLst/>
              </a:prstGeom>
              <a:ln w="25400" cap="rnd">
                <a:gradFill rotWithShape="true" flip="none">
                  <a:gsLst>
                    <a:gs pos="0">
                      <a:schemeClr val="accent2">
                        <a:alpha val="20000"/>
                      </a:schemeClr>
                    </a:gs>
                    <a:gs pos="100000">
                      <a:schemeClr val="accent2"/>
                    </a:gs>
                  </a:gsLst>
                  <a:lin ang="16200000"/>
                  <a:tileRect/>
                </a:gradFill>
                <a:prstDash val="solid"/>
              </a:ln>
            </p:spPr>
          </p:cxnSp>
          <p:sp>
            <p:nvSpPr>
              <p:cNvPr name="AutoShape 19" id="19"/>
              <p:cNvSpPr/>
              <p:nvPr/>
            </p:nvSpPr>
            <p:spPr>
              <a:xfrm>
                <a:off x="7874083" y="5341942"/>
                <a:ext cx="155102" cy="15510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algn="ctr" blurRad="787400" rotWithShape="false" sx="98000" sy="98000">
                  <a:schemeClr val="tx1">
                    <a:alpha val="15000"/>
                  </a:schemeClr>
                </a:outerShdw>
              </a:effectLst>
            </p:spPr>
            <p:txBody>
              <a:bodyPr vert="horz" anchor="ctr" wrap="square" tIns="45720" lIns="91440" bIns="45720" rIns="91440">
                <a:noAutofit/>
              </a:bodyPr>
              <a:p>
                <a:pPr algn="ctr" marL="0"/>
              </a:p>
            </p:txBody>
          </p:sp>
          <p:sp>
            <p:nvSpPr>
              <p:cNvPr name="Freeform 20" id="20"/>
              <p:cNvSpPr/>
              <p:nvPr/>
            </p:nvSpPr>
            <p:spPr>
              <a:xfrm>
                <a:off x="7336786" y="1804062"/>
                <a:ext cx="1229698" cy="1230462"/>
              </a:xfrm>
              <a:custGeom>
                <a:avLst/>
                <a:gdLst/>
                <a:ahLst/>
                <a:cxnLst/>
                <a:rect r="r" b="b" t="t" l="l"/>
                <a:pathLst>
                  <a:path w="674" h="674" stroke="true" fill="norm" extrusionOk="true">
                    <a:moveTo>
                      <a:pt x="423" y="48"/>
                    </a:moveTo>
                    <a:cubicBezTo>
                      <a:pt x="626" y="250"/>
                      <a:pt x="626" y="250"/>
                      <a:pt x="626" y="250"/>
                    </a:cubicBezTo>
                    <a:cubicBezTo>
                      <a:pt x="674" y="298"/>
                      <a:pt x="674" y="376"/>
                      <a:pt x="626" y="424"/>
                    </a:cubicBezTo>
                    <a:cubicBezTo>
                      <a:pt x="423" y="626"/>
                      <a:pt x="423" y="626"/>
                      <a:pt x="423" y="626"/>
                    </a:cubicBezTo>
                    <a:cubicBezTo>
                      <a:pt x="375" y="674"/>
                      <a:pt x="298" y="674"/>
                      <a:pt x="250" y="626"/>
                    </a:cubicBezTo>
                    <a:cubicBezTo>
                      <a:pt x="48" y="424"/>
                      <a:pt x="48" y="424"/>
                      <a:pt x="48" y="424"/>
                    </a:cubicBezTo>
                    <a:cubicBezTo>
                      <a:pt x="0" y="376"/>
                      <a:pt x="0" y="298"/>
                      <a:pt x="48" y="250"/>
                    </a:cubicBezTo>
                    <a:cubicBezTo>
                      <a:pt x="250" y="48"/>
                      <a:pt x="250" y="48"/>
                      <a:pt x="250" y="48"/>
                    </a:cubicBezTo>
                    <a:cubicBezTo>
                      <a:pt x="298" y="0"/>
                      <a:pt x="375" y="0"/>
                      <a:pt x="423" y="48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80000">
                    <a:schemeClr val="accent2"/>
                  </a:gs>
                </a:gsLst>
                <a:lin ang="5400000"/>
              </a:gradFill>
              <a:ln cap="rnd">
                <a:noFill/>
                <a:prstDash val="solid"/>
              </a:ln>
              <a:effectLst>
                <a:outerShdw algn="ctr" blurRad="254000" dir="5400000" dist="127000" rotWithShape="false">
                  <a:schemeClr val="accent1">
                    <a:alpha val="20000"/>
                  </a:schemeClr>
                </a:outerShdw>
              </a:effectLst>
            </p:spPr>
            <p:txBody>
              <a:bodyPr vert="horz" rot="0" anchor="ctr" wrap="square" tIns="45720" lIns="91440" bIns="45720" rIns="91440">
                <a:normAutofit/>
              </a:bodyPr>
              <a:p>
                <a:pPr algn="ctr" marL="0"/>
                <a:r>
                  <a:rPr lang="en-US" b="true" i="false" sz="2400" baseline="0" u="none">
                    <a:solidFill>
                      <a:schemeClr val="accent1"/>
                    </a:solidFill>
                    <a:latin typeface="Arial"/>
                    <a:ea typeface="Arial"/>
                  </a:rPr>
                  <a:t>03</a:t>
                </a:r>
              </a:p>
            </p:txBody>
          </p:sp>
          <p:sp>
            <p:nvSpPr>
              <p:cNvPr name="TextBox 21" id="21"/>
              <p:cNvSpPr txBox="true"/>
              <p:nvPr/>
            </p:nvSpPr>
            <p:spPr>
              <a:xfrm>
                <a:off x="8182836" y="3039693"/>
                <a:ext cx="2675661" cy="338554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defRPr/>
                </a:pPr>
                <a:r>
                  <a:rPr lang="zh-CN" b="true" i="false" sz="1600" baseline="0" u="none" altLang="en-US">
                    <a:solidFill>
                      <a:srgbClr val="FF0000"/>
                    </a:solidFill>
                    <a:latin typeface="微软雅黑"/>
                    <a:ea typeface="微软雅黑"/>
                  </a:rPr>
                  <a:t>行业合作机会</a:t>
                </a:r>
                <a:endParaRPr lang="en-US" sz="1100"/>
              </a:p>
            </p:txBody>
          </p:sp>
          <p:sp>
            <p:nvSpPr>
              <p:cNvPr name="TextBox 22" id="22"/>
              <p:cNvSpPr txBox="true"/>
              <p:nvPr/>
            </p:nvSpPr>
            <p:spPr>
              <a:xfrm>
                <a:off x="8182836" y="3475585"/>
                <a:ext cx="2675661" cy="1023357"/>
              </a:xfrm>
              <a:prstGeom prst="rect">
                <a:avLst/>
              </a:prstGeom>
              <a:noFill/>
            </p:spPr>
            <p:txBody>
              <a:bodyPr anchor="t" rtlCol="false" vert="horz" wrap="square" tIns="45720" lIns="91440" bIns="45720" rIns="91440">
                <a:spAutoFit/>
              </a:bodyPr>
              <a:lstStyle/>
              <a:p>
                <a:pPr algn="l" marL="0">
                  <a:lnSpc>
                    <a:spcPct val="150000"/>
                  </a:lnSpc>
                  <a:defRPr/>
                </a:pPr>
                <a:r>
                  <a:rPr lang="zh-CN" b="false" i="false" sz="1400" baseline="0" u="none" altLang="en-US">
                    <a:solidFill>
                      <a:schemeClr val="tx1"/>
                    </a:solidFill>
                    <a:latin typeface="微软雅黑"/>
                    <a:ea typeface="微软雅黑"/>
                  </a:rPr>
                  <a:t>与设计软件、办公软件等行业的合作，将为AI生成PPT带来更多市场机会和发展空间。</a:t>
                </a:r>
                <a:endParaRPr lang="en-US" sz="1100"/>
              </a:p>
            </p:txBody>
          </p:sp>
        </p:grpSp>
      </p:grpSp>
    </p:spTree>
  </p:cSld>
  <p:clrMapOvr>
    <a:masterClrMapping/>
  </p:clrMapOvr>
  <p:transition spd="fast"/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>
            <p:ph type="title"/>
          </p:nvPr>
        </p:nvSpPr>
        <p:spPr>
          <a:xfrm>
            <a:off x="2006433" y="1557894"/>
            <a:ext cx="8141034" cy="1594107"/>
          </a:xfrm>
        </p:spPr>
        <p:txBody>
          <a:bodyPr anchor="b" rtlCol="false" vert="horz" tIns="45720" lIns="91440" bIns="45720" rIns="91440"/>
          <a:lstStyle/>
          <a:p>
            <a:pPr algn="l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b="true" i="false" sz="6000" baseline="0" u="none">
                <a:gradFill>
                  <a:gsLst>
                    <a:gs pos="25000">
                      <a:schemeClr val="accent1"/>
                    </a:gs>
                    <a:gs pos="100000">
                      <a:schemeClr val="accent2"/>
                    </a:gs>
                  </a:gsLst>
                  <a:lin ang="18900000"/>
                </a:gradFill>
                <a:latin typeface="微软雅黑"/>
                <a:ea typeface="微软雅黑"/>
              </a:rPr>
              <a:t>谢谢观看</a:t>
            </a:r>
            <a:endParaRPr lang="en-US" sz="1100"/>
          </a:p>
        </p:txBody>
      </p:sp>
      <p:sp>
        <p:nvSpPr>
          <p:cNvPr name="TextBox 3" id="3"/>
          <p:cNvSpPr txBox="true"/>
          <p:nvPr/>
        </p:nvSpPr>
        <p:spPr>
          <a:xfrm>
            <a:off x="2006433" y="3315789"/>
            <a:ext cx="3568700" cy="567835"/>
          </a:xfrm>
          <a:prstGeom prst="roundRect">
            <a:avLst>
              <a:gd name="adj" fmla="val 50000"/>
            </a:avLst>
          </a:prstGeom>
        </p:spPr>
        <p:txBody>
          <a:bodyPr anchor="t" rtlCol="false" vert="horz" tIns="45720" lIns="91440" bIns="45720" rIns="91440">
            <a:normAutofit/>
          </a:bodyPr>
          <a:lstStyle/>
          <a:p>
            <a:pPr algn="l" indent="0" marL="0">
              <a:lnSpc>
                <a:spcPct val="120000"/>
              </a:lnSpc>
              <a:spcBef>
                <a:spcPts val="1000"/>
              </a:spcBef>
              <a:buNone/>
              <a:defRPr/>
            </a:pPr>
            <a:r>
              <a:rPr lang="zh-CN" b="false" i="false" sz="1800" baseline="0" u="none" altLang="en-US">
                <a:solidFill>
                  <a:schemeClr val="tx1"/>
                </a:solidFill>
                <a:latin typeface="微软雅黑"/>
                <a:ea typeface="微软雅黑"/>
              </a:rPr>
              <a:t>汇报人</a:t>
            </a:r>
            <a:endParaRPr lang="en-US" sz="1100"/>
          </a:p>
        </p:txBody>
      </p:sp>
    </p:spTree>
  </p:cSld>
  <p:clrMapOvr>
    <a:masterClrMapping/>
  </p:clrMapOvr>
  <p:transition spd="fast"/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90C0D"/>
      </a:accent1>
      <a:accent2>
        <a:srgbClr val="FF9B00"/>
      </a:accent2>
      <a:accent3>
        <a:srgbClr val="E74D49"/>
      </a:accent3>
      <a:accent4>
        <a:srgbClr val="9C9A89"/>
      </a:accent4>
      <a:accent5>
        <a:srgbClr val="9B7351"/>
      </a:accent5>
      <a:accent6>
        <a:srgbClr val="87776B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微软雅黑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微软雅黑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cp:lastModifiedBy>卓伟 罗</cp:lastModifiedBy>
  <dcterms:modified xsi:type="dcterms:W3CDTF">2024-05-20T00:48:33Z</dcterms:modified>
  <cp:revision>2</cp:revision>
</cp:coreProperties>
</file>